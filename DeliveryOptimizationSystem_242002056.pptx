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libri (MS) Bold" charset="1" panose="020F0702030404030204"/>
      <p:regular r:id="rId18"/>
    </p:embeddedFont>
    <p:embeddedFont>
      <p:font typeface="Calibri (MS)" charset="1" panose="020F0502020204030204"/>
      <p:regular r:id="rId19"/>
    </p:embeddedFont>
    <p:embeddedFont>
      <p:font typeface="Calibri (MS) Italics" charset="1" panose="020F05020202040A0204"/>
      <p:regular r:id="rId20"/>
    </p:embeddedFont>
    <p:embeddedFont>
      <p:font typeface="Consolas Bold" charset="1" panose="020B0709020204030204"/>
      <p:regular r:id="rId25"/>
    </p:embeddedFont>
    <p:embeddedFont>
      <p:font typeface="Consolas" charset="1" panose="020B060902020403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3800" y="510540"/>
            <a:ext cx="153419" cy="5877563"/>
            <a:chOff x="0" y="0"/>
            <a:chExt cx="204559" cy="7836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70688" cy="7802881"/>
            </a:xfrm>
            <a:custGeom>
              <a:avLst/>
              <a:gdLst/>
              <a:ahLst/>
              <a:cxnLst/>
              <a:rect r="r" b="b" t="t" l="l"/>
              <a:pathLst>
                <a:path h="7802881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0A7EA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470" cy="7836662"/>
            </a:xfrm>
            <a:custGeom>
              <a:avLst/>
              <a:gdLst/>
              <a:ahLst/>
              <a:cxnLst/>
              <a:rect r="r" b="b" t="t" l="l"/>
              <a:pathLst>
                <a:path h="78366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7819772"/>
                  </a:lnTo>
                  <a:cubicBezTo>
                    <a:pt x="204470" y="7829169"/>
                    <a:pt x="196850" y="7836662"/>
                    <a:pt x="187579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187579" y="7802880"/>
                  </a:lnTo>
                  <a:lnTo>
                    <a:pt x="187579" y="7819772"/>
                  </a:lnTo>
                  <a:lnTo>
                    <a:pt x="170688" y="7819772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6388103"/>
            <a:ext cx="4992624" cy="1355778"/>
            <a:chOff x="0" y="0"/>
            <a:chExt cx="4179151" cy="11348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23545"/>
              <a:ext cx="4145407" cy="1087661"/>
            </a:xfrm>
            <a:custGeom>
              <a:avLst/>
              <a:gdLst/>
              <a:ahLst/>
              <a:cxnLst/>
              <a:rect r="r" b="b" t="t" l="l"/>
              <a:pathLst>
                <a:path h="1087661" w="4145407">
                  <a:moveTo>
                    <a:pt x="0" y="169947"/>
                  </a:moveTo>
                  <a:cubicBezTo>
                    <a:pt x="0" y="76122"/>
                    <a:pt x="56515" y="0"/>
                    <a:pt x="126238" y="0"/>
                  </a:cubicBezTo>
                  <a:lnTo>
                    <a:pt x="4019169" y="0"/>
                  </a:lnTo>
                  <a:cubicBezTo>
                    <a:pt x="4088892" y="0"/>
                    <a:pt x="4145407" y="76122"/>
                    <a:pt x="4145407" y="169947"/>
                  </a:cubicBezTo>
                  <a:lnTo>
                    <a:pt x="4145407" y="917713"/>
                  </a:lnTo>
                  <a:cubicBezTo>
                    <a:pt x="4145407" y="1011538"/>
                    <a:pt x="4088892" y="1087660"/>
                    <a:pt x="4019169" y="1087660"/>
                  </a:cubicBezTo>
                  <a:lnTo>
                    <a:pt x="126238" y="1087660"/>
                  </a:lnTo>
                  <a:cubicBezTo>
                    <a:pt x="56515" y="1087660"/>
                    <a:pt x="0" y="1011538"/>
                    <a:pt x="0" y="917713"/>
                  </a:cubicBezTo>
                  <a:close/>
                </a:path>
              </a:pathLst>
            </a:custGeom>
            <a:solidFill>
              <a:srgbClr val="0A7EA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79189" cy="1134750"/>
            </a:xfrm>
            <a:custGeom>
              <a:avLst/>
              <a:gdLst/>
              <a:ahLst/>
              <a:cxnLst/>
              <a:rect r="r" b="b" t="t" l="l"/>
              <a:pathLst>
                <a:path h="1134750" w="4179189">
                  <a:moveTo>
                    <a:pt x="0" y="193492"/>
                  </a:moveTo>
                  <a:cubicBezTo>
                    <a:pt x="0" y="85859"/>
                    <a:pt x="64643" y="0"/>
                    <a:pt x="143129" y="0"/>
                  </a:cubicBezTo>
                  <a:lnTo>
                    <a:pt x="4036060" y="0"/>
                  </a:lnTo>
                  <a:lnTo>
                    <a:pt x="4036060" y="23545"/>
                  </a:lnTo>
                  <a:lnTo>
                    <a:pt x="4036060" y="0"/>
                  </a:lnTo>
                  <a:cubicBezTo>
                    <a:pt x="4114546" y="0"/>
                    <a:pt x="4179189" y="85859"/>
                    <a:pt x="4179189" y="193492"/>
                  </a:cubicBezTo>
                  <a:lnTo>
                    <a:pt x="4162298" y="193492"/>
                  </a:lnTo>
                  <a:lnTo>
                    <a:pt x="4179189" y="193492"/>
                  </a:lnTo>
                  <a:lnTo>
                    <a:pt x="4179189" y="941258"/>
                  </a:lnTo>
                  <a:lnTo>
                    <a:pt x="4162298" y="941258"/>
                  </a:lnTo>
                  <a:lnTo>
                    <a:pt x="4179189" y="941258"/>
                  </a:lnTo>
                  <a:cubicBezTo>
                    <a:pt x="4179189" y="1048891"/>
                    <a:pt x="4114546" y="1134750"/>
                    <a:pt x="4036060" y="1134750"/>
                  </a:cubicBezTo>
                  <a:lnTo>
                    <a:pt x="4036060" y="1111205"/>
                  </a:lnTo>
                  <a:lnTo>
                    <a:pt x="4036060" y="1134750"/>
                  </a:lnTo>
                  <a:lnTo>
                    <a:pt x="143129" y="1134750"/>
                  </a:lnTo>
                  <a:lnTo>
                    <a:pt x="143129" y="1111205"/>
                  </a:lnTo>
                  <a:lnTo>
                    <a:pt x="143129" y="1134750"/>
                  </a:lnTo>
                  <a:cubicBezTo>
                    <a:pt x="64643" y="1134912"/>
                    <a:pt x="0" y="1048891"/>
                    <a:pt x="0" y="941258"/>
                  </a:cubicBezTo>
                  <a:lnTo>
                    <a:pt x="0" y="193492"/>
                  </a:lnTo>
                  <a:lnTo>
                    <a:pt x="16891" y="193492"/>
                  </a:lnTo>
                  <a:lnTo>
                    <a:pt x="0" y="193492"/>
                  </a:lnTo>
                  <a:moveTo>
                    <a:pt x="33909" y="193492"/>
                  </a:moveTo>
                  <a:lnTo>
                    <a:pt x="33909" y="941258"/>
                  </a:lnTo>
                  <a:lnTo>
                    <a:pt x="16891" y="941258"/>
                  </a:lnTo>
                  <a:lnTo>
                    <a:pt x="33909" y="941258"/>
                  </a:lnTo>
                  <a:cubicBezTo>
                    <a:pt x="33909" y="1021275"/>
                    <a:pt x="82296" y="1087661"/>
                    <a:pt x="143129" y="1087661"/>
                  </a:cubicBezTo>
                  <a:lnTo>
                    <a:pt x="4036060" y="1087661"/>
                  </a:lnTo>
                  <a:cubicBezTo>
                    <a:pt x="4096893" y="1087661"/>
                    <a:pt x="4145280" y="1021452"/>
                    <a:pt x="4145280" y="941258"/>
                  </a:cubicBezTo>
                  <a:lnTo>
                    <a:pt x="4145280" y="193492"/>
                  </a:lnTo>
                  <a:cubicBezTo>
                    <a:pt x="4145280" y="113475"/>
                    <a:pt x="4096893" y="47089"/>
                    <a:pt x="4036060" y="47089"/>
                  </a:cubicBezTo>
                  <a:lnTo>
                    <a:pt x="143129" y="47089"/>
                  </a:lnTo>
                  <a:lnTo>
                    <a:pt x="143129" y="23545"/>
                  </a:lnTo>
                  <a:lnTo>
                    <a:pt x="143129" y="47267"/>
                  </a:lnTo>
                  <a:cubicBezTo>
                    <a:pt x="82296" y="47267"/>
                    <a:pt x="33909" y="113475"/>
                    <a:pt x="33909" y="193669"/>
                  </a:cubicBez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1419" y="6388103"/>
            <a:ext cx="6858000" cy="1355778"/>
            <a:chOff x="0" y="0"/>
            <a:chExt cx="9144000" cy="18077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807703"/>
            </a:xfrm>
            <a:custGeom>
              <a:avLst/>
              <a:gdLst/>
              <a:ahLst/>
              <a:cxnLst/>
              <a:rect r="r" b="b" t="t" l="l"/>
              <a:pathLst>
                <a:path h="1807703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807703"/>
                  </a:lnTo>
                  <a:lnTo>
                    <a:pt x="0" y="18077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01" r="54666" b="3103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0"/>
              <a:ext cx="9144000" cy="20934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3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Mohammad Shahria Faysal</a:t>
              </a:r>
            </a:p>
            <a:p>
              <a:pPr algn="l">
                <a:lnSpc>
                  <a:spcPts val="593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242002056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76136" y="686274"/>
            <a:ext cx="15544800" cy="2377440"/>
            <a:chOff x="0" y="0"/>
            <a:chExt cx="20726400" cy="3169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57175"/>
              <a:ext cx="20726400" cy="3427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60"/>
                </a:lnSpc>
              </a:pPr>
              <a:r>
                <a:rPr lang="en-US" sz="12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RouteWise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6136" y="2880834"/>
            <a:ext cx="12801600" cy="1005840"/>
            <a:chOff x="0" y="0"/>
            <a:chExt cx="1706880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991" r="0" b="-19799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70688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64D2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Delivery Optimization System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6136" y="3886674"/>
            <a:ext cx="13716000" cy="731520"/>
            <a:chOff x="0" y="0"/>
            <a:chExt cx="1828800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288000" cy="975360"/>
            </a:xfrm>
            <a:custGeom>
              <a:avLst/>
              <a:gdLst/>
              <a:ahLst/>
              <a:cxnLst/>
              <a:rect r="r" b="b" t="t" l="l"/>
              <a:pathLst>
                <a:path h="9753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82880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8BA4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Smarter loads. Faster routes. Cheaper networks.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04039" y="8582663"/>
            <a:ext cx="2951483" cy="665483"/>
            <a:chOff x="0" y="0"/>
            <a:chExt cx="3935311" cy="8873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3901440" cy="853440"/>
            </a:xfrm>
            <a:custGeom>
              <a:avLst/>
              <a:gdLst/>
              <a:ahLst/>
              <a:cxnLst/>
              <a:rect r="r" b="b" t="t" l="l"/>
              <a:pathLst>
                <a:path h="8534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935222" cy="887224"/>
            </a:xfrm>
            <a:custGeom>
              <a:avLst/>
              <a:gdLst/>
              <a:ahLst/>
              <a:cxnLst/>
              <a:rect r="r" b="b" t="t" l="l"/>
              <a:pathLst>
                <a:path h="887224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870331"/>
                  </a:lnTo>
                  <a:cubicBezTo>
                    <a:pt x="3935222" y="879729"/>
                    <a:pt x="3927602" y="887222"/>
                    <a:pt x="391833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3918331" y="853440"/>
                  </a:lnTo>
                  <a:lnTo>
                    <a:pt x="3918331" y="870331"/>
                  </a:lnTo>
                  <a:lnTo>
                    <a:pt x="3901440" y="870331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16736" y="8558784"/>
            <a:ext cx="2926080" cy="694944"/>
            <a:chOff x="0" y="0"/>
            <a:chExt cx="390144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42" r="0" b="-3204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901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Knapsack DP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504439" y="8582663"/>
            <a:ext cx="2951483" cy="665483"/>
            <a:chOff x="0" y="0"/>
            <a:chExt cx="3935311" cy="8873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3901440" cy="853440"/>
            </a:xfrm>
            <a:custGeom>
              <a:avLst/>
              <a:gdLst/>
              <a:ahLst/>
              <a:cxnLst/>
              <a:rect r="r" b="b" t="t" l="l"/>
              <a:pathLst>
                <a:path h="8534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35222" cy="887224"/>
            </a:xfrm>
            <a:custGeom>
              <a:avLst/>
              <a:gdLst/>
              <a:ahLst/>
              <a:cxnLst/>
              <a:rect r="r" b="b" t="t" l="l"/>
              <a:pathLst>
                <a:path h="887224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870331"/>
                  </a:lnTo>
                  <a:cubicBezTo>
                    <a:pt x="3935222" y="879729"/>
                    <a:pt x="3927602" y="887222"/>
                    <a:pt x="391833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3918331" y="853440"/>
                  </a:lnTo>
                  <a:lnTo>
                    <a:pt x="3918331" y="870331"/>
                  </a:lnTo>
                  <a:lnTo>
                    <a:pt x="3901440" y="870331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517136" y="8558784"/>
            <a:ext cx="2926080" cy="694944"/>
            <a:chOff x="0" y="0"/>
            <a:chExt cx="3901440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42" r="0" b="-3204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901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Dijkstra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704839" y="8582663"/>
            <a:ext cx="2951483" cy="665483"/>
            <a:chOff x="0" y="0"/>
            <a:chExt cx="3935311" cy="8873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3901440" cy="853440"/>
            </a:xfrm>
            <a:custGeom>
              <a:avLst/>
              <a:gdLst/>
              <a:ahLst/>
              <a:cxnLst/>
              <a:rect r="r" b="b" t="t" l="l"/>
              <a:pathLst>
                <a:path h="8534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935222" cy="887224"/>
            </a:xfrm>
            <a:custGeom>
              <a:avLst/>
              <a:gdLst/>
              <a:ahLst/>
              <a:cxnLst/>
              <a:rect r="r" b="b" t="t" l="l"/>
              <a:pathLst>
                <a:path h="887224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870331"/>
                  </a:lnTo>
                  <a:cubicBezTo>
                    <a:pt x="3935222" y="879729"/>
                    <a:pt x="3927602" y="887222"/>
                    <a:pt x="391833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3918331" y="853440"/>
                  </a:lnTo>
                  <a:lnTo>
                    <a:pt x="3918331" y="870331"/>
                  </a:lnTo>
                  <a:lnTo>
                    <a:pt x="3901440" y="870331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717536" y="8558784"/>
            <a:ext cx="2926080" cy="694944"/>
            <a:chOff x="0" y="0"/>
            <a:chExt cx="3901440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42" r="0" b="-3204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901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Kruskal MST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905239" y="8582663"/>
            <a:ext cx="2951483" cy="665483"/>
            <a:chOff x="0" y="0"/>
            <a:chExt cx="3935311" cy="8873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3901440" cy="853440"/>
            </a:xfrm>
            <a:custGeom>
              <a:avLst/>
              <a:gdLst/>
              <a:ahLst/>
              <a:cxnLst/>
              <a:rect r="r" b="b" t="t" l="l"/>
              <a:pathLst>
                <a:path h="8534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935222" cy="887224"/>
            </a:xfrm>
            <a:custGeom>
              <a:avLst/>
              <a:gdLst/>
              <a:ahLst/>
              <a:cxnLst/>
              <a:rect r="r" b="b" t="t" l="l"/>
              <a:pathLst>
                <a:path h="887224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870331"/>
                  </a:lnTo>
                  <a:cubicBezTo>
                    <a:pt x="3935222" y="879729"/>
                    <a:pt x="3927602" y="887222"/>
                    <a:pt x="391833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3918331" y="853440"/>
                  </a:lnTo>
                  <a:lnTo>
                    <a:pt x="3918331" y="870331"/>
                  </a:lnTo>
                  <a:lnTo>
                    <a:pt x="3901440" y="870331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917936" y="8558784"/>
            <a:ext cx="2926080" cy="694944"/>
            <a:chOff x="0" y="0"/>
            <a:chExt cx="390144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42" r="0" b="-3204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901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Sort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983463" y="-1109977"/>
            <a:ext cx="5146043" cy="5146043"/>
            <a:chOff x="0" y="0"/>
            <a:chExt cx="6861391" cy="686139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6827520" cy="6827520"/>
            </a:xfrm>
            <a:custGeom>
              <a:avLst/>
              <a:gdLst/>
              <a:ahLst/>
              <a:cxnLst/>
              <a:rect r="r" b="b" t="t" l="l"/>
              <a:pathLst>
                <a:path h="6827520" w="6827520">
                  <a:moveTo>
                    <a:pt x="0" y="3413760"/>
                  </a:moveTo>
                  <a:cubicBezTo>
                    <a:pt x="0" y="1528445"/>
                    <a:pt x="1528445" y="0"/>
                    <a:pt x="3413760" y="0"/>
                  </a:cubicBezTo>
                  <a:cubicBezTo>
                    <a:pt x="5299075" y="0"/>
                    <a:pt x="6827520" y="1528445"/>
                    <a:pt x="6827520" y="3413760"/>
                  </a:cubicBezTo>
                  <a:cubicBezTo>
                    <a:pt x="6827520" y="5299075"/>
                    <a:pt x="5299075" y="6827520"/>
                    <a:pt x="3413760" y="6827520"/>
                  </a:cubicBezTo>
                  <a:cubicBezTo>
                    <a:pt x="1528445" y="6827520"/>
                    <a:pt x="0" y="5299202"/>
                    <a:pt x="0" y="3413760"/>
                  </a:cubicBezTo>
                  <a:close/>
                </a:path>
              </a:pathLst>
            </a:custGeom>
            <a:solidFill>
              <a:srgbClr val="0A7EA4">
                <a:alpha val="1176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861429" cy="6861302"/>
            </a:xfrm>
            <a:custGeom>
              <a:avLst/>
              <a:gdLst/>
              <a:ahLst/>
              <a:cxnLst/>
              <a:rect r="r" b="b" t="t" l="l"/>
              <a:pathLst>
                <a:path h="6861302" w="6861429">
                  <a:moveTo>
                    <a:pt x="0" y="3430651"/>
                  </a:moveTo>
                  <a:cubicBezTo>
                    <a:pt x="0" y="1535938"/>
                    <a:pt x="1535938" y="0"/>
                    <a:pt x="3430651" y="0"/>
                  </a:cubicBezTo>
                  <a:lnTo>
                    <a:pt x="3430651" y="16891"/>
                  </a:lnTo>
                  <a:lnTo>
                    <a:pt x="3430651" y="0"/>
                  </a:lnTo>
                  <a:cubicBezTo>
                    <a:pt x="5325364" y="0"/>
                    <a:pt x="6861429" y="1535938"/>
                    <a:pt x="6861429" y="3430651"/>
                  </a:cubicBezTo>
                  <a:cubicBezTo>
                    <a:pt x="6861429" y="5325364"/>
                    <a:pt x="5325491" y="6861302"/>
                    <a:pt x="3430778" y="6861302"/>
                  </a:cubicBezTo>
                  <a:lnTo>
                    <a:pt x="3430778" y="6844411"/>
                  </a:lnTo>
                  <a:lnTo>
                    <a:pt x="3430778" y="6861302"/>
                  </a:lnTo>
                  <a:cubicBezTo>
                    <a:pt x="1535938" y="6861429"/>
                    <a:pt x="0" y="5325364"/>
                    <a:pt x="0" y="3430651"/>
                  </a:cubicBezTo>
                  <a:lnTo>
                    <a:pt x="16891" y="3430651"/>
                  </a:lnTo>
                  <a:lnTo>
                    <a:pt x="31115" y="3439795"/>
                  </a:lnTo>
                  <a:cubicBezTo>
                    <a:pt x="27051" y="3446145"/>
                    <a:pt x="19304" y="3449066"/>
                    <a:pt x="12065" y="3446907"/>
                  </a:cubicBezTo>
                  <a:cubicBezTo>
                    <a:pt x="4826" y="3444748"/>
                    <a:pt x="0" y="3438271"/>
                    <a:pt x="0" y="3430651"/>
                  </a:cubicBezTo>
                  <a:moveTo>
                    <a:pt x="33909" y="3430651"/>
                  </a:moveTo>
                  <a:lnTo>
                    <a:pt x="16891" y="3430651"/>
                  </a:lnTo>
                  <a:lnTo>
                    <a:pt x="2667" y="3421507"/>
                  </a:lnTo>
                  <a:cubicBezTo>
                    <a:pt x="6731" y="3415157"/>
                    <a:pt x="14478" y="3412236"/>
                    <a:pt x="21717" y="3414395"/>
                  </a:cubicBezTo>
                  <a:cubicBezTo>
                    <a:pt x="28956" y="3416554"/>
                    <a:pt x="33909" y="3423158"/>
                    <a:pt x="33909" y="3430651"/>
                  </a:cubicBezTo>
                  <a:cubicBezTo>
                    <a:pt x="33909" y="5306695"/>
                    <a:pt x="1554734" y="6827520"/>
                    <a:pt x="3430778" y="6827520"/>
                  </a:cubicBezTo>
                  <a:cubicBezTo>
                    <a:pt x="5306822" y="6827520"/>
                    <a:pt x="6827647" y="5306695"/>
                    <a:pt x="6827647" y="3430651"/>
                  </a:cubicBezTo>
                  <a:lnTo>
                    <a:pt x="6844538" y="3430651"/>
                  </a:lnTo>
                  <a:lnTo>
                    <a:pt x="6827647" y="3430651"/>
                  </a:lnTo>
                  <a:cubicBezTo>
                    <a:pt x="6827520" y="1554734"/>
                    <a:pt x="5306695" y="33909"/>
                    <a:pt x="3430651" y="33909"/>
                  </a:cubicBezTo>
                  <a:lnTo>
                    <a:pt x="3430651" y="16891"/>
                  </a:lnTo>
                  <a:lnTo>
                    <a:pt x="3430651" y="33909"/>
                  </a:lnTo>
                  <a:cubicBezTo>
                    <a:pt x="1554734" y="33909"/>
                    <a:pt x="33909" y="1554734"/>
                    <a:pt x="33909" y="3430651"/>
                  </a:cubicBezTo>
                  <a:close/>
                </a:path>
              </a:pathLst>
            </a:custGeom>
            <a:solidFill>
              <a:srgbClr val="0A7EA4">
                <a:alpha val="8627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6080743" y="6388103"/>
            <a:ext cx="3317243" cy="3317243"/>
            <a:chOff x="0" y="0"/>
            <a:chExt cx="4422991" cy="442299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43891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4389120">
                  <a:moveTo>
                    <a:pt x="0" y="2194560"/>
                  </a:moveTo>
                  <a:cubicBezTo>
                    <a:pt x="0" y="982599"/>
                    <a:pt x="982599" y="0"/>
                    <a:pt x="2194560" y="0"/>
                  </a:cubicBezTo>
                  <a:cubicBezTo>
                    <a:pt x="3406521" y="0"/>
                    <a:pt x="4389120" y="982599"/>
                    <a:pt x="4389120" y="2194560"/>
                  </a:cubicBezTo>
                  <a:cubicBezTo>
                    <a:pt x="4389120" y="3406521"/>
                    <a:pt x="3406521" y="4389120"/>
                    <a:pt x="2194560" y="4389120"/>
                  </a:cubicBezTo>
                  <a:cubicBezTo>
                    <a:pt x="982599" y="4389120"/>
                    <a:pt x="0" y="3406648"/>
                    <a:pt x="0" y="2194560"/>
                  </a:cubicBezTo>
                  <a:close/>
                </a:path>
              </a:pathLst>
            </a:custGeom>
            <a:solidFill>
              <a:srgbClr val="64D2EE">
                <a:alpha val="784"/>
              </a:srgbClr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423029" cy="4422902"/>
            </a:xfrm>
            <a:custGeom>
              <a:avLst/>
              <a:gdLst/>
              <a:ahLst/>
              <a:cxnLst/>
              <a:rect r="r" b="b" t="t" l="l"/>
              <a:pathLst>
                <a:path h="4422902" w="4423029">
                  <a:moveTo>
                    <a:pt x="0" y="2211451"/>
                  </a:moveTo>
                  <a:cubicBezTo>
                    <a:pt x="0" y="990092"/>
                    <a:pt x="990092" y="0"/>
                    <a:pt x="2211451" y="0"/>
                  </a:cubicBezTo>
                  <a:lnTo>
                    <a:pt x="2211451" y="16891"/>
                  </a:lnTo>
                  <a:lnTo>
                    <a:pt x="2211451" y="0"/>
                  </a:lnTo>
                  <a:cubicBezTo>
                    <a:pt x="3432810" y="0"/>
                    <a:pt x="4423029" y="990092"/>
                    <a:pt x="4423029" y="2211451"/>
                  </a:cubicBezTo>
                  <a:lnTo>
                    <a:pt x="4406138" y="2211451"/>
                  </a:lnTo>
                  <a:lnTo>
                    <a:pt x="4423029" y="2211451"/>
                  </a:lnTo>
                  <a:cubicBezTo>
                    <a:pt x="4423029" y="3432810"/>
                    <a:pt x="3432937" y="4422902"/>
                    <a:pt x="2211578" y="4422902"/>
                  </a:cubicBezTo>
                  <a:lnTo>
                    <a:pt x="2211578" y="4406011"/>
                  </a:lnTo>
                  <a:lnTo>
                    <a:pt x="2211578" y="4422902"/>
                  </a:lnTo>
                  <a:cubicBezTo>
                    <a:pt x="990092" y="4423029"/>
                    <a:pt x="0" y="3432810"/>
                    <a:pt x="0" y="2211451"/>
                  </a:cubicBezTo>
                  <a:lnTo>
                    <a:pt x="16891" y="221145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0" y="2211451"/>
                  </a:lnTo>
                  <a:moveTo>
                    <a:pt x="33909" y="2211451"/>
                  </a:moveTo>
                  <a:cubicBezTo>
                    <a:pt x="33909" y="2220849"/>
                    <a:pt x="26289" y="2228342"/>
                    <a:pt x="17018" y="2228342"/>
                  </a:cubicBezTo>
                  <a:cubicBezTo>
                    <a:pt x="7747" y="2228342"/>
                    <a:pt x="0" y="2220849"/>
                    <a:pt x="0" y="2211451"/>
                  </a:cubicBezTo>
                  <a:cubicBezTo>
                    <a:pt x="0" y="2202053"/>
                    <a:pt x="7620" y="2194560"/>
                    <a:pt x="16891" y="2194560"/>
                  </a:cubicBezTo>
                  <a:cubicBezTo>
                    <a:pt x="26162" y="2194560"/>
                    <a:pt x="33782" y="2202180"/>
                    <a:pt x="33782" y="2211451"/>
                  </a:cubicBezTo>
                  <a:cubicBezTo>
                    <a:pt x="33782" y="3414141"/>
                    <a:pt x="1008761" y="4389120"/>
                    <a:pt x="2211451" y="4389120"/>
                  </a:cubicBezTo>
                  <a:cubicBezTo>
                    <a:pt x="3414141" y="4389120"/>
                    <a:pt x="4389120" y="3414141"/>
                    <a:pt x="4389120" y="2211451"/>
                  </a:cubicBezTo>
                  <a:cubicBezTo>
                    <a:pt x="4389120" y="1008761"/>
                    <a:pt x="3414141" y="33782"/>
                    <a:pt x="2211451" y="33782"/>
                  </a:cubicBezTo>
                  <a:lnTo>
                    <a:pt x="2211451" y="16891"/>
                  </a:lnTo>
                  <a:lnTo>
                    <a:pt x="2211451" y="33909"/>
                  </a:lnTo>
                  <a:cubicBezTo>
                    <a:pt x="1008761" y="33909"/>
                    <a:pt x="33909" y="1008761"/>
                    <a:pt x="33909" y="2211451"/>
                  </a:cubicBezTo>
                  <a:close/>
                </a:path>
              </a:pathLst>
            </a:custGeom>
            <a:solidFill>
              <a:srgbClr val="64D2EE">
                <a:alpha val="3922"/>
              </a:srgbClr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188720"/>
            <a:chOff x="0" y="0"/>
            <a:chExt cx="2194560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0D1F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609344"/>
            <a:ext cx="16459200" cy="640080"/>
            <a:chOff x="0" y="0"/>
            <a:chExt cx="2194560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8BA4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Three challenges every delivery company faces daily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7383" y="2547623"/>
            <a:ext cx="5420363" cy="6791963"/>
            <a:chOff x="0" y="0"/>
            <a:chExt cx="7227151" cy="90559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193281" cy="9022081"/>
            </a:xfrm>
            <a:custGeom>
              <a:avLst/>
              <a:gdLst/>
              <a:ahLst/>
              <a:cxnLst/>
              <a:rect r="r" b="b" t="t" l="l"/>
              <a:pathLst>
                <a:path h="9022081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9022081"/>
                  </a:lnTo>
                  <a:lnTo>
                    <a:pt x="0" y="90220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27062" cy="9055862"/>
            </a:xfrm>
            <a:custGeom>
              <a:avLst/>
              <a:gdLst/>
              <a:ahLst/>
              <a:cxnLst/>
              <a:rect r="r" b="b" t="t" l="l"/>
              <a:pathLst>
                <a:path h="905586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9038972"/>
                  </a:lnTo>
                  <a:cubicBezTo>
                    <a:pt x="7227062" y="9048369"/>
                    <a:pt x="7219442" y="9055862"/>
                    <a:pt x="7210172" y="9055862"/>
                  </a:cubicBezTo>
                  <a:lnTo>
                    <a:pt x="16891" y="9055862"/>
                  </a:lnTo>
                  <a:cubicBezTo>
                    <a:pt x="7493" y="9055862"/>
                    <a:pt x="0" y="9048242"/>
                    <a:pt x="0" y="90389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38972"/>
                  </a:lnTo>
                  <a:lnTo>
                    <a:pt x="16891" y="9038972"/>
                  </a:lnTo>
                  <a:lnTo>
                    <a:pt x="16891" y="9022080"/>
                  </a:lnTo>
                  <a:lnTo>
                    <a:pt x="7210172" y="9022080"/>
                  </a:lnTo>
                  <a:lnTo>
                    <a:pt x="7210172" y="9038972"/>
                  </a:lnTo>
                  <a:lnTo>
                    <a:pt x="7193280" y="9038972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BF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27383" y="2547623"/>
            <a:ext cx="5420363" cy="171707"/>
            <a:chOff x="0" y="0"/>
            <a:chExt cx="7227151" cy="2289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193281" cy="195072"/>
            </a:xfrm>
            <a:custGeom>
              <a:avLst/>
              <a:gdLst/>
              <a:ahLst/>
              <a:cxnLst/>
              <a:rect r="r" b="b" t="t" l="l"/>
              <a:pathLst>
                <a:path h="195072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45B5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27062" cy="228856"/>
            </a:xfrm>
            <a:custGeom>
              <a:avLst/>
              <a:gdLst/>
              <a:ahLst/>
              <a:cxnLst/>
              <a:rect r="r" b="b" t="t" l="l"/>
              <a:pathLst>
                <a:path h="228856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211963"/>
                  </a:lnTo>
                  <a:cubicBezTo>
                    <a:pt x="7227062" y="221361"/>
                    <a:pt x="7219442" y="228854"/>
                    <a:pt x="7210172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7210172" y="195072"/>
                  </a:lnTo>
                  <a:lnTo>
                    <a:pt x="7210172" y="211963"/>
                  </a:lnTo>
                  <a:lnTo>
                    <a:pt x="7193280" y="211963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5B5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05840" y="2834640"/>
            <a:ext cx="1280160" cy="1005840"/>
            <a:chOff x="0" y="0"/>
            <a:chExt cx="170688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68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809" t="0" r="-50809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14300"/>
              <a:ext cx="170688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45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9264" y="3877056"/>
            <a:ext cx="4754880" cy="914400"/>
            <a:chOff x="0" y="0"/>
            <a:chExt cx="633984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33984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900" b="true">
                  <a:solidFill>
                    <a:srgbClr val="0D1F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Overloaded Trucks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9264" y="4901184"/>
            <a:ext cx="4791456" cy="3474720"/>
            <a:chOff x="0" y="0"/>
            <a:chExt cx="6388608" cy="4632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88608" cy="4632960"/>
            </a:xfrm>
            <a:custGeom>
              <a:avLst/>
              <a:gdLst/>
              <a:ahLst/>
              <a:cxnLst/>
              <a:rect r="r" b="b" t="t" l="l"/>
              <a:pathLst>
                <a:path h="4632960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4632960"/>
                  </a:lnTo>
                  <a:lnTo>
                    <a:pt x="0" y="463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044" t="0" r="-43044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388608" cy="468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Drivers guess which packages to load.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Profitable items get left behind.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Weight limits are breached.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33239" y="2547623"/>
            <a:ext cx="5420363" cy="6791963"/>
            <a:chOff x="0" y="0"/>
            <a:chExt cx="7227151" cy="90559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7193281" cy="9022081"/>
            </a:xfrm>
            <a:custGeom>
              <a:avLst/>
              <a:gdLst/>
              <a:ahLst/>
              <a:cxnLst/>
              <a:rect r="r" b="b" t="t" l="l"/>
              <a:pathLst>
                <a:path h="9022081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9022081"/>
                  </a:lnTo>
                  <a:lnTo>
                    <a:pt x="0" y="90220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27062" cy="9055862"/>
            </a:xfrm>
            <a:custGeom>
              <a:avLst/>
              <a:gdLst/>
              <a:ahLst/>
              <a:cxnLst/>
              <a:rect r="r" b="b" t="t" l="l"/>
              <a:pathLst>
                <a:path h="905586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9038972"/>
                  </a:lnTo>
                  <a:cubicBezTo>
                    <a:pt x="7227062" y="9048369"/>
                    <a:pt x="7219442" y="9055862"/>
                    <a:pt x="7210172" y="9055862"/>
                  </a:cubicBezTo>
                  <a:lnTo>
                    <a:pt x="16891" y="9055862"/>
                  </a:lnTo>
                  <a:cubicBezTo>
                    <a:pt x="7493" y="9055862"/>
                    <a:pt x="0" y="9048242"/>
                    <a:pt x="0" y="90389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38972"/>
                  </a:lnTo>
                  <a:lnTo>
                    <a:pt x="16891" y="9038972"/>
                  </a:lnTo>
                  <a:lnTo>
                    <a:pt x="16891" y="9022080"/>
                  </a:lnTo>
                  <a:lnTo>
                    <a:pt x="7210172" y="9022080"/>
                  </a:lnTo>
                  <a:lnTo>
                    <a:pt x="7210172" y="9038972"/>
                  </a:lnTo>
                  <a:lnTo>
                    <a:pt x="7193280" y="9038972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BF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333239" y="2547623"/>
            <a:ext cx="5420363" cy="171707"/>
            <a:chOff x="0" y="0"/>
            <a:chExt cx="7227151" cy="22894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7193281" cy="195072"/>
            </a:xfrm>
            <a:custGeom>
              <a:avLst/>
              <a:gdLst/>
              <a:ahLst/>
              <a:cxnLst/>
              <a:rect r="r" b="b" t="t" l="l"/>
              <a:pathLst>
                <a:path h="195072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4A84A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227062" cy="228856"/>
            </a:xfrm>
            <a:custGeom>
              <a:avLst/>
              <a:gdLst/>
              <a:ahLst/>
              <a:cxnLst/>
              <a:rect r="r" b="b" t="t" l="l"/>
              <a:pathLst>
                <a:path h="228856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211963"/>
                  </a:lnTo>
                  <a:cubicBezTo>
                    <a:pt x="7227062" y="221361"/>
                    <a:pt x="7219442" y="228854"/>
                    <a:pt x="7210172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7210172" y="195072"/>
                  </a:lnTo>
                  <a:lnTo>
                    <a:pt x="7210172" y="211963"/>
                  </a:lnTo>
                  <a:lnTo>
                    <a:pt x="7193280" y="211963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84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711696" y="2834640"/>
            <a:ext cx="1280160" cy="1005840"/>
            <a:chOff x="0" y="0"/>
            <a:chExt cx="1706880" cy="13411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068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809" t="0" r="-50809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14300"/>
              <a:ext cx="170688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4A8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675120" y="3877056"/>
            <a:ext cx="4754880" cy="914400"/>
            <a:chOff x="0" y="0"/>
            <a:chExt cx="633984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633984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900" b="true">
                  <a:solidFill>
                    <a:srgbClr val="0D1F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Inefficient Routes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675120" y="4901184"/>
            <a:ext cx="4791456" cy="3474720"/>
            <a:chOff x="0" y="0"/>
            <a:chExt cx="6388608" cy="4632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88608" cy="4632960"/>
            </a:xfrm>
            <a:custGeom>
              <a:avLst/>
              <a:gdLst/>
              <a:ahLst/>
              <a:cxnLst/>
              <a:rect r="r" b="b" t="t" l="l"/>
              <a:pathLst>
                <a:path h="4632960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4632960"/>
                  </a:lnTo>
                  <a:lnTo>
                    <a:pt x="0" y="463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044" t="0" r="-43044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6388608" cy="468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system for finding shortest paths.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Drivers waste fuel on long detours.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Deliveries arrive late.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039095" y="2547623"/>
            <a:ext cx="5420363" cy="6791963"/>
            <a:chOff x="0" y="0"/>
            <a:chExt cx="7227151" cy="90559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7193281" cy="9022081"/>
            </a:xfrm>
            <a:custGeom>
              <a:avLst/>
              <a:gdLst/>
              <a:ahLst/>
              <a:cxnLst/>
              <a:rect r="r" b="b" t="t" l="l"/>
              <a:pathLst>
                <a:path h="9022081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9022081"/>
                  </a:lnTo>
                  <a:lnTo>
                    <a:pt x="0" y="90220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27062" cy="9055862"/>
            </a:xfrm>
            <a:custGeom>
              <a:avLst/>
              <a:gdLst/>
              <a:ahLst/>
              <a:cxnLst/>
              <a:rect r="r" b="b" t="t" l="l"/>
              <a:pathLst>
                <a:path h="905586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9038972"/>
                  </a:lnTo>
                  <a:cubicBezTo>
                    <a:pt x="7227062" y="9048369"/>
                    <a:pt x="7219442" y="9055862"/>
                    <a:pt x="7210172" y="9055862"/>
                  </a:cubicBezTo>
                  <a:lnTo>
                    <a:pt x="16891" y="9055862"/>
                  </a:lnTo>
                  <a:cubicBezTo>
                    <a:pt x="7493" y="9055862"/>
                    <a:pt x="0" y="9048242"/>
                    <a:pt x="0" y="90389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38972"/>
                  </a:lnTo>
                  <a:lnTo>
                    <a:pt x="16891" y="9038972"/>
                  </a:lnTo>
                  <a:lnTo>
                    <a:pt x="16891" y="9022080"/>
                  </a:lnTo>
                  <a:lnTo>
                    <a:pt x="7210172" y="9022080"/>
                  </a:lnTo>
                  <a:lnTo>
                    <a:pt x="7210172" y="9038972"/>
                  </a:lnTo>
                  <a:lnTo>
                    <a:pt x="7193280" y="9038972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BF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039095" y="2547623"/>
            <a:ext cx="5420363" cy="171707"/>
            <a:chOff x="0" y="0"/>
            <a:chExt cx="7227151" cy="22894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7193281" cy="195072"/>
            </a:xfrm>
            <a:custGeom>
              <a:avLst/>
              <a:gdLst/>
              <a:ahLst/>
              <a:cxnLst/>
              <a:rect r="r" b="b" t="t" l="l"/>
              <a:pathLst>
                <a:path h="195072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A7EA4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227062" cy="228856"/>
            </a:xfrm>
            <a:custGeom>
              <a:avLst/>
              <a:gdLst/>
              <a:ahLst/>
              <a:cxnLst/>
              <a:rect r="r" b="b" t="t" l="l"/>
              <a:pathLst>
                <a:path h="228856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211963"/>
                  </a:lnTo>
                  <a:cubicBezTo>
                    <a:pt x="7227062" y="221361"/>
                    <a:pt x="7219442" y="228854"/>
                    <a:pt x="7210172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7210172" y="195072"/>
                  </a:lnTo>
                  <a:lnTo>
                    <a:pt x="7210172" y="211963"/>
                  </a:lnTo>
                  <a:lnTo>
                    <a:pt x="7193280" y="211963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417552" y="2834640"/>
            <a:ext cx="1280160" cy="1005840"/>
            <a:chOff x="0" y="0"/>
            <a:chExt cx="1706880" cy="1341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068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809" t="0" r="-50809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14300"/>
              <a:ext cx="170688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A7E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380976" y="3877056"/>
            <a:ext cx="4754880" cy="914400"/>
            <a:chOff x="0" y="0"/>
            <a:chExt cx="6339840" cy="121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633984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900" b="true">
                  <a:solidFill>
                    <a:srgbClr val="0D1F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Expensive Networks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380976" y="4901184"/>
            <a:ext cx="4791456" cy="3474720"/>
            <a:chOff x="0" y="0"/>
            <a:chExt cx="6388608" cy="46329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388608" cy="4632960"/>
            </a:xfrm>
            <a:custGeom>
              <a:avLst/>
              <a:gdLst/>
              <a:ahLst/>
              <a:cxnLst/>
              <a:rect r="r" b="b" t="t" l="l"/>
              <a:pathLst>
                <a:path h="4632960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4632960"/>
                  </a:lnTo>
                  <a:lnTo>
                    <a:pt x="0" y="463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044" t="0" r="-43044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6388608" cy="468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Unnecessary roads maintained.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analysis of the cheapest way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keep all cities connected.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12064"/>
            <a:ext cx="16459200" cy="1133856"/>
            <a:chOff x="0" y="0"/>
            <a:chExt cx="21945600" cy="1511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847" r="0" b="-23284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635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RouteWise Solves It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554480"/>
            <a:ext cx="16459200" cy="585216"/>
            <a:chOff x="0" y="0"/>
            <a:chExt cx="21945600" cy="7802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9456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8BA4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Four algorithms. One cohesive system.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6280" y="2453640"/>
            <a:ext cx="7985760" cy="3230880"/>
            <a:chOff x="0" y="0"/>
            <a:chExt cx="10647680" cy="4307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0320" y="20320"/>
              <a:ext cx="1060704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47680" cy="4307840"/>
            </a:xfrm>
            <a:custGeom>
              <a:avLst/>
              <a:gdLst/>
              <a:ahLst/>
              <a:cxnLst/>
              <a:rect r="r" b="b" t="t" l="l"/>
              <a:pathLst>
                <a:path h="4307840" w="10647680">
                  <a:moveTo>
                    <a:pt x="20320" y="0"/>
                  </a:moveTo>
                  <a:lnTo>
                    <a:pt x="10627360" y="0"/>
                  </a:lnTo>
                  <a:cubicBezTo>
                    <a:pt x="10638536" y="0"/>
                    <a:pt x="10647680" y="9144"/>
                    <a:pt x="10647680" y="20320"/>
                  </a:cubicBezTo>
                  <a:lnTo>
                    <a:pt x="10647680" y="4287520"/>
                  </a:lnTo>
                  <a:cubicBezTo>
                    <a:pt x="10647680" y="4298696"/>
                    <a:pt x="10638536" y="4307840"/>
                    <a:pt x="10627360" y="4307840"/>
                  </a:cubicBezTo>
                  <a:lnTo>
                    <a:pt x="20320" y="4307840"/>
                  </a:lnTo>
                  <a:cubicBezTo>
                    <a:pt x="9144" y="4307840"/>
                    <a:pt x="0" y="4298696"/>
                    <a:pt x="0" y="428752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4287520"/>
                  </a:lnTo>
                  <a:lnTo>
                    <a:pt x="20320" y="4287520"/>
                  </a:lnTo>
                  <a:lnTo>
                    <a:pt x="20320" y="4267200"/>
                  </a:lnTo>
                  <a:lnTo>
                    <a:pt x="10627360" y="4267200"/>
                  </a:lnTo>
                  <a:lnTo>
                    <a:pt x="10627360" y="4287520"/>
                  </a:lnTo>
                  <a:lnTo>
                    <a:pt x="10607040" y="4287520"/>
                  </a:lnTo>
                  <a:lnTo>
                    <a:pt x="10607040" y="20320"/>
                  </a:lnTo>
                  <a:lnTo>
                    <a:pt x="10627360" y="20320"/>
                  </a:lnTo>
                  <a:lnTo>
                    <a:pt x="1062736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64D2E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84583" y="3004823"/>
            <a:ext cx="976379" cy="976379"/>
            <a:chOff x="0" y="0"/>
            <a:chExt cx="1301839" cy="13018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64D2E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1750" cy="1301750"/>
            </a:xfrm>
            <a:custGeom>
              <a:avLst/>
              <a:gdLst/>
              <a:ahLst/>
              <a:cxnLst/>
              <a:rect r="r" b="b" t="t" l="l"/>
              <a:pathLst>
                <a:path h="1301750" w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lnTo>
                    <a:pt x="650875" y="16891"/>
                  </a:lnTo>
                  <a:lnTo>
                    <a:pt x="650875" y="0"/>
                  </a:lnTo>
                  <a:cubicBezTo>
                    <a:pt x="1010412" y="0"/>
                    <a:pt x="1301750" y="291465"/>
                    <a:pt x="1301750" y="650875"/>
                  </a:cubicBezTo>
                  <a:lnTo>
                    <a:pt x="1284859" y="650875"/>
                  </a:lnTo>
                  <a:lnTo>
                    <a:pt x="1301750" y="650875"/>
                  </a:lnTo>
                  <a:cubicBezTo>
                    <a:pt x="1301750" y="1010412"/>
                    <a:pt x="1010285" y="1301750"/>
                    <a:pt x="650875" y="1301750"/>
                  </a:cubicBezTo>
                  <a:lnTo>
                    <a:pt x="650875" y="1284859"/>
                  </a:lnTo>
                  <a:lnTo>
                    <a:pt x="650875" y="1301750"/>
                  </a:lnTo>
                  <a:cubicBezTo>
                    <a:pt x="291465" y="1301877"/>
                    <a:pt x="0" y="1010412"/>
                    <a:pt x="0" y="650875"/>
                  </a:cubicBezTo>
                  <a:lnTo>
                    <a:pt x="16891" y="650875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cubicBezTo>
                    <a:pt x="33909" y="660273"/>
                    <a:pt x="26289" y="667766"/>
                    <a:pt x="17018" y="667766"/>
                  </a:cubicBezTo>
                  <a:cubicBezTo>
                    <a:pt x="7747" y="667766"/>
                    <a:pt x="0" y="660273"/>
                    <a:pt x="0" y="650875"/>
                  </a:cubicBezTo>
                  <a:cubicBezTo>
                    <a:pt x="0" y="641477"/>
                    <a:pt x="7620" y="633984"/>
                    <a:pt x="16891" y="633984"/>
                  </a:cubicBezTo>
                  <a:cubicBezTo>
                    <a:pt x="26162" y="633984"/>
                    <a:pt x="33782" y="641604"/>
                    <a:pt x="33782" y="650875"/>
                  </a:cubicBezTo>
                  <a:cubicBezTo>
                    <a:pt x="33782" y="991616"/>
                    <a:pt x="310007" y="1267968"/>
                    <a:pt x="650875" y="1267968"/>
                  </a:cubicBezTo>
                  <a:cubicBezTo>
                    <a:pt x="991616" y="1267968"/>
                    <a:pt x="1267968" y="991743"/>
                    <a:pt x="1267968" y="650875"/>
                  </a:cubicBezTo>
                  <a:cubicBezTo>
                    <a:pt x="1267968" y="310134"/>
                    <a:pt x="991743" y="33782"/>
                    <a:pt x="650875" y="33782"/>
                  </a:cubicBezTo>
                  <a:lnTo>
                    <a:pt x="650875" y="16891"/>
                  </a:lnTo>
                  <a:lnTo>
                    <a:pt x="650875" y="33909"/>
                  </a:lnTo>
                  <a:cubicBezTo>
                    <a:pt x="310134" y="33909"/>
                    <a:pt x="33909" y="310134"/>
                    <a:pt x="33909" y="650875"/>
                  </a:cubicBezTo>
                  <a:close/>
                </a:path>
              </a:pathLst>
            </a:custGeom>
            <a:solidFill>
              <a:srgbClr val="64D2E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2962656"/>
            <a:ext cx="950976" cy="1024128"/>
            <a:chOff x="0" y="0"/>
            <a:chExt cx="1267968" cy="13655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7968" cy="1365504"/>
            </a:xfrm>
            <a:custGeom>
              <a:avLst/>
              <a:gdLst/>
              <a:ahLst/>
              <a:cxnLst/>
              <a:rect r="r" b="b" t="t" l="l"/>
              <a:pathLst>
                <a:path h="136550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173" t="0" r="-8817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267968" cy="142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D1F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286000" y="2980944"/>
            <a:ext cx="6035040" cy="694944"/>
            <a:chOff x="0" y="0"/>
            <a:chExt cx="8046720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46720" cy="926592"/>
            </a:xfrm>
            <a:custGeom>
              <a:avLst/>
              <a:gdLst/>
              <a:ahLst/>
              <a:cxnLst/>
              <a:rect r="r" b="b" t="t" l="l"/>
              <a:pathLst>
                <a:path h="926592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212" r="0" b="-11921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0467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Package Manager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286000" y="3712464"/>
            <a:ext cx="6035040" cy="1554480"/>
            <a:chOff x="0" y="0"/>
            <a:chExt cx="8046720" cy="2072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467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47" r="0" b="-2564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04672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Add, view &amp; validate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delivery packages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03080" y="2453640"/>
            <a:ext cx="7985760" cy="3230880"/>
            <a:chOff x="0" y="0"/>
            <a:chExt cx="10647680" cy="4307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0320" y="20320"/>
              <a:ext cx="1060704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47680" cy="4307840"/>
            </a:xfrm>
            <a:custGeom>
              <a:avLst/>
              <a:gdLst/>
              <a:ahLst/>
              <a:cxnLst/>
              <a:rect r="r" b="b" t="t" l="l"/>
              <a:pathLst>
                <a:path h="4307840" w="10647680">
                  <a:moveTo>
                    <a:pt x="20320" y="0"/>
                  </a:moveTo>
                  <a:lnTo>
                    <a:pt x="10627360" y="0"/>
                  </a:lnTo>
                  <a:cubicBezTo>
                    <a:pt x="10638536" y="0"/>
                    <a:pt x="10647680" y="9144"/>
                    <a:pt x="10647680" y="20320"/>
                  </a:cubicBezTo>
                  <a:lnTo>
                    <a:pt x="10647680" y="4287520"/>
                  </a:lnTo>
                  <a:cubicBezTo>
                    <a:pt x="10647680" y="4298696"/>
                    <a:pt x="10638536" y="4307840"/>
                    <a:pt x="10627360" y="4307840"/>
                  </a:cubicBezTo>
                  <a:lnTo>
                    <a:pt x="20320" y="4307840"/>
                  </a:lnTo>
                  <a:cubicBezTo>
                    <a:pt x="9144" y="4307840"/>
                    <a:pt x="0" y="4298696"/>
                    <a:pt x="0" y="428752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4287520"/>
                  </a:lnTo>
                  <a:lnTo>
                    <a:pt x="20320" y="4287520"/>
                  </a:lnTo>
                  <a:lnTo>
                    <a:pt x="20320" y="4267200"/>
                  </a:lnTo>
                  <a:lnTo>
                    <a:pt x="10627360" y="4267200"/>
                  </a:lnTo>
                  <a:lnTo>
                    <a:pt x="10627360" y="4287520"/>
                  </a:lnTo>
                  <a:lnTo>
                    <a:pt x="10607040" y="4287520"/>
                  </a:lnTo>
                  <a:lnTo>
                    <a:pt x="10607040" y="20320"/>
                  </a:lnTo>
                  <a:lnTo>
                    <a:pt x="10627360" y="20320"/>
                  </a:lnTo>
                  <a:lnTo>
                    <a:pt x="1062736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6DD6A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771383" y="3004823"/>
            <a:ext cx="976379" cy="976379"/>
            <a:chOff x="0" y="0"/>
            <a:chExt cx="1301839" cy="130183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6DD6A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01750" cy="1301750"/>
            </a:xfrm>
            <a:custGeom>
              <a:avLst/>
              <a:gdLst/>
              <a:ahLst/>
              <a:cxnLst/>
              <a:rect r="r" b="b" t="t" l="l"/>
              <a:pathLst>
                <a:path h="1301750" w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lnTo>
                    <a:pt x="650875" y="16891"/>
                  </a:lnTo>
                  <a:lnTo>
                    <a:pt x="650875" y="0"/>
                  </a:lnTo>
                  <a:cubicBezTo>
                    <a:pt x="1010412" y="0"/>
                    <a:pt x="1301750" y="291465"/>
                    <a:pt x="1301750" y="650875"/>
                  </a:cubicBezTo>
                  <a:lnTo>
                    <a:pt x="1284859" y="650875"/>
                  </a:lnTo>
                  <a:lnTo>
                    <a:pt x="1301750" y="650875"/>
                  </a:lnTo>
                  <a:cubicBezTo>
                    <a:pt x="1301750" y="1010412"/>
                    <a:pt x="1010285" y="1301750"/>
                    <a:pt x="650875" y="1301750"/>
                  </a:cubicBezTo>
                  <a:lnTo>
                    <a:pt x="650875" y="1284859"/>
                  </a:lnTo>
                  <a:lnTo>
                    <a:pt x="650875" y="1301750"/>
                  </a:lnTo>
                  <a:cubicBezTo>
                    <a:pt x="291465" y="1301877"/>
                    <a:pt x="0" y="1010412"/>
                    <a:pt x="0" y="650875"/>
                  </a:cubicBezTo>
                  <a:lnTo>
                    <a:pt x="16891" y="650875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cubicBezTo>
                    <a:pt x="33909" y="660273"/>
                    <a:pt x="26289" y="667766"/>
                    <a:pt x="17018" y="667766"/>
                  </a:cubicBezTo>
                  <a:cubicBezTo>
                    <a:pt x="7747" y="667766"/>
                    <a:pt x="0" y="660273"/>
                    <a:pt x="0" y="650875"/>
                  </a:cubicBezTo>
                  <a:cubicBezTo>
                    <a:pt x="0" y="641477"/>
                    <a:pt x="7620" y="633984"/>
                    <a:pt x="16891" y="633984"/>
                  </a:cubicBezTo>
                  <a:cubicBezTo>
                    <a:pt x="26162" y="633984"/>
                    <a:pt x="33782" y="641604"/>
                    <a:pt x="33782" y="650875"/>
                  </a:cubicBezTo>
                  <a:cubicBezTo>
                    <a:pt x="33782" y="991616"/>
                    <a:pt x="310007" y="1267968"/>
                    <a:pt x="650875" y="1267968"/>
                  </a:cubicBezTo>
                  <a:cubicBezTo>
                    <a:pt x="991616" y="1267968"/>
                    <a:pt x="1267968" y="991743"/>
                    <a:pt x="1267968" y="650875"/>
                  </a:cubicBezTo>
                  <a:cubicBezTo>
                    <a:pt x="1267968" y="310134"/>
                    <a:pt x="991743" y="33782"/>
                    <a:pt x="650875" y="33782"/>
                  </a:cubicBezTo>
                  <a:lnTo>
                    <a:pt x="650875" y="16891"/>
                  </a:lnTo>
                  <a:lnTo>
                    <a:pt x="650875" y="33909"/>
                  </a:lnTo>
                  <a:cubicBezTo>
                    <a:pt x="310134" y="33909"/>
                    <a:pt x="33909" y="310134"/>
                    <a:pt x="33909" y="650875"/>
                  </a:cubicBezTo>
                  <a:close/>
                </a:path>
              </a:pathLst>
            </a:custGeom>
            <a:solidFill>
              <a:srgbClr val="6DD6A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784080" y="2962656"/>
            <a:ext cx="950976" cy="1024128"/>
            <a:chOff x="0" y="0"/>
            <a:chExt cx="1267968" cy="13655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67968" cy="1365504"/>
            </a:xfrm>
            <a:custGeom>
              <a:avLst/>
              <a:gdLst/>
              <a:ahLst/>
              <a:cxnLst/>
              <a:rect r="r" b="b" t="t" l="l"/>
              <a:pathLst>
                <a:path h="136550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173" t="0" r="-8817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267968" cy="142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D1F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972800" y="2980944"/>
            <a:ext cx="6035040" cy="694944"/>
            <a:chOff x="0" y="0"/>
            <a:chExt cx="8046720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046720" cy="926592"/>
            </a:xfrm>
            <a:custGeom>
              <a:avLst/>
              <a:gdLst/>
              <a:ahLst/>
              <a:cxnLst/>
              <a:rect r="r" b="b" t="t" l="l"/>
              <a:pathLst>
                <a:path h="926592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212" r="0" b="-11921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80467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Knapsack DP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972800" y="3712464"/>
            <a:ext cx="6035040" cy="1554480"/>
            <a:chOff x="0" y="0"/>
            <a:chExt cx="8046720" cy="2072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0467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47" r="0" b="-2564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804672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Select optimal load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within truck capacity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16280" y="6019800"/>
            <a:ext cx="7985760" cy="3230880"/>
            <a:chOff x="0" y="0"/>
            <a:chExt cx="10647680" cy="4307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20320" y="20320"/>
              <a:ext cx="1060704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647680" cy="4307840"/>
            </a:xfrm>
            <a:custGeom>
              <a:avLst/>
              <a:gdLst/>
              <a:ahLst/>
              <a:cxnLst/>
              <a:rect r="r" b="b" t="t" l="l"/>
              <a:pathLst>
                <a:path h="4307840" w="10647680">
                  <a:moveTo>
                    <a:pt x="20320" y="0"/>
                  </a:moveTo>
                  <a:lnTo>
                    <a:pt x="10627360" y="0"/>
                  </a:lnTo>
                  <a:cubicBezTo>
                    <a:pt x="10638536" y="0"/>
                    <a:pt x="10647680" y="9144"/>
                    <a:pt x="10647680" y="20320"/>
                  </a:cubicBezTo>
                  <a:lnTo>
                    <a:pt x="10647680" y="4287520"/>
                  </a:lnTo>
                  <a:cubicBezTo>
                    <a:pt x="10647680" y="4298696"/>
                    <a:pt x="10638536" y="4307840"/>
                    <a:pt x="10627360" y="4307840"/>
                  </a:cubicBezTo>
                  <a:lnTo>
                    <a:pt x="20320" y="4307840"/>
                  </a:lnTo>
                  <a:cubicBezTo>
                    <a:pt x="9144" y="4307840"/>
                    <a:pt x="0" y="4298696"/>
                    <a:pt x="0" y="428752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4287520"/>
                  </a:lnTo>
                  <a:lnTo>
                    <a:pt x="20320" y="4287520"/>
                  </a:lnTo>
                  <a:lnTo>
                    <a:pt x="20320" y="4267200"/>
                  </a:lnTo>
                  <a:lnTo>
                    <a:pt x="10627360" y="4267200"/>
                  </a:lnTo>
                  <a:lnTo>
                    <a:pt x="10627360" y="4287520"/>
                  </a:lnTo>
                  <a:lnTo>
                    <a:pt x="10607040" y="4287520"/>
                  </a:lnTo>
                  <a:lnTo>
                    <a:pt x="10607040" y="20320"/>
                  </a:lnTo>
                  <a:lnTo>
                    <a:pt x="10627360" y="20320"/>
                  </a:lnTo>
                  <a:lnTo>
                    <a:pt x="1062736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12A3D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84583" y="6570983"/>
            <a:ext cx="976379" cy="976379"/>
            <a:chOff x="0" y="0"/>
            <a:chExt cx="1301839" cy="130183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12A3D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01750" cy="1301750"/>
            </a:xfrm>
            <a:custGeom>
              <a:avLst/>
              <a:gdLst/>
              <a:ahLst/>
              <a:cxnLst/>
              <a:rect r="r" b="b" t="t" l="l"/>
              <a:pathLst>
                <a:path h="1301750" w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lnTo>
                    <a:pt x="650875" y="16891"/>
                  </a:lnTo>
                  <a:lnTo>
                    <a:pt x="650875" y="0"/>
                  </a:lnTo>
                  <a:cubicBezTo>
                    <a:pt x="1010412" y="0"/>
                    <a:pt x="1301750" y="291465"/>
                    <a:pt x="1301750" y="650875"/>
                  </a:cubicBezTo>
                  <a:lnTo>
                    <a:pt x="1284859" y="650875"/>
                  </a:lnTo>
                  <a:lnTo>
                    <a:pt x="1301750" y="650875"/>
                  </a:lnTo>
                  <a:cubicBezTo>
                    <a:pt x="1301750" y="1010412"/>
                    <a:pt x="1010285" y="1301750"/>
                    <a:pt x="650875" y="1301750"/>
                  </a:cubicBezTo>
                  <a:lnTo>
                    <a:pt x="650875" y="1284859"/>
                  </a:lnTo>
                  <a:lnTo>
                    <a:pt x="650875" y="1301750"/>
                  </a:lnTo>
                  <a:cubicBezTo>
                    <a:pt x="291465" y="1301877"/>
                    <a:pt x="0" y="1010412"/>
                    <a:pt x="0" y="650875"/>
                  </a:cubicBezTo>
                  <a:lnTo>
                    <a:pt x="16891" y="650875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cubicBezTo>
                    <a:pt x="33909" y="660273"/>
                    <a:pt x="26289" y="667766"/>
                    <a:pt x="17018" y="667766"/>
                  </a:cubicBezTo>
                  <a:cubicBezTo>
                    <a:pt x="7747" y="667766"/>
                    <a:pt x="0" y="660273"/>
                    <a:pt x="0" y="650875"/>
                  </a:cubicBezTo>
                  <a:cubicBezTo>
                    <a:pt x="0" y="641477"/>
                    <a:pt x="7620" y="633984"/>
                    <a:pt x="16891" y="633984"/>
                  </a:cubicBezTo>
                  <a:cubicBezTo>
                    <a:pt x="26162" y="633984"/>
                    <a:pt x="33782" y="641604"/>
                    <a:pt x="33782" y="650875"/>
                  </a:cubicBezTo>
                  <a:cubicBezTo>
                    <a:pt x="33782" y="991616"/>
                    <a:pt x="310007" y="1267968"/>
                    <a:pt x="650875" y="1267968"/>
                  </a:cubicBezTo>
                  <a:cubicBezTo>
                    <a:pt x="991616" y="1267968"/>
                    <a:pt x="1267968" y="991743"/>
                    <a:pt x="1267968" y="650875"/>
                  </a:cubicBezTo>
                  <a:cubicBezTo>
                    <a:pt x="1267968" y="310134"/>
                    <a:pt x="991743" y="33782"/>
                    <a:pt x="650875" y="33782"/>
                  </a:cubicBezTo>
                  <a:lnTo>
                    <a:pt x="650875" y="16891"/>
                  </a:lnTo>
                  <a:lnTo>
                    <a:pt x="650875" y="33909"/>
                  </a:lnTo>
                  <a:cubicBezTo>
                    <a:pt x="310134" y="33909"/>
                    <a:pt x="33909" y="310134"/>
                    <a:pt x="33909" y="650875"/>
                  </a:cubicBezTo>
                  <a:close/>
                </a:path>
              </a:pathLst>
            </a:custGeom>
            <a:solidFill>
              <a:srgbClr val="12A3D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97280" y="6528816"/>
            <a:ext cx="950976" cy="1024128"/>
            <a:chOff x="0" y="0"/>
            <a:chExt cx="1267968" cy="136550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67968" cy="1365504"/>
            </a:xfrm>
            <a:custGeom>
              <a:avLst/>
              <a:gdLst/>
              <a:ahLst/>
              <a:cxnLst/>
              <a:rect r="r" b="b" t="t" l="l"/>
              <a:pathLst>
                <a:path h="136550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173" t="0" r="-8817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1267968" cy="142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D1F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286000" y="6547104"/>
            <a:ext cx="6035040" cy="694944"/>
            <a:chOff x="0" y="0"/>
            <a:chExt cx="804672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046720" cy="926592"/>
            </a:xfrm>
            <a:custGeom>
              <a:avLst/>
              <a:gdLst/>
              <a:ahLst/>
              <a:cxnLst/>
              <a:rect r="r" b="b" t="t" l="l"/>
              <a:pathLst>
                <a:path h="926592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212" r="0" b="-11921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80467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Dijkstra Routing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286000" y="7278624"/>
            <a:ext cx="6035040" cy="1554480"/>
            <a:chOff x="0" y="0"/>
            <a:chExt cx="8046720" cy="2072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0467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47" r="0" b="-2564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804672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Shortest path from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depot to every city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03080" y="6019800"/>
            <a:ext cx="7985760" cy="3230880"/>
            <a:chOff x="0" y="0"/>
            <a:chExt cx="10647680" cy="4307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20320" y="20320"/>
              <a:ext cx="1060704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647680" cy="4307840"/>
            </a:xfrm>
            <a:custGeom>
              <a:avLst/>
              <a:gdLst/>
              <a:ahLst/>
              <a:cxnLst/>
              <a:rect r="r" b="b" t="t" l="l"/>
              <a:pathLst>
                <a:path h="4307840" w="10647680">
                  <a:moveTo>
                    <a:pt x="20320" y="0"/>
                  </a:moveTo>
                  <a:lnTo>
                    <a:pt x="10627360" y="0"/>
                  </a:lnTo>
                  <a:cubicBezTo>
                    <a:pt x="10638536" y="0"/>
                    <a:pt x="10647680" y="9144"/>
                    <a:pt x="10647680" y="20320"/>
                  </a:cubicBezTo>
                  <a:lnTo>
                    <a:pt x="10647680" y="4287520"/>
                  </a:lnTo>
                  <a:cubicBezTo>
                    <a:pt x="10647680" y="4298696"/>
                    <a:pt x="10638536" y="4307840"/>
                    <a:pt x="10627360" y="4307840"/>
                  </a:cubicBezTo>
                  <a:lnTo>
                    <a:pt x="20320" y="4307840"/>
                  </a:lnTo>
                  <a:cubicBezTo>
                    <a:pt x="9144" y="4307840"/>
                    <a:pt x="0" y="4298696"/>
                    <a:pt x="0" y="428752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4287520"/>
                  </a:lnTo>
                  <a:lnTo>
                    <a:pt x="20320" y="4287520"/>
                  </a:lnTo>
                  <a:lnTo>
                    <a:pt x="20320" y="4267200"/>
                  </a:lnTo>
                  <a:lnTo>
                    <a:pt x="10627360" y="4267200"/>
                  </a:lnTo>
                  <a:lnTo>
                    <a:pt x="10627360" y="4287520"/>
                  </a:lnTo>
                  <a:lnTo>
                    <a:pt x="10607040" y="4287520"/>
                  </a:lnTo>
                  <a:lnTo>
                    <a:pt x="10607040" y="20320"/>
                  </a:lnTo>
                  <a:lnTo>
                    <a:pt x="10627360" y="20320"/>
                  </a:lnTo>
                  <a:lnTo>
                    <a:pt x="1062736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771383" y="6570983"/>
            <a:ext cx="976379" cy="976379"/>
            <a:chOff x="0" y="0"/>
            <a:chExt cx="1301839" cy="130183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01750" cy="1301750"/>
            </a:xfrm>
            <a:custGeom>
              <a:avLst/>
              <a:gdLst/>
              <a:ahLst/>
              <a:cxnLst/>
              <a:rect r="r" b="b" t="t" l="l"/>
              <a:pathLst>
                <a:path h="1301750" w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lnTo>
                    <a:pt x="650875" y="16891"/>
                  </a:lnTo>
                  <a:lnTo>
                    <a:pt x="650875" y="0"/>
                  </a:lnTo>
                  <a:cubicBezTo>
                    <a:pt x="1010412" y="0"/>
                    <a:pt x="1301750" y="291465"/>
                    <a:pt x="1301750" y="650875"/>
                  </a:cubicBezTo>
                  <a:lnTo>
                    <a:pt x="1284859" y="650875"/>
                  </a:lnTo>
                  <a:lnTo>
                    <a:pt x="1301750" y="650875"/>
                  </a:lnTo>
                  <a:cubicBezTo>
                    <a:pt x="1301750" y="1010412"/>
                    <a:pt x="1010285" y="1301750"/>
                    <a:pt x="650875" y="1301750"/>
                  </a:cubicBezTo>
                  <a:lnTo>
                    <a:pt x="650875" y="1284859"/>
                  </a:lnTo>
                  <a:lnTo>
                    <a:pt x="650875" y="1301750"/>
                  </a:lnTo>
                  <a:cubicBezTo>
                    <a:pt x="291465" y="1301877"/>
                    <a:pt x="0" y="1010412"/>
                    <a:pt x="0" y="650875"/>
                  </a:cubicBezTo>
                  <a:lnTo>
                    <a:pt x="16891" y="650875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cubicBezTo>
                    <a:pt x="33909" y="660273"/>
                    <a:pt x="26289" y="667766"/>
                    <a:pt x="17018" y="667766"/>
                  </a:cubicBezTo>
                  <a:cubicBezTo>
                    <a:pt x="7747" y="667766"/>
                    <a:pt x="0" y="660273"/>
                    <a:pt x="0" y="650875"/>
                  </a:cubicBezTo>
                  <a:cubicBezTo>
                    <a:pt x="0" y="641477"/>
                    <a:pt x="7620" y="633984"/>
                    <a:pt x="16891" y="633984"/>
                  </a:cubicBezTo>
                  <a:cubicBezTo>
                    <a:pt x="26162" y="633984"/>
                    <a:pt x="33782" y="641604"/>
                    <a:pt x="33782" y="650875"/>
                  </a:cubicBezTo>
                  <a:cubicBezTo>
                    <a:pt x="33782" y="991616"/>
                    <a:pt x="310007" y="1267968"/>
                    <a:pt x="650875" y="1267968"/>
                  </a:cubicBezTo>
                  <a:cubicBezTo>
                    <a:pt x="991616" y="1267968"/>
                    <a:pt x="1267968" y="991743"/>
                    <a:pt x="1267968" y="650875"/>
                  </a:cubicBezTo>
                  <a:cubicBezTo>
                    <a:pt x="1267968" y="310134"/>
                    <a:pt x="991743" y="33782"/>
                    <a:pt x="650875" y="33782"/>
                  </a:cubicBezTo>
                  <a:lnTo>
                    <a:pt x="650875" y="16891"/>
                  </a:lnTo>
                  <a:lnTo>
                    <a:pt x="650875" y="33909"/>
                  </a:lnTo>
                  <a:cubicBezTo>
                    <a:pt x="310134" y="33909"/>
                    <a:pt x="33909" y="310134"/>
                    <a:pt x="33909" y="650875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784080" y="6528816"/>
            <a:ext cx="950976" cy="1024128"/>
            <a:chOff x="0" y="0"/>
            <a:chExt cx="1267968" cy="136550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67968" cy="1365504"/>
            </a:xfrm>
            <a:custGeom>
              <a:avLst/>
              <a:gdLst/>
              <a:ahLst/>
              <a:cxnLst/>
              <a:rect r="r" b="b" t="t" l="l"/>
              <a:pathLst>
                <a:path h="136550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173" t="0" r="-8817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1267968" cy="142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D1F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972800" y="6547104"/>
            <a:ext cx="6035040" cy="694944"/>
            <a:chOff x="0" y="0"/>
            <a:chExt cx="8046720" cy="9265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046720" cy="926592"/>
            </a:xfrm>
            <a:custGeom>
              <a:avLst/>
              <a:gdLst/>
              <a:ahLst/>
              <a:cxnLst/>
              <a:rect r="r" b="b" t="t" l="l"/>
              <a:pathLst>
                <a:path h="926592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212" r="0" b="-11921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80467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Kruskal MST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972800" y="7278624"/>
            <a:ext cx="6035040" cy="1554480"/>
            <a:chOff x="0" y="0"/>
            <a:chExt cx="8046720" cy="2072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0467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47" r="0" b="-2564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804672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Minimum cost road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network for all cities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125463" y="4339847"/>
            <a:ext cx="2037083" cy="1488443"/>
            <a:chOff x="0" y="0"/>
            <a:chExt cx="2716111" cy="198459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975360"/>
                  </a:moveTo>
                  <a:cubicBezTo>
                    <a:pt x="0" y="436626"/>
                    <a:pt x="600456" y="0"/>
                    <a:pt x="1341120" y="0"/>
                  </a:cubicBezTo>
                  <a:cubicBezTo>
                    <a:pt x="2081784" y="0"/>
                    <a:pt x="2682240" y="436626"/>
                    <a:pt x="2682240" y="975360"/>
                  </a:cubicBezTo>
                  <a:cubicBezTo>
                    <a:pt x="2682240" y="1514094"/>
                    <a:pt x="2081784" y="1950720"/>
                    <a:pt x="1341120" y="1950720"/>
                  </a:cubicBezTo>
                  <a:cubicBezTo>
                    <a:pt x="60045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0A7EA4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716022" cy="1984502"/>
            </a:xfrm>
            <a:custGeom>
              <a:avLst/>
              <a:gdLst/>
              <a:ahLst/>
              <a:cxnLst/>
              <a:rect r="r" b="b" t="t" l="l"/>
              <a:pathLst>
                <a:path h="1984502" w="2716022">
                  <a:moveTo>
                    <a:pt x="0" y="992251"/>
                  </a:moveTo>
                  <a:cubicBezTo>
                    <a:pt x="0" y="439674"/>
                    <a:pt x="613410" y="0"/>
                    <a:pt x="1358011" y="0"/>
                  </a:cubicBezTo>
                  <a:cubicBezTo>
                    <a:pt x="2102612" y="0"/>
                    <a:pt x="2716022" y="439674"/>
                    <a:pt x="2716022" y="992251"/>
                  </a:cubicBezTo>
                  <a:lnTo>
                    <a:pt x="2699131" y="992251"/>
                  </a:lnTo>
                  <a:lnTo>
                    <a:pt x="2716022" y="992251"/>
                  </a:lnTo>
                  <a:cubicBezTo>
                    <a:pt x="2716022" y="1544828"/>
                    <a:pt x="2102612" y="1984502"/>
                    <a:pt x="1358011" y="1984502"/>
                  </a:cubicBezTo>
                  <a:lnTo>
                    <a:pt x="1358011" y="1967611"/>
                  </a:lnTo>
                  <a:lnTo>
                    <a:pt x="1358011" y="1984502"/>
                  </a:lnTo>
                  <a:cubicBezTo>
                    <a:pt x="613410" y="1984629"/>
                    <a:pt x="0" y="1544955"/>
                    <a:pt x="0" y="992251"/>
                  </a:cubicBezTo>
                  <a:lnTo>
                    <a:pt x="16891" y="99225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0" y="992251"/>
                  </a:lnTo>
                  <a:moveTo>
                    <a:pt x="33909" y="992251"/>
                  </a:moveTo>
                  <a:cubicBezTo>
                    <a:pt x="33909" y="1001649"/>
                    <a:pt x="26289" y="1009142"/>
                    <a:pt x="17018" y="1009142"/>
                  </a:cubicBezTo>
                  <a:cubicBezTo>
                    <a:pt x="7747" y="1009142"/>
                    <a:pt x="0" y="1001649"/>
                    <a:pt x="0" y="992251"/>
                  </a:cubicBezTo>
                  <a:cubicBezTo>
                    <a:pt x="0" y="982853"/>
                    <a:pt x="7620" y="975360"/>
                    <a:pt x="16891" y="975360"/>
                  </a:cubicBezTo>
                  <a:cubicBezTo>
                    <a:pt x="26162" y="975360"/>
                    <a:pt x="33782" y="982980"/>
                    <a:pt x="33782" y="992251"/>
                  </a:cubicBezTo>
                  <a:cubicBezTo>
                    <a:pt x="33782" y="1517015"/>
                    <a:pt x="621284" y="1950720"/>
                    <a:pt x="1358011" y="1950720"/>
                  </a:cubicBezTo>
                  <a:cubicBezTo>
                    <a:pt x="2094738" y="1950720"/>
                    <a:pt x="2682240" y="1517015"/>
                    <a:pt x="2682240" y="992251"/>
                  </a:cubicBezTo>
                  <a:cubicBezTo>
                    <a:pt x="2682240" y="467487"/>
                    <a:pt x="2094738" y="33782"/>
                    <a:pt x="1358011" y="33782"/>
                  </a:cubicBezTo>
                  <a:lnTo>
                    <a:pt x="1358011" y="16891"/>
                  </a:lnTo>
                  <a:lnTo>
                    <a:pt x="1358011" y="33909"/>
                  </a:lnTo>
                  <a:cubicBezTo>
                    <a:pt x="621411" y="33909"/>
                    <a:pt x="33909" y="467614"/>
                    <a:pt x="33909" y="992251"/>
                  </a:cubicBez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138160" y="4297680"/>
            <a:ext cx="2011680" cy="1572768"/>
            <a:chOff x="0" y="0"/>
            <a:chExt cx="2682240" cy="209702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682240" cy="2097024"/>
            </a:xfrm>
            <a:custGeom>
              <a:avLst/>
              <a:gdLst/>
              <a:ahLst/>
              <a:cxnLst/>
              <a:rect r="r" b="b" t="t" l="l"/>
              <a:pathLst>
                <a:path h="209702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097024"/>
                  </a:lnTo>
                  <a:lnTo>
                    <a:pt x="0" y="20970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310" t="0" r="-50310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682240" cy="21351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Sort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12064"/>
            <a:ext cx="16642080" cy="1097280"/>
            <a:chOff x="0" y="0"/>
            <a:chExt cx="2218944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894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2218944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D1F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0/1 Knapsack — Optimal Package Loading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828800"/>
            <a:ext cx="8046720" cy="640080"/>
            <a:chOff x="0" y="0"/>
            <a:chExt cx="1072896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7289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7E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68880"/>
            <a:ext cx="7863840" cy="2011680"/>
            <a:chOff x="0" y="0"/>
            <a:chExt cx="10485120" cy="2682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85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68" r="0" b="-2616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48512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Truck capacity: 50 kg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Choose packages to </a:t>
              </a:r>
              <a:r>
                <a:rPr lang="en-US" sz="2400" b="true">
                  <a:solidFill>
                    <a:srgbClr val="0D1F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maximise profit</a:t>
              </a:r>
              <a:r>
                <a:rPr lang="en-US" sz="24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without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exceeding the weight limit.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package: take it or leave it.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4572000"/>
            <a:ext cx="8046720" cy="640080"/>
            <a:chOff x="0" y="0"/>
            <a:chExt cx="1072896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07289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7E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the DP Table Works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0263" y="5382263"/>
            <a:ext cx="574043" cy="574043"/>
            <a:chOff x="0" y="0"/>
            <a:chExt cx="765391" cy="7653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A7EA4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5358384"/>
            <a:ext cx="548640" cy="603504"/>
            <a:chOff x="0" y="0"/>
            <a:chExt cx="731520" cy="80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804672"/>
            </a:xfrm>
            <a:custGeom>
              <a:avLst/>
              <a:gdLst/>
              <a:ahLst/>
              <a:cxnLst/>
              <a:rect r="r" b="b" t="t" l="l"/>
              <a:pathLst>
                <a:path h="80467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3152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54480" y="5358384"/>
            <a:ext cx="7223760" cy="603504"/>
            <a:chOff x="0" y="0"/>
            <a:chExt cx="9631680" cy="8046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31680" cy="804672"/>
            </a:xfrm>
            <a:custGeom>
              <a:avLst/>
              <a:gdLst/>
              <a:ahLst/>
              <a:cxnLst/>
              <a:rect r="r" b="b" t="t" l="l"/>
              <a:pathLst>
                <a:path h="80467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230" r="0" b="-18323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631680" cy="852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dp[i][w] = best profit using first i packages at capacity w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10263" y="6241799"/>
            <a:ext cx="574043" cy="574043"/>
            <a:chOff x="0" y="0"/>
            <a:chExt cx="765391" cy="7653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A7EA4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6217920"/>
            <a:ext cx="548640" cy="603504"/>
            <a:chOff x="0" y="0"/>
            <a:chExt cx="731520" cy="8046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" cy="804672"/>
            </a:xfrm>
            <a:custGeom>
              <a:avLst/>
              <a:gdLst/>
              <a:ahLst/>
              <a:cxnLst/>
              <a:rect r="r" b="b" t="t" l="l"/>
              <a:pathLst>
                <a:path h="80467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3152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54480" y="6217920"/>
            <a:ext cx="7223760" cy="603504"/>
            <a:chOff x="0" y="0"/>
            <a:chExt cx="9631680" cy="8046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631680" cy="804672"/>
            </a:xfrm>
            <a:custGeom>
              <a:avLst/>
              <a:gdLst/>
              <a:ahLst/>
              <a:cxnLst/>
              <a:rect r="r" b="b" t="t" l="l"/>
              <a:pathLst>
                <a:path h="80467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230" r="0" b="-18323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631680" cy="852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If package too heavy → inherit value from row above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10263" y="7101335"/>
            <a:ext cx="574043" cy="574043"/>
            <a:chOff x="0" y="0"/>
            <a:chExt cx="765391" cy="7653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A7EA4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7077456"/>
            <a:ext cx="548640" cy="603504"/>
            <a:chOff x="0" y="0"/>
            <a:chExt cx="731520" cy="8046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804672"/>
            </a:xfrm>
            <a:custGeom>
              <a:avLst/>
              <a:gdLst/>
              <a:ahLst/>
              <a:cxnLst/>
              <a:rect r="r" b="b" t="t" l="l"/>
              <a:pathLst>
                <a:path h="80467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3152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54480" y="7077456"/>
            <a:ext cx="7223760" cy="603504"/>
            <a:chOff x="0" y="0"/>
            <a:chExt cx="9631680" cy="8046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631680" cy="804672"/>
            </a:xfrm>
            <a:custGeom>
              <a:avLst/>
              <a:gdLst/>
              <a:ahLst/>
              <a:cxnLst/>
              <a:rect r="r" b="b" t="t" l="l"/>
              <a:pathLst>
                <a:path h="80467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230" r="0" b="-18323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631680" cy="852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Else → max(skip it,  take it + dp[i-1][w-weight])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10263" y="7960871"/>
            <a:ext cx="574043" cy="574043"/>
            <a:chOff x="0" y="0"/>
            <a:chExt cx="765391" cy="7653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A7EA4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2960" y="7936992"/>
            <a:ext cx="548640" cy="603504"/>
            <a:chOff x="0" y="0"/>
            <a:chExt cx="731520" cy="8046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" cy="804672"/>
            </a:xfrm>
            <a:custGeom>
              <a:avLst/>
              <a:gdLst/>
              <a:ahLst/>
              <a:cxnLst/>
              <a:rect r="r" b="b" t="t" l="l"/>
              <a:pathLst>
                <a:path h="80467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3152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554480" y="7936992"/>
            <a:ext cx="7223760" cy="603504"/>
            <a:chOff x="0" y="0"/>
            <a:chExt cx="9631680" cy="80467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631680" cy="804672"/>
            </a:xfrm>
            <a:custGeom>
              <a:avLst/>
              <a:gdLst/>
              <a:ahLst/>
              <a:cxnLst/>
              <a:rect r="r" b="b" t="t" l="l"/>
              <a:pathLst>
                <a:path h="80467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230" r="0" b="-18323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631680" cy="852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Backtrack the table to find which packages were chosen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314183" y="1669799"/>
            <a:ext cx="8072123" cy="7852667"/>
            <a:chOff x="0" y="0"/>
            <a:chExt cx="10762831" cy="1047022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0728960" cy="10436352"/>
            </a:xfrm>
            <a:custGeom>
              <a:avLst/>
              <a:gdLst/>
              <a:ahLst/>
              <a:cxnLst/>
              <a:rect r="r" b="b" t="t" l="l"/>
              <a:pathLst>
                <a:path h="104363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436352"/>
                  </a:lnTo>
                  <a:lnTo>
                    <a:pt x="0" y="104363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762742" cy="10470135"/>
            </a:xfrm>
            <a:custGeom>
              <a:avLst/>
              <a:gdLst/>
              <a:ahLst/>
              <a:cxnLst/>
              <a:rect r="r" b="b" t="t" l="l"/>
              <a:pathLst>
                <a:path h="10470135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0453243"/>
                  </a:lnTo>
                  <a:cubicBezTo>
                    <a:pt x="10762742" y="10462641"/>
                    <a:pt x="10755122" y="10470135"/>
                    <a:pt x="10745851" y="10470135"/>
                  </a:cubicBezTo>
                  <a:lnTo>
                    <a:pt x="16891" y="10470135"/>
                  </a:lnTo>
                  <a:cubicBezTo>
                    <a:pt x="7493" y="10470135"/>
                    <a:pt x="0" y="10462514"/>
                    <a:pt x="0" y="104532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53243"/>
                  </a:lnTo>
                  <a:lnTo>
                    <a:pt x="16891" y="10453243"/>
                  </a:lnTo>
                  <a:lnTo>
                    <a:pt x="16891" y="10436352"/>
                  </a:lnTo>
                  <a:lnTo>
                    <a:pt x="10745851" y="10436352"/>
                  </a:lnTo>
                  <a:lnTo>
                    <a:pt x="10745851" y="10453243"/>
                  </a:lnTo>
                  <a:lnTo>
                    <a:pt x="10728960" y="1045324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E4E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509760" y="1828800"/>
            <a:ext cx="7680960" cy="585216"/>
            <a:chOff x="0" y="0"/>
            <a:chExt cx="10241280" cy="7802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2412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A7E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DP Table  (capacity = 5 kg, profit × 1)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460487" y="2511047"/>
            <a:ext cx="1012955" cy="793499"/>
            <a:chOff x="0" y="0"/>
            <a:chExt cx="1350607" cy="105799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50518" cy="1057912"/>
            </a:xfrm>
            <a:custGeom>
              <a:avLst/>
              <a:gdLst/>
              <a:ahLst/>
              <a:cxnLst/>
              <a:rect r="r" b="b" t="t" l="l"/>
              <a:pathLst>
                <a:path h="1057912" w="1350518">
                  <a:moveTo>
                    <a:pt x="16891" y="0"/>
                  </a:moveTo>
                  <a:lnTo>
                    <a:pt x="1333627" y="0"/>
                  </a:lnTo>
                  <a:cubicBezTo>
                    <a:pt x="1343025" y="0"/>
                    <a:pt x="1350518" y="7620"/>
                    <a:pt x="1350518" y="16891"/>
                  </a:cubicBezTo>
                  <a:lnTo>
                    <a:pt x="1350518" y="1041019"/>
                  </a:lnTo>
                  <a:cubicBezTo>
                    <a:pt x="1350518" y="1050417"/>
                    <a:pt x="1342898" y="1057910"/>
                    <a:pt x="1333627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333627" y="1024128"/>
                  </a:lnTo>
                  <a:lnTo>
                    <a:pt x="1333627" y="1041019"/>
                  </a:lnTo>
                  <a:lnTo>
                    <a:pt x="1316736" y="1041019"/>
                  </a:lnTo>
                  <a:lnTo>
                    <a:pt x="1316736" y="16891"/>
                  </a:lnTo>
                  <a:lnTo>
                    <a:pt x="1333627" y="16891"/>
                  </a:lnTo>
                  <a:lnTo>
                    <a:pt x="13336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448039" y="2511047"/>
            <a:ext cx="1012955" cy="793499"/>
            <a:chOff x="0" y="0"/>
            <a:chExt cx="1350607" cy="105799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50518" cy="1057912"/>
            </a:xfrm>
            <a:custGeom>
              <a:avLst/>
              <a:gdLst/>
              <a:ahLst/>
              <a:cxnLst/>
              <a:rect r="r" b="b" t="t" l="l"/>
              <a:pathLst>
                <a:path h="1057912" w="1350518">
                  <a:moveTo>
                    <a:pt x="16891" y="0"/>
                  </a:moveTo>
                  <a:lnTo>
                    <a:pt x="1333627" y="0"/>
                  </a:lnTo>
                  <a:cubicBezTo>
                    <a:pt x="1343025" y="0"/>
                    <a:pt x="1350518" y="7620"/>
                    <a:pt x="1350518" y="16891"/>
                  </a:cubicBezTo>
                  <a:lnTo>
                    <a:pt x="1350518" y="1041019"/>
                  </a:lnTo>
                  <a:cubicBezTo>
                    <a:pt x="1350518" y="1050417"/>
                    <a:pt x="1342898" y="1057910"/>
                    <a:pt x="1333627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333627" y="1024128"/>
                  </a:lnTo>
                  <a:lnTo>
                    <a:pt x="1333627" y="1041019"/>
                  </a:lnTo>
                  <a:lnTo>
                    <a:pt x="1316736" y="1041019"/>
                  </a:lnTo>
                  <a:lnTo>
                    <a:pt x="1316736" y="16891"/>
                  </a:lnTo>
                  <a:lnTo>
                    <a:pt x="1333627" y="16891"/>
                  </a:lnTo>
                  <a:lnTo>
                    <a:pt x="13336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460736" y="2523744"/>
            <a:ext cx="987552" cy="768096"/>
            <a:chOff x="0" y="0"/>
            <a:chExt cx="1316736" cy="10241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1316736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w=0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435591" y="2511047"/>
            <a:ext cx="1012955" cy="793499"/>
            <a:chOff x="0" y="0"/>
            <a:chExt cx="1350607" cy="105799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350518" cy="1057912"/>
            </a:xfrm>
            <a:custGeom>
              <a:avLst/>
              <a:gdLst/>
              <a:ahLst/>
              <a:cxnLst/>
              <a:rect r="r" b="b" t="t" l="l"/>
              <a:pathLst>
                <a:path h="1057912" w="1350518">
                  <a:moveTo>
                    <a:pt x="16891" y="0"/>
                  </a:moveTo>
                  <a:lnTo>
                    <a:pt x="1333627" y="0"/>
                  </a:lnTo>
                  <a:cubicBezTo>
                    <a:pt x="1343025" y="0"/>
                    <a:pt x="1350518" y="7620"/>
                    <a:pt x="1350518" y="16891"/>
                  </a:cubicBezTo>
                  <a:lnTo>
                    <a:pt x="1350518" y="1041019"/>
                  </a:lnTo>
                  <a:cubicBezTo>
                    <a:pt x="1350518" y="1050417"/>
                    <a:pt x="1342898" y="1057910"/>
                    <a:pt x="1333627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333627" y="1024128"/>
                  </a:lnTo>
                  <a:lnTo>
                    <a:pt x="1333627" y="1041019"/>
                  </a:lnTo>
                  <a:lnTo>
                    <a:pt x="1316736" y="1041019"/>
                  </a:lnTo>
                  <a:lnTo>
                    <a:pt x="1316736" y="16891"/>
                  </a:lnTo>
                  <a:lnTo>
                    <a:pt x="1333627" y="16891"/>
                  </a:lnTo>
                  <a:lnTo>
                    <a:pt x="13336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1448288" y="2523744"/>
            <a:ext cx="987552" cy="768096"/>
            <a:chOff x="0" y="0"/>
            <a:chExt cx="1316736" cy="102412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1316736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w=1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423143" y="2511047"/>
            <a:ext cx="1012955" cy="793499"/>
            <a:chOff x="0" y="0"/>
            <a:chExt cx="1350607" cy="105799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350518" cy="1057912"/>
            </a:xfrm>
            <a:custGeom>
              <a:avLst/>
              <a:gdLst/>
              <a:ahLst/>
              <a:cxnLst/>
              <a:rect r="r" b="b" t="t" l="l"/>
              <a:pathLst>
                <a:path h="1057912" w="1350518">
                  <a:moveTo>
                    <a:pt x="16891" y="0"/>
                  </a:moveTo>
                  <a:lnTo>
                    <a:pt x="1333627" y="0"/>
                  </a:lnTo>
                  <a:cubicBezTo>
                    <a:pt x="1343025" y="0"/>
                    <a:pt x="1350518" y="7620"/>
                    <a:pt x="1350518" y="16891"/>
                  </a:cubicBezTo>
                  <a:lnTo>
                    <a:pt x="1350518" y="1041019"/>
                  </a:lnTo>
                  <a:cubicBezTo>
                    <a:pt x="1350518" y="1050417"/>
                    <a:pt x="1342898" y="1057910"/>
                    <a:pt x="1333627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333627" y="1024128"/>
                  </a:lnTo>
                  <a:lnTo>
                    <a:pt x="1333627" y="1041019"/>
                  </a:lnTo>
                  <a:lnTo>
                    <a:pt x="1316736" y="1041019"/>
                  </a:lnTo>
                  <a:lnTo>
                    <a:pt x="1316736" y="16891"/>
                  </a:lnTo>
                  <a:lnTo>
                    <a:pt x="1333627" y="16891"/>
                  </a:lnTo>
                  <a:lnTo>
                    <a:pt x="13336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435840" y="2523744"/>
            <a:ext cx="987552" cy="768096"/>
            <a:chOff x="0" y="0"/>
            <a:chExt cx="1316736" cy="102412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1316736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w=2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410695" y="2511047"/>
            <a:ext cx="1012955" cy="793499"/>
            <a:chOff x="0" y="0"/>
            <a:chExt cx="1350607" cy="105799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350518" cy="1057912"/>
            </a:xfrm>
            <a:custGeom>
              <a:avLst/>
              <a:gdLst/>
              <a:ahLst/>
              <a:cxnLst/>
              <a:rect r="r" b="b" t="t" l="l"/>
              <a:pathLst>
                <a:path h="1057912" w="1350518">
                  <a:moveTo>
                    <a:pt x="16891" y="0"/>
                  </a:moveTo>
                  <a:lnTo>
                    <a:pt x="1333627" y="0"/>
                  </a:lnTo>
                  <a:cubicBezTo>
                    <a:pt x="1343025" y="0"/>
                    <a:pt x="1350518" y="7620"/>
                    <a:pt x="1350518" y="16891"/>
                  </a:cubicBezTo>
                  <a:lnTo>
                    <a:pt x="1350518" y="1041019"/>
                  </a:lnTo>
                  <a:cubicBezTo>
                    <a:pt x="1350518" y="1050417"/>
                    <a:pt x="1342898" y="1057910"/>
                    <a:pt x="1333627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333627" y="1024128"/>
                  </a:lnTo>
                  <a:lnTo>
                    <a:pt x="1333627" y="1041019"/>
                  </a:lnTo>
                  <a:lnTo>
                    <a:pt x="1316736" y="1041019"/>
                  </a:lnTo>
                  <a:lnTo>
                    <a:pt x="1316736" y="16891"/>
                  </a:lnTo>
                  <a:lnTo>
                    <a:pt x="1333627" y="16891"/>
                  </a:lnTo>
                  <a:lnTo>
                    <a:pt x="13336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3423392" y="2523744"/>
            <a:ext cx="987552" cy="768096"/>
            <a:chOff x="0" y="0"/>
            <a:chExt cx="1316736" cy="102412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1316736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w=3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4398247" y="2511047"/>
            <a:ext cx="1012955" cy="793499"/>
            <a:chOff x="0" y="0"/>
            <a:chExt cx="1350607" cy="105799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350518" cy="1057912"/>
            </a:xfrm>
            <a:custGeom>
              <a:avLst/>
              <a:gdLst/>
              <a:ahLst/>
              <a:cxnLst/>
              <a:rect r="r" b="b" t="t" l="l"/>
              <a:pathLst>
                <a:path h="1057912" w="1350518">
                  <a:moveTo>
                    <a:pt x="16891" y="0"/>
                  </a:moveTo>
                  <a:lnTo>
                    <a:pt x="1333627" y="0"/>
                  </a:lnTo>
                  <a:cubicBezTo>
                    <a:pt x="1343025" y="0"/>
                    <a:pt x="1350518" y="7620"/>
                    <a:pt x="1350518" y="16891"/>
                  </a:cubicBezTo>
                  <a:lnTo>
                    <a:pt x="1350518" y="1041019"/>
                  </a:lnTo>
                  <a:cubicBezTo>
                    <a:pt x="1350518" y="1050417"/>
                    <a:pt x="1342898" y="1057910"/>
                    <a:pt x="1333627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333627" y="1024128"/>
                  </a:lnTo>
                  <a:lnTo>
                    <a:pt x="1333627" y="1041019"/>
                  </a:lnTo>
                  <a:lnTo>
                    <a:pt x="1316736" y="1041019"/>
                  </a:lnTo>
                  <a:lnTo>
                    <a:pt x="1316736" y="16891"/>
                  </a:lnTo>
                  <a:lnTo>
                    <a:pt x="1333627" y="16891"/>
                  </a:lnTo>
                  <a:lnTo>
                    <a:pt x="13336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4410944" y="2523744"/>
            <a:ext cx="987552" cy="768096"/>
            <a:chOff x="0" y="0"/>
            <a:chExt cx="1316736" cy="102412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1316736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w=4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5385799" y="2511047"/>
            <a:ext cx="1012955" cy="793499"/>
            <a:chOff x="0" y="0"/>
            <a:chExt cx="1350607" cy="105799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350518" cy="1057912"/>
            </a:xfrm>
            <a:custGeom>
              <a:avLst/>
              <a:gdLst/>
              <a:ahLst/>
              <a:cxnLst/>
              <a:rect r="r" b="b" t="t" l="l"/>
              <a:pathLst>
                <a:path h="1057912" w="1350518">
                  <a:moveTo>
                    <a:pt x="16891" y="0"/>
                  </a:moveTo>
                  <a:lnTo>
                    <a:pt x="1333627" y="0"/>
                  </a:lnTo>
                  <a:cubicBezTo>
                    <a:pt x="1343025" y="0"/>
                    <a:pt x="1350518" y="7620"/>
                    <a:pt x="1350518" y="16891"/>
                  </a:cubicBezTo>
                  <a:lnTo>
                    <a:pt x="1350518" y="1041019"/>
                  </a:lnTo>
                  <a:cubicBezTo>
                    <a:pt x="1350518" y="1050417"/>
                    <a:pt x="1342898" y="1057910"/>
                    <a:pt x="1333627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333627" y="1024128"/>
                  </a:lnTo>
                  <a:lnTo>
                    <a:pt x="1333627" y="1041019"/>
                  </a:lnTo>
                  <a:lnTo>
                    <a:pt x="1316736" y="1041019"/>
                  </a:lnTo>
                  <a:lnTo>
                    <a:pt x="1316736" y="16891"/>
                  </a:lnTo>
                  <a:lnTo>
                    <a:pt x="1333627" y="16891"/>
                  </a:lnTo>
                  <a:lnTo>
                    <a:pt x="13336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5398496" y="2523744"/>
            <a:ext cx="987552" cy="768096"/>
            <a:chOff x="0" y="0"/>
            <a:chExt cx="1316736" cy="102412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1316736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w=5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466831" y="3285487"/>
            <a:ext cx="1000249" cy="780793"/>
            <a:chOff x="0" y="0"/>
            <a:chExt cx="1333665" cy="104105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DF4FA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473184" y="3291840"/>
            <a:ext cx="987552" cy="768096"/>
            <a:chOff x="0" y="0"/>
            <a:chExt cx="1316736" cy="102412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D1F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(base)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454383" y="3285487"/>
            <a:ext cx="1000249" cy="780793"/>
            <a:chOff x="0" y="0"/>
            <a:chExt cx="1333665" cy="1041057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AFEFF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460736" y="3291840"/>
            <a:ext cx="987552" cy="768096"/>
            <a:chOff x="0" y="0"/>
            <a:chExt cx="1316736" cy="102412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1441935" y="3285487"/>
            <a:ext cx="1000249" cy="780793"/>
            <a:chOff x="0" y="0"/>
            <a:chExt cx="1333665" cy="104105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AFEFF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1448288" y="3291840"/>
            <a:ext cx="987552" cy="768096"/>
            <a:chOff x="0" y="0"/>
            <a:chExt cx="1316736" cy="102412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429487" y="3285487"/>
            <a:ext cx="1000249" cy="780793"/>
            <a:chOff x="0" y="0"/>
            <a:chExt cx="1333665" cy="1041057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AFEFF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2435840" y="3291840"/>
            <a:ext cx="987552" cy="768096"/>
            <a:chOff x="0" y="0"/>
            <a:chExt cx="1316736" cy="102412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417039" y="3285487"/>
            <a:ext cx="1000249" cy="780793"/>
            <a:chOff x="0" y="0"/>
            <a:chExt cx="1333665" cy="1041057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AFEFF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3423392" y="3291840"/>
            <a:ext cx="987552" cy="768096"/>
            <a:chOff x="0" y="0"/>
            <a:chExt cx="1316736" cy="102412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4404591" y="3285487"/>
            <a:ext cx="1000249" cy="780793"/>
            <a:chOff x="0" y="0"/>
            <a:chExt cx="1333665" cy="1041057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AFEFF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4410944" y="3291840"/>
            <a:ext cx="987552" cy="768096"/>
            <a:chOff x="0" y="0"/>
            <a:chExt cx="1316736" cy="102412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5392143" y="3285487"/>
            <a:ext cx="1000249" cy="780793"/>
            <a:chOff x="0" y="0"/>
            <a:chExt cx="1333665" cy="1041057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AFEFF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5398496" y="3291840"/>
            <a:ext cx="987552" cy="768096"/>
            <a:chOff x="0" y="0"/>
            <a:chExt cx="1316736" cy="102412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9466831" y="4053583"/>
            <a:ext cx="1000249" cy="780793"/>
            <a:chOff x="0" y="0"/>
            <a:chExt cx="1333665" cy="1041057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DF4FA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473184" y="4059936"/>
            <a:ext cx="987552" cy="768096"/>
            <a:chOff x="0" y="0"/>
            <a:chExt cx="1316736" cy="1024128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D1F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2kg $6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0454383" y="4053583"/>
            <a:ext cx="1000249" cy="780793"/>
            <a:chOff x="0" y="0"/>
            <a:chExt cx="1333665" cy="1041057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AFEFF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0460736" y="4059936"/>
            <a:ext cx="987552" cy="768096"/>
            <a:chOff x="0" y="0"/>
            <a:chExt cx="1316736" cy="1024128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1441935" y="4053583"/>
            <a:ext cx="1000249" cy="780793"/>
            <a:chOff x="0" y="0"/>
            <a:chExt cx="1333665" cy="1041057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AFEFF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1448288" y="4059936"/>
            <a:ext cx="987552" cy="768096"/>
            <a:chOff x="0" y="0"/>
            <a:chExt cx="1316736" cy="102412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2429487" y="4053583"/>
            <a:ext cx="1000249" cy="780793"/>
            <a:chOff x="0" y="0"/>
            <a:chExt cx="1333665" cy="1041057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AFEFF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2435840" y="4059936"/>
            <a:ext cx="987552" cy="768096"/>
            <a:chOff x="0" y="0"/>
            <a:chExt cx="1316736" cy="102412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3417039" y="4053583"/>
            <a:ext cx="1000249" cy="780793"/>
            <a:chOff x="0" y="0"/>
            <a:chExt cx="1333665" cy="1041057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AFEFF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423392" y="4059936"/>
            <a:ext cx="987552" cy="768096"/>
            <a:chOff x="0" y="0"/>
            <a:chExt cx="1316736" cy="1024128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4404591" y="4053583"/>
            <a:ext cx="1000249" cy="780793"/>
            <a:chOff x="0" y="0"/>
            <a:chExt cx="1333665" cy="1041057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AFEFF"/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4410944" y="4059936"/>
            <a:ext cx="987552" cy="768096"/>
            <a:chOff x="0" y="0"/>
            <a:chExt cx="1316736" cy="1024128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5392143" y="4053583"/>
            <a:ext cx="1000249" cy="780793"/>
            <a:chOff x="0" y="0"/>
            <a:chExt cx="1333665" cy="1041057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AFEFF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5398496" y="4059936"/>
            <a:ext cx="987552" cy="768096"/>
            <a:chOff x="0" y="0"/>
            <a:chExt cx="1316736" cy="1024128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9466831" y="4821679"/>
            <a:ext cx="1000249" cy="780793"/>
            <a:chOff x="0" y="0"/>
            <a:chExt cx="1333665" cy="1041057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DF4FA"/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9473184" y="4828032"/>
            <a:ext cx="987552" cy="768096"/>
            <a:chOff x="0" y="0"/>
            <a:chExt cx="1316736" cy="102412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D1F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 2kg$10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0454383" y="4821679"/>
            <a:ext cx="1000249" cy="780793"/>
            <a:chOff x="0" y="0"/>
            <a:chExt cx="1333665" cy="1041057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AFEFF"/>
            </a:solidFill>
          </p:spPr>
        </p:sp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10460736" y="4828032"/>
            <a:ext cx="987552" cy="768096"/>
            <a:chOff x="0" y="0"/>
            <a:chExt cx="1316736" cy="1024128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11441935" y="4821679"/>
            <a:ext cx="1000249" cy="780793"/>
            <a:chOff x="0" y="0"/>
            <a:chExt cx="1333665" cy="1041057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AFEFF"/>
            </a:solidFill>
          </p:spPr>
        </p:sp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11448288" y="4828032"/>
            <a:ext cx="987552" cy="768096"/>
            <a:chOff x="0" y="0"/>
            <a:chExt cx="1316736" cy="102412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2429487" y="4821679"/>
            <a:ext cx="1000249" cy="780793"/>
            <a:chOff x="0" y="0"/>
            <a:chExt cx="1333665" cy="1041057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AFEFF"/>
            </a:solidFill>
          </p:spPr>
        </p:sp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200" id="200"/>
          <p:cNvGrpSpPr/>
          <p:nvPr/>
        </p:nvGrpSpPr>
        <p:grpSpPr>
          <a:xfrm rot="0">
            <a:off x="12435840" y="4828032"/>
            <a:ext cx="987552" cy="768096"/>
            <a:chOff x="0" y="0"/>
            <a:chExt cx="1316736" cy="1024128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13417039" y="4821679"/>
            <a:ext cx="1000249" cy="780793"/>
            <a:chOff x="0" y="0"/>
            <a:chExt cx="1333665" cy="1041057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AFEFF"/>
            </a:solidFill>
          </p:spPr>
        </p:sp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13423392" y="4828032"/>
            <a:ext cx="987552" cy="768096"/>
            <a:chOff x="0" y="0"/>
            <a:chExt cx="1316736" cy="102412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14404591" y="4821679"/>
            <a:ext cx="1000249" cy="780793"/>
            <a:chOff x="0" y="0"/>
            <a:chExt cx="1333665" cy="1041057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AFEFF"/>
            </a:solidFill>
          </p:spPr>
        </p:sp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212" id="212"/>
          <p:cNvGrpSpPr/>
          <p:nvPr/>
        </p:nvGrpSpPr>
        <p:grpSpPr>
          <a:xfrm rot="0">
            <a:off x="14410944" y="4828032"/>
            <a:ext cx="987552" cy="768096"/>
            <a:chOff x="0" y="0"/>
            <a:chExt cx="1316736" cy="1024128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15392143" y="4821679"/>
            <a:ext cx="1000249" cy="780793"/>
            <a:chOff x="0" y="0"/>
            <a:chExt cx="1333665" cy="1041057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AFEFF"/>
            </a:solidFill>
          </p:spPr>
        </p:sp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15398496" y="4828032"/>
            <a:ext cx="987552" cy="768096"/>
            <a:chOff x="0" y="0"/>
            <a:chExt cx="1316736" cy="1024128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9466831" y="5589775"/>
            <a:ext cx="1000249" cy="780793"/>
            <a:chOff x="0" y="0"/>
            <a:chExt cx="1333665" cy="1041057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DF4FA"/>
            </a:solidFill>
          </p:spPr>
        </p:sp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224" id="224"/>
          <p:cNvGrpSpPr/>
          <p:nvPr/>
        </p:nvGrpSpPr>
        <p:grpSpPr>
          <a:xfrm rot="0">
            <a:off x="9473184" y="5596128"/>
            <a:ext cx="987552" cy="768096"/>
            <a:chOff x="0" y="0"/>
            <a:chExt cx="1316736" cy="1024128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226" id="226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D1F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 3kg$12</a:t>
              </a:r>
            </a:p>
          </p:txBody>
        </p:sp>
      </p:grpSp>
      <p:grpSp>
        <p:nvGrpSpPr>
          <p:cNvPr name="Group 227" id="227"/>
          <p:cNvGrpSpPr/>
          <p:nvPr/>
        </p:nvGrpSpPr>
        <p:grpSpPr>
          <a:xfrm rot="0">
            <a:off x="10454383" y="5589775"/>
            <a:ext cx="1000249" cy="780793"/>
            <a:chOff x="0" y="0"/>
            <a:chExt cx="1333665" cy="1041057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8F8F4"/>
            </a:solidFill>
          </p:spPr>
        </p:sp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230" id="230"/>
          <p:cNvGrpSpPr/>
          <p:nvPr/>
        </p:nvGrpSpPr>
        <p:grpSpPr>
          <a:xfrm rot="0">
            <a:off x="10460736" y="5596128"/>
            <a:ext cx="987552" cy="768096"/>
            <a:chOff x="0" y="0"/>
            <a:chExt cx="1316736" cy="1024128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232" id="232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</a:t>
              </a:r>
            </a:p>
          </p:txBody>
        </p:sp>
      </p:grpSp>
      <p:grpSp>
        <p:nvGrpSpPr>
          <p:cNvPr name="Group 233" id="233"/>
          <p:cNvGrpSpPr/>
          <p:nvPr/>
        </p:nvGrpSpPr>
        <p:grpSpPr>
          <a:xfrm rot="0">
            <a:off x="11441935" y="5589775"/>
            <a:ext cx="1000249" cy="780793"/>
            <a:chOff x="0" y="0"/>
            <a:chExt cx="1333665" cy="1041057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8F8F4"/>
            </a:solidFill>
          </p:spPr>
        </p:sp>
        <p:sp>
          <p:nvSpPr>
            <p:cNvPr name="Freeform 235" id="235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1448288" y="5596128"/>
            <a:ext cx="987552" cy="768096"/>
            <a:chOff x="0" y="0"/>
            <a:chExt cx="1316736" cy="1024128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12429487" y="5589775"/>
            <a:ext cx="1000249" cy="780793"/>
            <a:chOff x="0" y="0"/>
            <a:chExt cx="1333665" cy="1041057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8F8F4"/>
            </a:solidFill>
          </p:spPr>
        </p:sp>
        <p:sp>
          <p:nvSpPr>
            <p:cNvPr name="Freeform 241" id="241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242" id="242"/>
          <p:cNvGrpSpPr/>
          <p:nvPr/>
        </p:nvGrpSpPr>
        <p:grpSpPr>
          <a:xfrm rot="0">
            <a:off x="12435840" y="5596128"/>
            <a:ext cx="987552" cy="768096"/>
            <a:chOff x="0" y="0"/>
            <a:chExt cx="1316736" cy="1024128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13417039" y="5589775"/>
            <a:ext cx="1000249" cy="780793"/>
            <a:chOff x="0" y="0"/>
            <a:chExt cx="1333665" cy="1041057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8F8F4"/>
            </a:solidFill>
          </p:spPr>
        </p:sp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248" id="248"/>
          <p:cNvGrpSpPr/>
          <p:nvPr/>
        </p:nvGrpSpPr>
        <p:grpSpPr>
          <a:xfrm rot="0">
            <a:off x="13423392" y="5596128"/>
            <a:ext cx="987552" cy="768096"/>
            <a:chOff x="0" y="0"/>
            <a:chExt cx="1316736" cy="1024128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250" id="250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251" id="251"/>
          <p:cNvGrpSpPr/>
          <p:nvPr/>
        </p:nvGrpSpPr>
        <p:grpSpPr>
          <a:xfrm rot="0">
            <a:off x="14404591" y="5589775"/>
            <a:ext cx="1000249" cy="780793"/>
            <a:chOff x="0" y="0"/>
            <a:chExt cx="1333665" cy="1041057"/>
          </a:xfrm>
        </p:grpSpPr>
        <p:sp>
          <p:nvSpPr>
            <p:cNvPr name="Freeform 252" id="252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8F8F4"/>
            </a:solidFill>
          </p:spPr>
        </p:sp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254" id="254"/>
          <p:cNvGrpSpPr/>
          <p:nvPr/>
        </p:nvGrpSpPr>
        <p:grpSpPr>
          <a:xfrm rot="0">
            <a:off x="14410944" y="5596128"/>
            <a:ext cx="987552" cy="768096"/>
            <a:chOff x="0" y="0"/>
            <a:chExt cx="1316736" cy="1024128"/>
          </a:xfrm>
        </p:grpSpPr>
        <p:sp>
          <p:nvSpPr>
            <p:cNvPr name="Freeform 255" id="255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256" id="256"/>
            <p:cNvSpPr txBox="true"/>
            <p:nvPr/>
          </p:nvSpPr>
          <p:spPr>
            <a:xfrm>
              <a:off x="0" y="-38100"/>
              <a:ext cx="1316736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  <p:grpSp>
        <p:nvGrpSpPr>
          <p:cNvPr name="Group 257" id="257"/>
          <p:cNvGrpSpPr/>
          <p:nvPr/>
        </p:nvGrpSpPr>
        <p:grpSpPr>
          <a:xfrm rot="0">
            <a:off x="15392143" y="5589775"/>
            <a:ext cx="1000249" cy="780793"/>
            <a:chOff x="0" y="0"/>
            <a:chExt cx="1333665" cy="1041057"/>
          </a:xfrm>
        </p:grpSpPr>
        <p:sp>
          <p:nvSpPr>
            <p:cNvPr name="Freeform 258" id="258"/>
            <p:cNvSpPr/>
            <p:nvPr/>
          </p:nvSpPr>
          <p:spPr>
            <a:xfrm flipH="false" flipV="false" rot="0">
              <a:off x="8509" y="8509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2EC4A5"/>
            </a:solidFill>
          </p:spPr>
        </p:sp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1333754" cy="1041146"/>
            </a:xfrm>
            <a:custGeom>
              <a:avLst/>
              <a:gdLst/>
              <a:ahLst/>
              <a:cxnLst/>
              <a:rect r="r" b="b" t="t" l="l"/>
              <a:pathLst>
                <a:path h="1041146" w="1333754">
                  <a:moveTo>
                    <a:pt x="8509" y="0"/>
                  </a:moveTo>
                  <a:lnTo>
                    <a:pt x="1325245" y="0"/>
                  </a:lnTo>
                  <a:cubicBezTo>
                    <a:pt x="1329944" y="0"/>
                    <a:pt x="1333754" y="3810"/>
                    <a:pt x="1333754" y="8509"/>
                  </a:cubicBezTo>
                  <a:lnTo>
                    <a:pt x="1333754" y="1032637"/>
                  </a:lnTo>
                  <a:cubicBezTo>
                    <a:pt x="1333754" y="1037336"/>
                    <a:pt x="1329944" y="1041146"/>
                    <a:pt x="1325245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1325245" y="1024128"/>
                  </a:lnTo>
                  <a:lnTo>
                    <a:pt x="1325245" y="1032637"/>
                  </a:lnTo>
                  <a:lnTo>
                    <a:pt x="1316736" y="1032637"/>
                  </a:lnTo>
                  <a:lnTo>
                    <a:pt x="1316736" y="8509"/>
                  </a:lnTo>
                  <a:lnTo>
                    <a:pt x="1325245" y="8509"/>
                  </a:lnTo>
                  <a:lnTo>
                    <a:pt x="13252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15398496" y="5596128"/>
            <a:ext cx="987552" cy="768096"/>
            <a:chOff x="0" y="0"/>
            <a:chExt cx="1316736" cy="1024128"/>
          </a:xfrm>
        </p:grpSpPr>
        <p:sp>
          <p:nvSpPr>
            <p:cNvPr name="Freeform 261" id="261"/>
            <p:cNvSpPr/>
            <p:nvPr/>
          </p:nvSpPr>
          <p:spPr>
            <a:xfrm flipH="false" flipV="false" rot="0">
              <a:off x="0" y="0"/>
              <a:ext cx="1316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262" id="262"/>
            <p:cNvSpPr txBox="true"/>
            <p:nvPr/>
          </p:nvSpPr>
          <p:spPr>
            <a:xfrm>
              <a:off x="0" y="-47625"/>
              <a:ext cx="1316736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22</a:t>
              </a:r>
            </a:p>
          </p:txBody>
        </p:sp>
      </p:grpSp>
      <p:grpSp>
        <p:nvGrpSpPr>
          <p:cNvPr name="Group 263" id="263"/>
          <p:cNvGrpSpPr/>
          <p:nvPr/>
        </p:nvGrpSpPr>
        <p:grpSpPr>
          <a:xfrm rot="0">
            <a:off x="13807440" y="6510528"/>
            <a:ext cx="3383280" cy="548640"/>
            <a:chOff x="0" y="0"/>
            <a:chExt cx="4511040" cy="731520"/>
          </a:xfrm>
        </p:grpSpPr>
        <p:sp>
          <p:nvSpPr>
            <p:cNvPr name="Freeform 264" id="264"/>
            <p:cNvSpPr/>
            <p:nvPr/>
          </p:nvSpPr>
          <p:spPr>
            <a:xfrm flipH="false" flipV="false" rot="0">
              <a:off x="0" y="0"/>
              <a:ext cx="4511040" cy="731520"/>
            </a:xfrm>
            <a:custGeom>
              <a:avLst/>
              <a:gdLst/>
              <a:ahLst/>
              <a:cxnLst/>
              <a:rect r="r" b="b" t="t" l="l"/>
              <a:pathLst>
                <a:path h="73152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157" r="0" b="-70157"/>
              </a:stretch>
            </a:blipFill>
          </p:spPr>
        </p:sp>
        <p:sp>
          <p:nvSpPr>
            <p:cNvPr name="TextBox 265" id="265"/>
            <p:cNvSpPr txBox="true"/>
            <p:nvPr/>
          </p:nvSpPr>
          <p:spPr>
            <a:xfrm>
              <a:off x="0" y="-38100"/>
              <a:ext cx="4511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2EC4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↑ dp[3][5] = 22  (optimal)</a:t>
              </a:r>
            </a:p>
          </p:txBody>
        </p:sp>
      </p:grpSp>
      <p:grpSp>
        <p:nvGrpSpPr>
          <p:cNvPr name="Group 266" id="266"/>
          <p:cNvGrpSpPr/>
          <p:nvPr/>
        </p:nvGrpSpPr>
        <p:grpSpPr>
          <a:xfrm rot="0">
            <a:off x="9457944" y="7848600"/>
            <a:ext cx="7748016" cy="1219200"/>
            <a:chOff x="0" y="0"/>
            <a:chExt cx="10330688" cy="1625600"/>
          </a:xfrm>
        </p:grpSpPr>
        <p:sp>
          <p:nvSpPr>
            <p:cNvPr name="Freeform 267" id="267"/>
            <p:cNvSpPr/>
            <p:nvPr/>
          </p:nvSpPr>
          <p:spPr>
            <a:xfrm flipH="false" flipV="false" rot="0">
              <a:off x="20320" y="20320"/>
              <a:ext cx="10290048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E8F8F4"/>
            </a:solidFill>
          </p:spPr>
        </p:sp>
        <p:sp>
          <p:nvSpPr>
            <p:cNvPr name="Freeform 268" id="268"/>
            <p:cNvSpPr/>
            <p:nvPr/>
          </p:nvSpPr>
          <p:spPr>
            <a:xfrm flipH="false" flipV="false" rot="0">
              <a:off x="0" y="0"/>
              <a:ext cx="10330688" cy="1625600"/>
            </a:xfrm>
            <a:custGeom>
              <a:avLst/>
              <a:gdLst/>
              <a:ahLst/>
              <a:cxnLst/>
              <a:rect r="r" b="b" t="t" l="l"/>
              <a:pathLst>
                <a:path h="1625600" w="10330688">
                  <a:moveTo>
                    <a:pt x="20320" y="0"/>
                  </a:moveTo>
                  <a:lnTo>
                    <a:pt x="10310368" y="0"/>
                  </a:lnTo>
                  <a:cubicBezTo>
                    <a:pt x="10321544" y="0"/>
                    <a:pt x="10330688" y="9144"/>
                    <a:pt x="10330688" y="20320"/>
                  </a:cubicBezTo>
                  <a:lnTo>
                    <a:pt x="10330688" y="1605280"/>
                  </a:lnTo>
                  <a:cubicBezTo>
                    <a:pt x="10330688" y="1616456"/>
                    <a:pt x="10321544" y="1625600"/>
                    <a:pt x="10310368" y="1625600"/>
                  </a:cubicBezTo>
                  <a:lnTo>
                    <a:pt x="20320" y="1625600"/>
                  </a:lnTo>
                  <a:cubicBezTo>
                    <a:pt x="9144" y="1625600"/>
                    <a:pt x="0" y="1616456"/>
                    <a:pt x="0" y="160528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1605280"/>
                  </a:lnTo>
                  <a:lnTo>
                    <a:pt x="20320" y="1605280"/>
                  </a:lnTo>
                  <a:lnTo>
                    <a:pt x="20320" y="1584960"/>
                  </a:lnTo>
                  <a:lnTo>
                    <a:pt x="10310368" y="1584960"/>
                  </a:lnTo>
                  <a:lnTo>
                    <a:pt x="10310368" y="1605280"/>
                  </a:lnTo>
                  <a:lnTo>
                    <a:pt x="10290049" y="1605280"/>
                  </a:lnTo>
                  <a:lnTo>
                    <a:pt x="10290049" y="20320"/>
                  </a:lnTo>
                  <a:lnTo>
                    <a:pt x="10310368" y="20320"/>
                  </a:lnTo>
                  <a:lnTo>
                    <a:pt x="10310368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2EC4A5"/>
            </a:solidFill>
          </p:spPr>
        </p:sp>
      </p:grpSp>
      <p:grpSp>
        <p:nvGrpSpPr>
          <p:cNvPr name="Group 269" id="269"/>
          <p:cNvGrpSpPr/>
          <p:nvPr/>
        </p:nvGrpSpPr>
        <p:grpSpPr>
          <a:xfrm rot="0">
            <a:off x="9601200" y="7918704"/>
            <a:ext cx="7498080" cy="1005840"/>
            <a:chOff x="0" y="0"/>
            <a:chExt cx="9997440" cy="1341120"/>
          </a:xfrm>
        </p:grpSpPr>
        <p:sp>
          <p:nvSpPr>
            <p:cNvPr name="Freeform 270" id="270"/>
            <p:cNvSpPr/>
            <p:nvPr/>
          </p:nvSpPr>
          <p:spPr>
            <a:xfrm flipH="false" flipV="false" rot="0">
              <a:off x="0" y="0"/>
              <a:ext cx="9997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52" r="0" b="-95252"/>
              </a:stretch>
            </a:blipFill>
          </p:spPr>
        </p:sp>
        <p:sp>
          <p:nvSpPr>
            <p:cNvPr name="TextBox 271" id="271"/>
            <p:cNvSpPr txBox="true"/>
            <p:nvPr/>
          </p:nvSpPr>
          <p:spPr>
            <a:xfrm>
              <a:off x="0" y="-47625"/>
              <a:ext cx="99974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6B5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Result:  Selected B + C  →  Weight 5 kg  |  Profit $22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12064"/>
            <a:ext cx="16642080" cy="1060704"/>
            <a:chOff x="0" y="0"/>
            <a:chExt cx="22189440" cy="14142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89439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713" r="0" b="-2557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22189440" cy="15190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Dijkstra — Shortest Delivery Routes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828800"/>
            <a:ext cx="7863840" cy="640080"/>
            <a:chOff x="0" y="0"/>
            <a:chExt cx="1048512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4851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it works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0263" y="2639063"/>
            <a:ext cx="135131" cy="1031243"/>
            <a:chOff x="0" y="0"/>
            <a:chExt cx="180175" cy="1374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46304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7EA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086" cy="1374902"/>
            </a:xfrm>
            <a:custGeom>
              <a:avLst/>
              <a:gdLst/>
              <a:ahLst/>
              <a:cxnLst/>
              <a:rect r="r" b="b" t="t" l="l"/>
              <a:pathLst>
                <a:path h="13749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88720" y="2633472"/>
            <a:ext cx="7406640" cy="548640"/>
            <a:chOff x="0" y="0"/>
            <a:chExt cx="987552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75520" cy="731520"/>
            </a:xfrm>
            <a:custGeom>
              <a:avLst/>
              <a:gdLst/>
              <a:ahLst/>
              <a:cxnLst/>
              <a:rect r="r" b="b" t="t" l="l"/>
              <a:pathLst>
                <a:path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875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 dist[depot] = 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8720" y="3145536"/>
            <a:ext cx="7406640" cy="512064"/>
            <a:chOff x="0" y="0"/>
            <a:chExt cx="987552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75520" cy="682752"/>
            </a:xfrm>
            <a:custGeom>
              <a:avLst/>
              <a:gdLst/>
              <a:ahLst/>
              <a:cxnLst/>
              <a:rect r="r" b="b" t="t" l="l"/>
              <a:pathLst>
                <a:path h="682752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837" r="0" b="-23183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875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other cities → ∞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0263" y="4138679"/>
            <a:ext cx="135131" cy="1031243"/>
            <a:chOff x="0" y="0"/>
            <a:chExt cx="180175" cy="13749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46304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7EA4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0086" cy="1374902"/>
            </a:xfrm>
            <a:custGeom>
              <a:avLst/>
              <a:gdLst/>
              <a:ahLst/>
              <a:cxnLst/>
              <a:rect r="r" b="b" t="t" l="l"/>
              <a:pathLst>
                <a:path h="13749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88720" y="4133088"/>
            <a:ext cx="7406640" cy="548640"/>
            <a:chOff x="0" y="0"/>
            <a:chExt cx="987552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75520" cy="731520"/>
            </a:xfrm>
            <a:custGeom>
              <a:avLst/>
              <a:gdLst/>
              <a:ahLst/>
              <a:cxnLst/>
              <a:rect r="r" b="b" t="t" l="l"/>
              <a:pathLst>
                <a:path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875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Min-heap always picks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88720" y="4645152"/>
            <a:ext cx="7406640" cy="512064"/>
            <a:chOff x="0" y="0"/>
            <a:chExt cx="987552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875520" cy="682752"/>
            </a:xfrm>
            <a:custGeom>
              <a:avLst/>
              <a:gdLst/>
              <a:ahLst/>
              <a:cxnLst/>
              <a:rect r="r" b="b" t="t" l="l"/>
              <a:pathLst>
                <a:path h="682752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837" r="0" b="-23183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875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closest unvisited city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10263" y="5638295"/>
            <a:ext cx="135131" cy="1031243"/>
            <a:chOff x="0" y="0"/>
            <a:chExt cx="180175" cy="13749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46304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7EA4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0086" cy="1374902"/>
            </a:xfrm>
            <a:custGeom>
              <a:avLst/>
              <a:gdLst/>
              <a:ahLst/>
              <a:cxnLst/>
              <a:rect r="r" b="b" t="t" l="l"/>
              <a:pathLst>
                <a:path h="13749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88720" y="5632704"/>
            <a:ext cx="7406640" cy="548640"/>
            <a:chOff x="0" y="0"/>
            <a:chExt cx="98755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875520" cy="731520"/>
            </a:xfrm>
            <a:custGeom>
              <a:avLst/>
              <a:gdLst/>
              <a:ahLst/>
              <a:cxnLst/>
              <a:rect r="r" b="b" t="t" l="l"/>
              <a:pathLst>
                <a:path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875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Relax neighbours: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88720" y="6144768"/>
            <a:ext cx="7406640" cy="512064"/>
            <a:chOff x="0" y="0"/>
            <a:chExt cx="987552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875520" cy="682752"/>
            </a:xfrm>
            <a:custGeom>
              <a:avLst/>
              <a:gdLst/>
              <a:ahLst/>
              <a:cxnLst/>
              <a:rect r="r" b="b" t="t" l="l"/>
              <a:pathLst>
                <a:path h="682752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837" r="0" b="-23183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875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if shorter path found, update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10263" y="7137911"/>
            <a:ext cx="135131" cy="1031243"/>
            <a:chOff x="0" y="0"/>
            <a:chExt cx="180175" cy="13749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46304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7EA4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0086" cy="1374902"/>
            </a:xfrm>
            <a:custGeom>
              <a:avLst/>
              <a:gdLst/>
              <a:ahLst/>
              <a:cxnLst/>
              <a:rect r="r" b="b" t="t" l="l"/>
              <a:pathLst>
                <a:path h="13749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88720" y="7132320"/>
            <a:ext cx="7406640" cy="548640"/>
            <a:chOff x="0" y="0"/>
            <a:chExt cx="987552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875520" cy="731520"/>
            </a:xfrm>
            <a:custGeom>
              <a:avLst/>
              <a:gdLst/>
              <a:ahLst/>
              <a:cxnLst/>
              <a:rect r="r" b="b" t="t" l="l"/>
              <a:pathLst>
                <a:path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875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Stale-entry guard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88720" y="7644384"/>
            <a:ext cx="7406640" cy="512064"/>
            <a:chOff x="0" y="0"/>
            <a:chExt cx="987552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875520" cy="682752"/>
            </a:xfrm>
            <a:custGeom>
              <a:avLst/>
              <a:gdLst/>
              <a:ahLst/>
              <a:cxnLst/>
              <a:rect r="r" b="b" t="t" l="l"/>
              <a:pathLst>
                <a:path h="682752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837" r="0" b="-23183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875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skips outdated heap entries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10263" y="8674103"/>
            <a:ext cx="7614923" cy="939803"/>
            <a:chOff x="0" y="0"/>
            <a:chExt cx="10153231" cy="12530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0119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153142" cy="1252984"/>
            </a:xfrm>
            <a:custGeom>
              <a:avLst/>
              <a:gdLst/>
              <a:ahLst/>
              <a:cxnLst/>
              <a:rect r="r" b="b" t="t" l="l"/>
              <a:pathLst>
                <a:path h="1252984" w="10153142">
                  <a:moveTo>
                    <a:pt x="16891" y="0"/>
                  </a:moveTo>
                  <a:lnTo>
                    <a:pt x="10136251" y="0"/>
                  </a:lnTo>
                  <a:cubicBezTo>
                    <a:pt x="10145649" y="0"/>
                    <a:pt x="10153142" y="7620"/>
                    <a:pt x="10153142" y="16891"/>
                  </a:cubicBezTo>
                  <a:lnTo>
                    <a:pt x="10153142" y="1236091"/>
                  </a:lnTo>
                  <a:cubicBezTo>
                    <a:pt x="10153142" y="1245489"/>
                    <a:pt x="10145522" y="1252982"/>
                    <a:pt x="1013625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10136251" y="1219200"/>
                  </a:lnTo>
                  <a:lnTo>
                    <a:pt x="10136251" y="1236091"/>
                  </a:lnTo>
                  <a:lnTo>
                    <a:pt x="10119360" y="1236091"/>
                  </a:lnTo>
                  <a:lnTo>
                    <a:pt x="10119360" y="16891"/>
                  </a:lnTo>
                  <a:lnTo>
                    <a:pt x="10136251" y="16891"/>
                  </a:lnTo>
                  <a:lnTo>
                    <a:pt x="10136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50976" y="8741664"/>
            <a:ext cx="7351776" cy="768096"/>
            <a:chOff x="0" y="0"/>
            <a:chExt cx="9802368" cy="102412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802368" cy="1024128"/>
            </a:xfrm>
            <a:custGeom>
              <a:avLst/>
              <a:gdLst/>
              <a:ahLst/>
              <a:cxnLst/>
              <a:rect r="r" b="b" t="t" l="l"/>
              <a:pathLst>
                <a:path h="1024128" w="9802368">
                  <a:moveTo>
                    <a:pt x="0" y="0"/>
                  </a:moveTo>
                  <a:lnTo>
                    <a:pt x="9802368" y="0"/>
                  </a:lnTo>
                  <a:lnTo>
                    <a:pt x="980236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499" r="0" b="-13649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80236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Complexity:  O((V + E) log V)  with binary min-heap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314183" y="1596647"/>
            <a:ext cx="8163563" cy="8108699"/>
            <a:chOff x="0" y="0"/>
            <a:chExt cx="10884751" cy="1081159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0850881" cy="10777728"/>
            </a:xfrm>
            <a:custGeom>
              <a:avLst/>
              <a:gdLst/>
              <a:ahLst/>
              <a:cxnLst/>
              <a:rect r="r" b="b" t="t" l="l"/>
              <a:pathLst>
                <a:path h="10777728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10777728"/>
                  </a:lnTo>
                  <a:lnTo>
                    <a:pt x="0" y="10777728"/>
                  </a:ln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884662" cy="10811510"/>
            </a:xfrm>
            <a:custGeom>
              <a:avLst/>
              <a:gdLst/>
              <a:ahLst/>
              <a:cxnLst/>
              <a:rect r="r" b="b" t="t" l="l"/>
              <a:pathLst>
                <a:path h="10811510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10794619"/>
                  </a:lnTo>
                  <a:cubicBezTo>
                    <a:pt x="10884662" y="10804017"/>
                    <a:pt x="10877042" y="10811510"/>
                    <a:pt x="10867772" y="10811510"/>
                  </a:cubicBezTo>
                  <a:lnTo>
                    <a:pt x="16891" y="10811510"/>
                  </a:lnTo>
                  <a:cubicBezTo>
                    <a:pt x="7493" y="10811510"/>
                    <a:pt x="0" y="10803889"/>
                    <a:pt x="0" y="107946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794619"/>
                  </a:lnTo>
                  <a:lnTo>
                    <a:pt x="16891" y="10794619"/>
                  </a:lnTo>
                  <a:lnTo>
                    <a:pt x="16891" y="10777727"/>
                  </a:lnTo>
                  <a:lnTo>
                    <a:pt x="10867772" y="10777727"/>
                  </a:lnTo>
                  <a:lnTo>
                    <a:pt x="10867772" y="10794619"/>
                  </a:lnTo>
                  <a:lnTo>
                    <a:pt x="10850880" y="10794619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601200" y="1792224"/>
            <a:ext cx="7589520" cy="548640"/>
            <a:chOff x="0" y="0"/>
            <a:chExt cx="1011936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11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543" r="0" b="-21954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119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Example Network  (source = Depot)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374374" y="3419094"/>
            <a:ext cx="2781300" cy="38100"/>
            <a:chOff x="0" y="0"/>
            <a:chExt cx="3708400" cy="50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25400" y="0"/>
              <a:ext cx="3657600" cy="50800"/>
            </a:xfrm>
            <a:custGeom>
              <a:avLst/>
              <a:gdLst/>
              <a:ahLst/>
              <a:cxnLst/>
              <a:rect r="r" b="b" t="t" l="l"/>
              <a:pathLst>
                <a:path h="508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D607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344400" y="3200400"/>
            <a:ext cx="548640" cy="402336"/>
            <a:chOff x="0" y="0"/>
            <a:chExt cx="731520" cy="53644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31520" cy="536448"/>
            </a:xfrm>
            <a:custGeom>
              <a:avLst/>
              <a:gdLst/>
              <a:ahLst/>
              <a:cxnLst/>
              <a:rect r="r" b="b" t="t" l="l"/>
              <a:pathLst>
                <a:path h="53644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089" t="0" r="-44089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73152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361677" y="3406397"/>
            <a:ext cx="63503" cy="2440943"/>
            <a:chOff x="0" y="0"/>
            <a:chExt cx="84671" cy="325459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42291"/>
              <a:ext cx="84709" cy="3169920"/>
            </a:xfrm>
            <a:custGeom>
              <a:avLst/>
              <a:gdLst/>
              <a:ahLst/>
              <a:cxnLst/>
              <a:rect r="r" b="b" t="t" l="l"/>
              <a:pathLst>
                <a:path h="3169920" w="84709">
                  <a:moveTo>
                    <a:pt x="84709" y="0"/>
                  </a:moveTo>
                  <a:lnTo>
                    <a:pt x="84709" y="3169920"/>
                  </a:lnTo>
                  <a:lnTo>
                    <a:pt x="0" y="31699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C4A5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972800" y="4389120"/>
            <a:ext cx="548640" cy="402336"/>
            <a:chOff x="0" y="0"/>
            <a:chExt cx="731520" cy="53644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31520" cy="536448"/>
            </a:xfrm>
            <a:custGeom>
              <a:avLst/>
              <a:gdLst/>
              <a:ahLst/>
              <a:cxnLst/>
              <a:rect r="r" b="b" t="t" l="l"/>
              <a:pathLst>
                <a:path h="53644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089" t="0" r="-44089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73152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2EC4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344400" y="4389120"/>
            <a:ext cx="548640" cy="402336"/>
            <a:chOff x="0" y="0"/>
            <a:chExt cx="731520" cy="53644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31520" cy="536448"/>
            </a:xfrm>
            <a:custGeom>
              <a:avLst/>
              <a:gdLst/>
              <a:ahLst/>
              <a:cxnLst/>
              <a:rect r="r" b="b" t="t" l="l"/>
              <a:pathLst>
                <a:path h="53644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089" t="0" r="-44089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73152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4117574" y="3419094"/>
            <a:ext cx="2506980" cy="1226820"/>
            <a:chOff x="0" y="0"/>
            <a:chExt cx="3342640" cy="16357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4351" y="2540"/>
              <a:ext cx="3313938" cy="1630680"/>
            </a:xfrm>
            <a:custGeom>
              <a:avLst/>
              <a:gdLst/>
              <a:ahLst/>
              <a:cxnLst/>
              <a:rect r="r" b="b" t="t" l="l"/>
              <a:pathLst>
                <a:path h="1630680" w="3313938">
                  <a:moveTo>
                    <a:pt x="22098" y="0"/>
                  </a:moveTo>
                  <a:lnTo>
                    <a:pt x="3313938" y="1584960"/>
                  </a:lnTo>
                  <a:lnTo>
                    <a:pt x="3291840" y="163068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3D607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4950440" y="3794760"/>
            <a:ext cx="548640" cy="402336"/>
            <a:chOff x="0" y="0"/>
            <a:chExt cx="731520" cy="53644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31520" cy="536448"/>
            </a:xfrm>
            <a:custGeom>
              <a:avLst/>
              <a:gdLst/>
              <a:ahLst/>
              <a:cxnLst/>
              <a:rect r="r" b="b" t="t" l="l"/>
              <a:pathLst>
                <a:path h="53644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089" t="0" r="-44089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73152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361677" y="5783837"/>
            <a:ext cx="2806703" cy="63503"/>
            <a:chOff x="0" y="0"/>
            <a:chExt cx="3742271" cy="8467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42291" y="0"/>
              <a:ext cx="3657600" cy="84709"/>
            </a:xfrm>
            <a:custGeom>
              <a:avLst/>
              <a:gdLst/>
              <a:ahLst/>
              <a:cxnLst/>
              <a:rect r="r" b="b" t="t" l="l"/>
              <a:pathLst>
                <a:path h="84709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4709"/>
                  </a:lnTo>
                  <a:lnTo>
                    <a:pt x="0" y="84709"/>
                  </a:lnTo>
                  <a:close/>
                </a:path>
              </a:pathLst>
            </a:custGeom>
            <a:solidFill>
              <a:srgbClr val="2EC4A5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344400" y="5577840"/>
            <a:ext cx="548640" cy="402336"/>
            <a:chOff x="0" y="0"/>
            <a:chExt cx="731520" cy="53644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31520" cy="536448"/>
            </a:xfrm>
            <a:custGeom>
              <a:avLst/>
              <a:gdLst/>
              <a:ahLst/>
              <a:cxnLst/>
              <a:rect r="r" b="b" t="t" l="l"/>
              <a:pathLst>
                <a:path h="53644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089" t="0" r="-44089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73152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2EC4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4950440" y="4983480"/>
            <a:ext cx="548640" cy="402336"/>
            <a:chOff x="0" y="0"/>
            <a:chExt cx="731520" cy="53644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31520" cy="536448"/>
            </a:xfrm>
            <a:custGeom>
              <a:avLst/>
              <a:gdLst/>
              <a:ahLst/>
              <a:cxnLst/>
              <a:rect r="r" b="b" t="t" l="l"/>
              <a:pathLst>
                <a:path h="53644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089" t="0" r="-44089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73152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2EC4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051543" y="3096263"/>
            <a:ext cx="1397003" cy="793499"/>
            <a:chOff x="0" y="0"/>
            <a:chExt cx="1862671" cy="105799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1828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828800">
                  <a:moveTo>
                    <a:pt x="0" y="512064"/>
                  </a:moveTo>
                  <a:cubicBezTo>
                    <a:pt x="0" y="229235"/>
                    <a:pt x="409448" y="0"/>
                    <a:pt x="914400" y="0"/>
                  </a:cubicBezTo>
                  <a:cubicBezTo>
                    <a:pt x="1419352" y="0"/>
                    <a:pt x="1828800" y="229235"/>
                    <a:pt x="1828800" y="512064"/>
                  </a:cubicBezTo>
                  <a:cubicBezTo>
                    <a:pt x="1828800" y="794893"/>
                    <a:pt x="1419352" y="1024128"/>
                    <a:pt x="914400" y="1024128"/>
                  </a:cubicBezTo>
                  <a:cubicBezTo>
                    <a:pt x="409448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A7EA4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862582" cy="1057910"/>
            </a:xfrm>
            <a:custGeom>
              <a:avLst/>
              <a:gdLst/>
              <a:ahLst/>
              <a:cxnLst/>
              <a:rect r="r" b="b" t="t" l="l"/>
              <a:pathLst>
                <a:path h="1057910" w="1862582">
                  <a:moveTo>
                    <a:pt x="0" y="528955"/>
                  </a:moveTo>
                  <a:cubicBezTo>
                    <a:pt x="0" y="229362"/>
                    <a:pt x="426847" y="0"/>
                    <a:pt x="931291" y="0"/>
                  </a:cubicBezTo>
                  <a:cubicBezTo>
                    <a:pt x="1435735" y="0"/>
                    <a:pt x="1862582" y="229362"/>
                    <a:pt x="1862582" y="528955"/>
                  </a:cubicBezTo>
                  <a:lnTo>
                    <a:pt x="1845691" y="528955"/>
                  </a:lnTo>
                  <a:lnTo>
                    <a:pt x="1862582" y="528955"/>
                  </a:lnTo>
                  <a:cubicBezTo>
                    <a:pt x="1862582" y="828548"/>
                    <a:pt x="1435735" y="1057910"/>
                    <a:pt x="931291" y="1057910"/>
                  </a:cubicBezTo>
                  <a:lnTo>
                    <a:pt x="931291" y="1041019"/>
                  </a:lnTo>
                  <a:lnTo>
                    <a:pt x="931291" y="1057910"/>
                  </a:lnTo>
                  <a:cubicBezTo>
                    <a:pt x="426847" y="1058037"/>
                    <a:pt x="0" y="828675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794893"/>
                    <a:pt x="425704" y="1024128"/>
                    <a:pt x="931291" y="1024128"/>
                  </a:cubicBezTo>
                  <a:cubicBezTo>
                    <a:pt x="1436878" y="1024128"/>
                    <a:pt x="1828800" y="795020"/>
                    <a:pt x="1828800" y="528955"/>
                  </a:cubicBezTo>
                  <a:cubicBezTo>
                    <a:pt x="1828800" y="263017"/>
                    <a:pt x="1436878" y="33782"/>
                    <a:pt x="931291" y="33782"/>
                  </a:cubicBezTo>
                  <a:lnTo>
                    <a:pt x="931291" y="16891"/>
                  </a:lnTo>
                  <a:lnTo>
                    <a:pt x="931291" y="33909"/>
                  </a:lnTo>
                  <a:cubicBezTo>
                    <a:pt x="425831" y="33909"/>
                    <a:pt x="33909" y="263017"/>
                    <a:pt x="33909" y="528955"/>
                  </a:cubicBez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1064240" y="3108960"/>
            <a:ext cx="1371600" cy="768096"/>
            <a:chOff x="0" y="0"/>
            <a:chExt cx="1828800" cy="102412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828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182880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Depot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792200" y="3093720"/>
            <a:ext cx="1402080" cy="798576"/>
            <a:chOff x="0" y="0"/>
            <a:chExt cx="1869440" cy="106476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20320" y="20320"/>
              <a:ext cx="1828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828800">
                  <a:moveTo>
                    <a:pt x="0" y="512064"/>
                  </a:moveTo>
                  <a:cubicBezTo>
                    <a:pt x="0" y="229235"/>
                    <a:pt x="409448" y="0"/>
                    <a:pt x="914400" y="0"/>
                  </a:cubicBezTo>
                  <a:cubicBezTo>
                    <a:pt x="1419352" y="0"/>
                    <a:pt x="1828800" y="229235"/>
                    <a:pt x="1828800" y="512064"/>
                  </a:cubicBezTo>
                  <a:cubicBezTo>
                    <a:pt x="1828800" y="794893"/>
                    <a:pt x="1419352" y="1024128"/>
                    <a:pt x="914400" y="1024128"/>
                  </a:cubicBezTo>
                  <a:cubicBezTo>
                    <a:pt x="409448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869440" cy="1064768"/>
            </a:xfrm>
            <a:custGeom>
              <a:avLst/>
              <a:gdLst/>
              <a:ahLst/>
              <a:cxnLst/>
              <a:rect r="r" b="b" t="t" l="l"/>
              <a:pathLst>
                <a:path h="1064768" w="1869440">
                  <a:moveTo>
                    <a:pt x="0" y="532384"/>
                  </a:moveTo>
                  <a:cubicBezTo>
                    <a:pt x="0" y="229362"/>
                    <a:pt x="430276" y="0"/>
                    <a:pt x="934720" y="0"/>
                  </a:cubicBezTo>
                  <a:cubicBezTo>
                    <a:pt x="1439164" y="0"/>
                    <a:pt x="1869440" y="229362"/>
                    <a:pt x="1869440" y="532384"/>
                  </a:cubicBezTo>
                  <a:lnTo>
                    <a:pt x="1849120" y="532384"/>
                  </a:lnTo>
                  <a:lnTo>
                    <a:pt x="1869440" y="532384"/>
                  </a:lnTo>
                  <a:cubicBezTo>
                    <a:pt x="1869440" y="835406"/>
                    <a:pt x="1439164" y="1064768"/>
                    <a:pt x="934720" y="1064768"/>
                  </a:cubicBezTo>
                  <a:lnTo>
                    <a:pt x="934720" y="1044448"/>
                  </a:lnTo>
                  <a:lnTo>
                    <a:pt x="934720" y="1064768"/>
                  </a:lnTo>
                  <a:cubicBezTo>
                    <a:pt x="430276" y="1064768"/>
                    <a:pt x="0" y="835406"/>
                    <a:pt x="0" y="532384"/>
                  </a:cubicBezTo>
                  <a:lnTo>
                    <a:pt x="20320" y="532384"/>
                  </a:lnTo>
                  <a:lnTo>
                    <a:pt x="40640" y="532384"/>
                  </a:lnTo>
                  <a:lnTo>
                    <a:pt x="20320" y="532384"/>
                  </a:lnTo>
                  <a:lnTo>
                    <a:pt x="0" y="532384"/>
                  </a:lnTo>
                  <a:moveTo>
                    <a:pt x="40640" y="532384"/>
                  </a:moveTo>
                  <a:cubicBezTo>
                    <a:pt x="40640" y="543560"/>
                    <a:pt x="31496" y="552704"/>
                    <a:pt x="20320" y="552704"/>
                  </a:cubicBezTo>
                  <a:cubicBezTo>
                    <a:pt x="9144" y="552704"/>
                    <a:pt x="0" y="543560"/>
                    <a:pt x="0" y="532384"/>
                  </a:cubicBezTo>
                  <a:cubicBezTo>
                    <a:pt x="0" y="521208"/>
                    <a:pt x="9144" y="512064"/>
                    <a:pt x="20320" y="512064"/>
                  </a:cubicBezTo>
                  <a:cubicBezTo>
                    <a:pt x="31496" y="512064"/>
                    <a:pt x="40640" y="521208"/>
                    <a:pt x="40640" y="532384"/>
                  </a:cubicBezTo>
                  <a:cubicBezTo>
                    <a:pt x="40640" y="795020"/>
                    <a:pt x="429133" y="1024128"/>
                    <a:pt x="934720" y="1024128"/>
                  </a:cubicBezTo>
                  <a:cubicBezTo>
                    <a:pt x="1440307" y="1024128"/>
                    <a:pt x="1828800" y="795020"/>
                    <a:pt x="1828800" y="532384"/>
                  </a:cubicBezTo>
                  <a:cubicBezTo>
                    <a:pt x="1828800" y="269748"/>
                    <a:pt x="1440307" y="40640"/>
                    <a:pt x="934720" y="40640"/>
                  </a:cubicBezTo>
                  <a:lnTo>
                    <a:pt x="934720" y="20320"/>
                  </a:lnTo>
                  <a:lnTo>
                    <a:pt x="934720" y="40640"/>
                  </a:lnTo>
                  <a:cubicBezTo>
                    <a:pt x="429133" y="40640"/>
                    <a:pt x="40640" y="269748"/>
                    <a:pt x="40640" y="532384"/>
                  </a:cubicBezTo>
                  <a:close/>
                </a:path>
              </a:pathLst>
            </a:custGeom>
            <a:solidFill>
              <a:srgbClr val="64D2EE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3807440" y="3108960"/>
            <a:ext cx="1371600" cy="768096"/>
            <a:chOff x="0" y="0"/>
            <a:chExt cx="1828800" cy="102412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828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182880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City A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1049000" y="5471160"/>
            <a:ext cx="1402080" cy="798576"/>
            <a:chOff x="0" y="0"/>
            <a:chExt cx="1869440" cy="106476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20320" y="20320"/>
              <a:ext cx="1828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828800">
                  <a:moveTo>
                    <a:pt x="0" y="512064"/>
                  </a:moveTo>
                  <a:cubicBezTo>
                    <a:pt x="0" y="229235"/>
                    <a:pt x="409448" y="0"/>
                    <a:pt x="914400" y="0"/>
                  </a:cubicBezTo>
                  <a:cubicBezTo>
                    <a:pt x="1419352" y="0"/>
                    <a:pt x="1828800" y="229235"/>
                    <a:pt x="1828800" y="512064"/>
                  </a:cubicBezTo>
                  <a:cubicBezTo>
                    <a:pt x="1828800" y="794893"/>
                    <a:pt x="1419352" y="1024128"/>
                    <a:pt x="914400" y="1024128"/>
                  </a:cubicBezTo>
                  <a:cubicBezTo>
                    <a:pt x="409448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869440" cy="1064768"/>
            </a:xfrm>
            <a:custGeom>
              <a:avLst/>
              <a:gdLst/>
              <a:ahLst/>
              <a:cxnLst/>
              <a:rect r="r" b="b" t="t" l="l"/>
              <a:pathLst>
                <a:path h="1064768" w="1869440">
                  <a:moveTo>
                    <a:pt x="0" y="532384"/>
                  </a:moveTo>
                  <a:cubicBezTo>
                    <a:pt x="0" y="229362"/>
                    <a:pt x="430276" y="0"/>
                    <a:pt x="934720" y="0"/>
                  </a:cubicBezTo>
                  <a:cubicBezTo>
                    <a:pt x="1439164" y="0"/>
                    <a:pt x="1869440" y="229362"/>
                    <a:pt x="1869440" y="532384"/>
                  </a:cubicBezTo>
                  <a:lnTo>
                    <a:pt x="1849120" y="532384"/>
                  </a:lnTo>
                  <a:lnTo>
                    <a:pt x="1869440" y="532384"/>
                  </a:lnTo>
                  <a:cubicBezTo>
                    <a:pt x="1869440" y="835406"/>
                    <a:pt x="1439164" y="1064768"/>
                    <a:pt x="934720" y="1064768"/>
                  </a:cubicBezTo>
                  <a:lnTo>
                    <a:pt x="934720" y="1044448"/>
                  </a:lnTo>
                  <a:lnTo>
                    <a:pt x="934720" y="1064768"/>
                  </a:lnTo>
                  <a:cubicBezTo>
                    <a:pt x="430276" y="1064768"/>
                    <a:pt x="0" y="835406"/>
                    <a:pt x="0" y="532384"/>
                  </a:cubicBezTo>
                  <a:lnTo>
                    <a:pt x="20320" y="532384"/>
                  </a:lnTo>
                  <a:lnTo>
                    <a:pt x="40640" y="532384"/>
                  </a:lnTo>
                  <a:lnTo>
                    <a:pt x="20320" y="532384"/>
                  </a:lnTo>
                  <a:lnTo>
                    <a:pt x="0" y="532384"/>
                  </a:lnTo>
                  <a:moveTo>
                    <a:pt x="40640" y="532384"/>
                  </a:moveTo>
                  <a:cubicBezTo>
                    <a:pt x="40640" y="543560"/>
                    <a:pt x="31496" y="552704"/>
                    <a:pt x="20320" y="552704"/>
                  </a:cubicBezTo>
                  <a:cubicBezTo>
                    <a:pt x="9144" y="552704"/>
                    <a:pt x="0" y="543560"/>
                    <a:pt x="0" y="532384"/>
                  </a:cubicBezTo>
                  <a:cubicBezTo>
                    <a:pt x="0" y="521208"/>
                    <a:pt x="9144" y="512064"/>
                    <a:pt x="20320" y="512064"/>
                  </a:cubicBezTo>
                  <a:cubicBezTo>
                    <a:pt x="31496" y="512064"/>
                    <a:pt x="40640" y="521208"/>
                    <a:pt x="40640" y="532384"/>
                  </a:cubicBezTo>
                  <a:cubicBezTo>
                    <a:pt x="40640" y="795020"/>
                    <a:pt x="429133" y="1024128"/>
                    <a:pt x="934720" y="1024128"/>
                  </a:cubicBezTo>
                  <a:cubicBezTo>
                    <a:pt x="1440307" y="1024128"/>
                    <a:pt x="1828800" y="795020"/>
                    <a:pt x="1828800" y="532384"/>
                  </a:cubicBezTo>
                  <a:cubicBezTo>
                    <a:pt x="1828800" y="269748"/>
                    <a:pt x="1440307" y="40640"/>
                    <a:pt x="934720" y="40640"/>
                  </a:cubicBezTo>
                  <a:lnTo>
                    <a:pt x="934720" y="20320"/>
                  </a:lnTo>
                  <a:lnTo>
                    <a:pt x="934720" y="40640"/>
                  </a:lnTo>
                  <a:cubicBezTo>
                    <a:pt x="429133" y="40640"/>
                    <a:pt x="40640" y="269748"/>
                    <a:pt x="40640" y="532384"/>
                  </a:cubicBezTo>
                  <a:close/>
                </a:path>
              </a:pathLst>
            </a:custGeom>
            <a:solidFill>
              <a:srgbClr val="64D2EE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1064240" y="5486400"/>
            <a:ext cx="1371600" cy="768096"/>
            <a:chOff x="0" y="0"/>
            <a:chExt cx="1828800" cy="102412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828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182880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City B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3792200" y="5471160"/>
            <a:ext cx="1402080" cy="798576"/>
            <a:chOff x="0" y="0"/>
            <a:chExt cx="1869440" cy="106476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20320" y="20320"/>
              <a:ext cx="1828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828800">
                  <a:moveTo>
                    <a:pt x="0" y="512064"/>
                  </a:moveTo>
                  <a:cubicBezTo>
                    <a:pt x="0" y="229235"/>
                    <a:pt x="409448" y="0"/>
                    <a:pt x="914400" y="0"/>
                  </a:cubicBezTo>
                  <a:cubicBezTo>
                    <a:pt x="1419352" y="0"/>
                    <a:pt x="1828800" y="229235"/>
                    <a:pt x="1828800" y="512064"/>
                  </a:cubicBezTo>
                  <a:cubicBezTo>
                    <a:pt x="1828800" y="794893"/>
                    <a:pt x="1419352" y="1024128"/>
                    <a:pt x="914400" y="1024128"/>
                  </a:cubicBezTo>
                  <a:cubicBezTo>
                    <a:pt x="409448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869440" cy="1064768"/>
            </a:xfrm>
            <a:custGeom>
              <a:avLst/>
              <a:gdLst/>
              <a:ahLst/>
              <a:cxnLst/>
              <a:rect r="r" b="b" t="t" l="l"/>
              <a:pathLst>
                <a:path h="1064768" w="1869440">
                  <a:moveTo>
                    <a:pt x="0" y="532384"/>
                  </a:moveTo>
                  <a:cubicBezTo>
                    <a:pt x="0" y="229362"/>
                    <a:pt x="430276" y="0"/>
                    <a:pt x="934720" y="0"/>
                  </a:cubicBezTo>
                  <a:cubicBezTo>
                    <a:pt x="1439164" y="0"/>
                    <a:pt x="1869440" y="229362"/>
                    <a:pt x="1869440" y="532384"/>
                  </a:cubicBezTo>
                  <a:lnTo>
                    <a:pt x="1849120" y="532384"/>
                  </a:lnTo>
                  <a:lnTo>
                    <a:pt x="1869440" y="532384"/>
                  </a:lnTo>
                  <a:cubicBezTo>
                    <a:pt x="1869440" y="835406"/>
                    <a:pt x="1439164" y="1064768"/>
                    <a:pt x="934720" y="1064768"/>
                  </a:cubicBezTo>
                  <a:lnTo>
                    <a:pt x="934720" y="1044448"/>
                  </a:lnTo>
                  <a:lnTo>
                    <a:pt x="934720" y="1064768"/>
                  </a:lnTo>
                  <a:cubicBezTo>
                    <a:pt x="430276" y="1064768"/>
                    <a:pt x="0" y="835406"/>
                    <a:pt x="0" y="532384"/>
                  </a:cubicBezTo>
                  <a:lnTo>
                    <a:pt x="20320" y="532384"/>
                  </a:lnTo>
                  <a:lnTo>
                    <a:pt x="40640" y="532384"/>
                  </a:lnTo>
                  <a:lnTo>
                    <a:pt x="20320" y="532384"/>
                  </a:lnTo>
                  <a:lnTo>
                    <a:pt x="0" y="532384"/>
                  </a:lnTo>
                  <a:moveTo>
                    <a:pt x="40640" y="532384"/>
                  </a:moveTo>
                  <a:cubicBezTo>
                    <a:pt x="40640" y="543560"/>
                    <a:pt x="31496" y="552704"/>
                    <a:pt x="20320" y="552704"/>
                  </a:cubicBezTo>
                  <a:cubicBezTo>
                    <a:pt x="9144" y="552704"/>
                    <a:pt x="0" y="543560"/>
                    <a:pt x="0" y="532384"/>
                  </a:cubicBezTo>
                  <a:cubicBezTo>
                    <a:pt x="0" y="521208"/>
                    <a:pt x="9144" y="512064"/>
                    <a:pt x="20320" y="512064"/>
                  </a:cubicBezTo>
                  <a:cubicBezTo>
                    <a:pt x="31496" y="512064"/>
                    <a:pt x="40640" y="521208"/>
                    <a:pt x="40640" y="532384"/>
                  </a:cubicBezTo>
                  <a:cubicBezTo>
                    <a:pt x="40640" y="795020"/>
                    <a:pt x="429133" y="1024128"/>
                    <a:pt x="934720" y="1024128"/>
                  </a:cubicBezTo>
                  <a:cubicBezTo>
                    <a:pt x="1440307" y="1024128"/>
                    <a:pt x="1828800" y="795020"/>
                    <a:pt x="1828800" y="532384"/>
                  </a:cubicBezTo>
                  <a:cubicBezTo>
                    <a:pt x="1828800" y="269748"/>
                    <a:pt x="1440307" y="40640"/>
                    <a:pt x="934720" y="40640"/>
                  </a:cubicBezTo>
                  <a:lnTo>
                    <a:pt x="934720" y="20320"/>
                  </a:lnTo>
                  <a:lnTo>
                    <a:pt x="934720" y="40640"/>
                  </a:lnTo>
                  <a:cubicBezTo>
                    <a:pt x="429133" y="40640"/>
                    <a:pt x="40640" y="269748"/>
                    <a:pt x="40640" y="532384"/>
                  </a:cubicBezTo>
                  <a:close/>
                </a:path>
              </a:pathLst>
            </a:custGeom>
            <a:solidFill>
              <a:srgbClr val="64D2EE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3807440" y="5486400"/>
            <a:ext cx="1371600" cy="768096"/>
            <a:chOff x="0" y="0"/>
            <a:chExt cx="1828800" cy="102412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828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28575"/>
              <a:ext cx="182880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City D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6261080" y="4282440"/>
            <a:ext cx="1402080" cy="798576"/>
            <a:chOff x="0" y="0"/>
            <a:chExt cx="1869440" cy="106476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20320" y="20320"/>
              <a:ext cx="1828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828800">
                  <a:moveTo>
                    <a:pt x="0" y="512064"/>
                  </a:moveTo>
                  <a:cubicBezTo>
                    <a:pt x="0" y="229235"/>
                    <a:pt x="409448" y="0"/>
                    <a:pt x="914400" y="0"/>
                  </a:cubicBezTo>
                  <a:cubicBezTo>
                    <a:pt x="1419352" y="0"/>
                    <a:pt x="1828800" y="229235"/>
                    <a:pt x="1828800" y="512064"/>
                  </a:cubicBezTo>
                  <a:cubicBezTo>
                    <a:pt x="1828800" y="794893"/>
                    <a:pt x="1419352" y="1024128"/>
                    <a:pt x="914400" y="1024128"/>
                  </a:cubicBezTo>
                  <a:cubicBezTo>
                    <a:pt x="409448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869440" cy="1064768"/>
            </a:xfrm>
            <a:custGeom>
              <a:avLst/>
              <a:gdLst/>
              <a:ahLst/>
              <a:cxnLst/>
              <a:rect r="r" b="b" t="t" l="l"/>
              <a:pathLst>
                <a:path h="1064768" w="1869440">
                  <a:moveTo>
                    <a:pt x="0" y="532384"/>
                  </a:moveTo>
                  <a:cubicBezTo>
                    <a:pt x="0" y="229362"/>
                    <a:pt x="430276" y="0"/>
                    <a:pt x="934720" y="0"/>
                  </a:cubicBezTo>
                  <a:cubicBezTo>
                    <a:pt x="1439164" y="0"/>
                    <a:pt x="1869440" y="229362"/>
                    <a:pt x="1869440" y="532384"/>
                  </a:cubicBezTo>
                  <a:lnTo>
                    <a:pt x="1849120" y="532384"/>
                  </a:lnTo>
                  <a:lnTo>
                    <a:pt x="1869440" y="532384"/>
                  </a:lnTo>
                  <a:cubicBezTo>
                    <a:pt x="1869440" y="835406"/>
                    <a:pt x="1439164" y="1064768"/>
                    <a:pt x="934720" y="1064768"/>
                  </a:cubicBezTo>
                  <a:lnTo>
                    <a:pt x="934720" y="1044448"/>
                  </a:lnTo>
                  <a:lnTo>
                    <a:pt x="934720" y="1064768"/>
                  </a:lnTo>
                  <a:cubicBezTo>
                    <a:pt x="430276" y="1064768"/>
                    <a:pt x="0" y="835406"/>
                    <a:pt x="0" y="532384"/>
                  </a:cubicBezTo>
                  <a:lnTo>
                    <a:pt x="20320" y="532384"/>
                  </a:lnTo>
                  <a:lnTo>
                    <a:pt x="40640" y="532384"/>
                  </a:lnTo>
                  <a:lnTo>
                    <a:pt x="20320" y="532384"/>
                  </a:lnTo>
                  <a:lnTo>
                    <a:pt x="0" y="532384"/>
                  </a:lnTo>
                  <a:moveTo>
                    <a:pt x="40640" y="532384"/>
                  </a:moveTo>
                  <a:cubicBezTo>
                    <a:pt x="40640" y="543560"/>
                    <a:pt x="31496" y="552704"/>
                    <a:pt x="20320" y="552704"/>
                  </a:cubicBezTo>
                  <a:cubicBezTo>
                    <a:pt x="9144" y="552704"/>
                    <a:pt x="0" y="543560"/>
                    <a:pt x="0" y="532384"/>
                  </a:cubicBezTo>
                  <a:cubicBezTo>
                    <a:pt x="0" y="521208"/>
                    <a:pt x="9144" y="512064"/>
                    <a:pt x="20320" y="512064"/>
                  </a:cubicBezTo>
                  <a:cubicBezTo>
                    <a:pt x="31496" y="512064"/>
                    <a:pt x="40640" y="521208"/>
                    <a:pt x="40640" y="532384"/>
                  </a:cubicBezTo>
                  <a:cubicBezTo>
                    <a:pt x="40640" y="795020"/>
                    <a:pt x="429133" y="1024128"/>
                    <a:pt x="934720" y="1024128"/>
                  </a:cubicBezTo>
                  <a:cubicBezTo>
                    <a:pt x="1440307" y="1024128"/>
                    <a:pt x="1828800" y="795020"/>
                    <a:pt x="1828800" y="532384"/>
                  </a:cubicBezTo>
                  <a:cubicBezTo>
                    <a:pt x="1828800" y="269748"/>
                    <a:pt x="1440307" y="40640"/>
                    <a:pt x="934720" y="40640"/>
                  </a:cubicBezTo>
                  <a:lnTo>
                    <a:pt x="934720" y="20320"/>
                  </a:lnTo>
                  <a:lnTo>
                    <a:pt x="934720" y="40640"/>
                  </a:lnTo>
                  <a:cubicBezTo>
                    <a:pt x="429133" y="40640"/>
                    <a:pt x="40640" y="269748"/>
                    <a:pt x="40640" y="532384"/>
                  </a:cubicBezTo>
                  <a:close/>
                </a:path>
              </a:pathLst>
            </a:custGeom>
            <a:solidFill>
              <a:srgbClr val="64D2EE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6276320" y="4297680"/>
            <a:ext cx="1371600" cy="768096"/>
            <a:chOff x="0" y="0"/>
            <a:chExt cx="1828800" cy="102412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828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182880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City C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594847" y="6613903"/>
            <a:ext cx="7547353" cy="2609593"/>
            <a:chOff x="0" y="0"/>
            <a:chExt cx="10063137" cy="3479457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8509" y="8509"/>
              <a:ext cx="10046208" cy="3462528"/>
            </a:xfrm>
            <a:custGeom>
              <a:avLst/>
              <a:gdLst/>
              <a:ahLst/>
              <a:cxnLst/>
              <a:rect r="r" b="b" t="t" l="l"/>
              <a:pathLst>
                <a:path h="3462528" w="10046208">
                  <a:moveTo>
                    <a:pt x="0" y="0"/>
                  </a:moveTo>
                  <a:lnTo>
                    <a:pt x="10046208" y="0"/>
                  </a:lnTo>
                  <a:lnTo>
                    <a:pt x="10046208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0A1C30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063226" cy="3479546"/>
            </a:xfrm>
            <a:custGeom>
              <a:avLst/>
              <a:gdLst/>
              <a:ahLst/>
              <a:cxnLst/>
              <a:rect r="r" b="b" t="t" l="l"/>
              <a:pathLst>
                <a:path h="3479546" w="10063226">
                  <a:moveTo>
                    <a:pt x="8509" y="0"/>
                  </a:moveTo>
                  <a:lnTo>
                    <a:pt x="10054717" y="0"/>
                  </a:lnTo>
                  <a:cubicBezTo>
                    <a:pt x="10059416" y="0"/>
                    <a:pt x="10063226" y="3810"/>
                    <a:pt x="10063226" y="8509"/>
                  </a:cubicBezTo>
                  <a:lnTo>
                    <a:pt x="10063226" y="3471037"/>
                  </a:lnTo>
                  <a:cubicBezTo>
                    <a:pt x="10063226" y="3475736"/>
                    <a:pt x="10059416" y="3479546"/>
                    <a:pt x="10054717" y="3479546"/>
                  </a:cubicBezTo>
                  <a:lnTo>
                    <a:pt x="8509" y="3479546"/>
                  </a:lnTo>
                  <a:cubicBezTo>
                    <a:pt x="3810" y="3479546"/>
                    <a:pt x="0" y="3475736"/>
                    <a:pt x="0" y="34710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471037"/>
                  </a:lnTo>
                  <a:lnTo>
                    <a:pt x="8509" y="3471037"/>
                  </a:lnTo>
                  <a:lnTo>
                    <a:pt x="8509" y="3462528"/>
                  </a:lnTo>
                  <a:lnTo>
                    <a:pt x="10054717" y="3462528"/>
                  </a:lnTo>
                  <a:lnTo>
                    <a:pt x="10054717" y="3471037"/>
                  </a:lnTo>
                  <a:lnTo>
                    <a:pt x="10046208" y="3471037"/>
                  </a:lnTo>
                  <a:lnTo>
                    <a:pt x="10046208" y="8509"/>
                  </a:lnTo>
                  <a:lnTo>
                    <a:pt x="10054717" y="8509"/>
                  </a:lnTo>
                  <a:lnTo>
                    <a:pt x="1005471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406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9784080" y="6729984"/>
            <a:ext cx="7223760" cy="512064"/>
            <a:chOff x="0" y="0"/>
            <a:chExt cx="9631680" cy="68275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9631680" cy="682752"/>
            </a:xfrm>
            <a:custGeom>
              <a:avLst/>
              <a:gdLst/>
              <a:ahLst/>
              <a:cxnLst/>
              <a:rect r="r" b="b" t="t" l="l"/>
              <a:pathLst>
                <a:path h="682752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878" r="0" b="-224878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9631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64D2E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Destination       Dist    Path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784080" y="7223760"/>
            <a:ext cx="7223760" cy="475488"/>
            <a:chOff x="0" y="0"/>
            <a:chExt cx="9631680" cy="633984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9631680" cy="633984"/>
            </a:xfrm>
            <a:custGeom>
              <a:avLst/>
              <a:gdLst/>
              <a:ahLst/>
              <a:cxnLst/>
              <a:rect r="r" b="b" t="t" l="l"/>
              <a:pathLst>
                <a:path h="633984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022" r="0" b="-246022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96316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DF4F8"/>
                  </a:solidFill>
                  <a:latin typeface="Consolas"/>
                  <a:ea typeface="Consolas"/>
                  <a:cs typeface="Consolas"/>
                  <a:sym typeface="Consolas"/>
                </a:rPr>
                <a:t>City A          10      Depot→A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9784080" y="7699248"/>
            <a:ext cx="7223760" cy="475488"/>
            <a:chOff x="0" y="0"/>
            <a:chExt cx="9631680" cy="63398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9631680" cy="633984"/>
            </a:xfrm>
            <a:custGeom>
              <a:avLst/>
              <a:gdLst/>
              <a:ahLst/>
              <a:cxnLst/>
              <a:rect r="r" b="b" t="t" l="l"/>
              <a:pathLst>
                <a:path h="633984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022" r="0" b="-246022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96316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DF4F8"/>
                  </a:solidFill>
                  <a:latin typeface="Consolas"/>
                  <a:ea typeface="Consolas"/>
                  <a:cs typeface="Consolas"/>
                  <a:sym typeface="Consolas"/>
                </a:rPr>
                <a:t>City B          6       Depot→B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784080" y="8174736"/>
            <a:ext cx="7223760" cy="475488"/>
            <a:chOff x="0" y="0"/>
            <a:chExt cx="9631680" cy="63398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9631680" cy="633984"/>
            </a:xfrm>
            <a:custGeom>
              <a:avLst/>
              <a:gdLst/>
              <a:ahLst/>
              <a:cxnLst/>
              <a:rect r="r" b="b" t="t" l="l"/>
              <a:pathLst>
                <a:path h="633984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022" r="0" b="-246022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96316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DF4F8"/>
                  </a:solidFill>
                  <a:latin typeface="Consolas"/>
                  <a:ea typeface="Consolas"/>
                  <a:cs typeface="Consolas"/>
                  <a:sym typeface="Consolas"/>
                </a:rPr>
                <a:t>City C          20      Depot→B→D→C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9784080" y="8650224"/>
            <a:ext cx="7223760" cy="475488"/>
            <a:chOff x="0" y="0"/>
            <a:chExt cx="9631680" cy="633984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9631680" cy="633984"/>
            </a:xfrm>
            <a:custGeom>
              <a:avLst/>
              <a:gdLst/>
              <a:ahLst/>
              <a:cxnLst/>
              <a:rect r="r" b="b" t="t" l="l"/>
              <a:pathLst>
                <a:path h="633984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022" r="0" b="-246022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96316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DF4F8"/>
                  </a:solidFill>
                  <a:latin typeface="Consolas"/>
                  <a:ea typeface="Consolas"/>
                  <a:cs typeface="Consolas"/>
                  <a:sym typeface="Consolas"/>
                </a:rPr>
                <a:t>City D          10      Depot→B→D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12064"/>
            <a:ext cx="16642080" cy="1060704"/>
            <a:chOff x="0" y="0"/>
            <a:chExt cx="22189440" cy="14142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89439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713" r="0" b="-2557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22189440" cy="15190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D1F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Kruskal MST — Cheapest Network Design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0263" y="1907543"/>
            <a:ext cx="7980683" cy="3865883"/>
            <a:chOff x="0" y="0"/>
            <a:chExt cx="10640911" cy="51545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0607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40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5137531"/>
                  </a:lnTo>
                  <a:cubicBezTo>
                    <a:pt x="10640822" y="5146929"/>
                    <a:pt x="10633202" y="5154422"/>
                    <a:pt x="10623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0623931" y="5120640"/>
                  </a:lnTo>
                  <a:lnTo>
                    <a:pt x="10623931" y="5137531"/>
                  </a:lnTo>
                  <a:lnTo>
                    <a:pt x="10607040" y="513753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E4E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33856" y="2103120"/>
            <a:ext cx="7315200" cy="640080"/>
            <a:chOff x="0" y="0"/>
            <a:chExt cx="975360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753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A7E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Union-Find (Cycle Detection)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3856" y="2834640"/>
            <a:ext cx="7315200" cy="548640"/>
            <a:chOff x="0" y="0"/>
            <a:chExt cx="97536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75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A5060"/>
                  </a:solidFill>
                  <a:latin typeface="Consolas"/>
                  <a:ea typeface="Consolas"/>
                  <a:cs typeface="Consolas"/>
                  <a:sym typeface="Consolas"/>
                </a:rPr>
                <a:t>find(x)  → walk to root + compress path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33856" y="3438144"/>
            <a:ext cx="7315200" cy="548640"/>
            <a:chOff x="0" y="0"/>
            <a:chExt cx="97536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75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A5060"/>
                  </a:solidFill>
                  <a:latin typeface="Consolas"/>
                  <a:ea typeface="Consolas"/>
                  <a:cs typeface="Consolas"/>
                  <a:sym typeface="Consolas"/>
                </a:rPr>
                <a:t>unite(x,y) → merge by rank, return true if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33856" y="4041648"/>
            <a:ext cx="7315200" cy="548640"/>
            <a:chOff x="0" y="0"/>
            <a:chExt cx="97536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75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4A4A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  different components (safe to add)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3856" y="4645152"/>
            <a:ext cx="7315200" cy="548640"/>
            <a:chOff x="0" y="0"/>
            <a:chExt cx="97536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75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4A4A"/>
                  </a:solidFill>
                  <a:latin typeface="Consolas"/>
                  <a:ea typeface="Consolas"/>
                  <a:cs typeface="Consolas"/>
                  <a:sym typeface="Consolas"/>
                </a:rPr>
                <a:t>Returns false  → same component = would cycle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10263" y="5985767"/>
            <a:ext cx="7980683" cy="3683003"/>
            <a:chOff x="0" y="0"/>
            <a:chExt cx="10640911" cy="49106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6070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40822" cy="4910582"/>
            </a:xfrm>
            <a:custGeom>
              <a:avLst/>
              <a:gdLst/>
              <a:ahLst/>
              <a:cxnLst/>
              <a:rect r="r" b="b" t="t" l="l"/>
              <a:pathLst>
                <a:path h="4910582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4893691"/>
                  </a:lnTo>
                  <a:cubicBezTo>
                    <a:pt x="10640822" y="4903089"/>
                    <a:pt x="10633202" y="4910582"/>
                    <a:pt x="1062393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10623931" y="4876800"/>
                  </a:lnTo>
                  <a:lnTo>
                    <a:pt x="10623931" y="4893691"/>
                  </a:lnTo>
                  <a:lnTo>
                    <a:pt x="10607040" y="489369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E4E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33856" y="6181344"/>
            <a:ext cx="7315200" cy="640080"/>
            <a:chOff x="0" y="0"/>
            <a:chExt cx="975360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753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A7E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Kruskal Steps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33856" y="6858000"/>
            <a:ext cx="7315200" cy="548640"/>
            <a:chOff x="0" y="0"/>
            <a:chExt cx="975360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75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 Collect all unique edges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33856" y="7461504"/>
            <a:ext cx="7315200" cy="548640"/>
            <a:chOff x="0" y="0"/>
            <a:chExt cx="975360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75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 Sort by weight (ascending)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33856" y="8065008"/>
            <a:ext cx="7315200" cy="548640"/>
            <a:chOff x="0" y="0"/>
            <a:chExt cx="975360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75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 For each edge: unite() → if true, add to MST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33856" y="8668512"/>
            <a:ext cx="7315200" cy="548640"/>
            <a:chOff x="0" y="0"/>
            <a:chExt cx="975360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75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 Stop when V−1 edges collected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314183" y="1907543"/>
            <a:ext cx="8163563" cy="7742939"/>
            <a:chOff x="0" y="0"/>
            <a:chExt cx="10884751" cy="1032391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0850881" cy="10290048"/>
            </a:xfrm>
            <a:custGeom>
              <a:avLst/>
              <a:gdLst/>
              <a:ahLst/>
              <a:cxnLst/>
              <a:rect r="r" b="b" t="t" l="l"/>
              <a:pathLst>
                <a:path h="10290048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10290048"/>
                  </a:lnTo>
                  <a:lnTo>
                    <a:pt x="0" y="10290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884662" cy="10323830"/>
            </a:xfrm>
            <a:custGeom>
              <a:avLst/>
              <a:gdLst/>
              <a:ahLst/>
              <a:cxnLst/>
              <a:rect r="r" b="b" t="t" l="l"/>
              <a:pathLst>
                <a:path h="10323830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10306939"/>
                  </a:lnTo>
                  <a:cubicBezTo>
                    <a:pt x="10884662" y="10316337"/>
                    <a:pt x="10877042" y="10323830"/>
                    <a:pt x="10867772" y="10323830"/>
                  </a:cubicBezTo>
                  <a:lnTo>
                    <a:pt x="16891" y="10323830"/>
                  </a:lnTo>
                  <a:cubicBezTo>
                    <a:pt x="7493" y="10323830"/>
                    <a:pt x="0" y="10316210"/>
                    <a:pt x="0" y="103069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306939"/>
                  </a:lnTo>
                  <a:lnTo>
                    <a:pt x="16891" y="10306939"/>
                  </a:lnTo>
                  <a:lnTo>
                    <a:pt x="16891" y="10290048"/>
                  </a:lnTo>
                  <a:lnTo>
                    <a:pt x="10867772" y="10290048"/>
                  </a:lnTo>
                  <a:lnTo>
                    <a:pt x="10867772" y="10306939"/>
                  </a:lnTo>
                  <a:lnTo>
                    <a:pt x="10850880" y="10306939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E4E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601200" y="2103120"/>
            <a:ext cx="7589520" cy="603504"/>
            <a:chOff x="0" y="0"/>
            <a:chExt cx="10119360" cy="8046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119360" cy="804672"/>
            </a:xfrm>
            <a:custGeom>
              <a:avLst/>
              <a:gdLst/>
              <a:ahLst/>
              <a:cxnLst/>
              <a:rect r="r" b="b" t="t" l="l"/>
              <a:pathLst>
                <a:path h="804672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039" r="0" b="-19503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119360" cy="852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F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MST Result  (5 cities, total cost = 25)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533639" y="2821943"/>
            <a:ext cx="665483" cy="720347"/>
            <a:chOff x="0" y="0"/>
            <a:chExt cx="887311" cy="96046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85344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87222" cy="960376"/>
            </a:xfrm>
            <a:custGeom>
              <a:avLst/>
              <a:gdLst/>
              <a:ahLst/>
              <a:cxnLst/>
              <a:rect r="r" b="b" t="t" l="l"/>
              <a:pathLst>
                <a:path h="960376" w="887222">
                  <a:moveTo>
                    <a:pt x="16891" y="0"/>
                  </a:moveTo>
                  <a:lnTo>
                    <a:pt x="870331" y="0"/>
                  </a:lnTo>
                  <a:cubicBezTo>
                    <a:pt x="879729" y="0"/>
                    <a:pt x="887222" y="7620"/>
                    <a:pt x="887222" y="16891"/>
                  </a:cubicBezTo>
                  <a:lnTo>
                    <a:pt x="887222" y="943483"/>
                  </a:lnTo>
                  <a:cubicBezTo>
                    <a:pt x="887222" y="952881"/>
                    <a:pt x="879602" y="960374"/>
                    <a:pt x="8703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870331" y="926592"/>
                  </a:lnTo>
                  <a:lnTo>
                    <a:pt x="870331" y="943483"/>
                  </a:lnTo>
                  <a:lnTo>
                    <a:pt x="853440" y="943483"/>
                  </a:lnTo>
                  <a:lnTo>
                    <a:pt x="853440" y="16891"/>
                  </a:lnTo>
                  <a:lnTo>
                    <a:pt x="870331" y="16891"/>
                  </a:lnTo>
                  <a:lnTo>
                    <a:pt x="870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546336" y="2834640"/>
            <a:ext cx="640080" cy="694944"/>
            <a:chOff x="0" y="0"/>
            <a:chExt cx="853440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5344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301" t="0" r="-89301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853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173719" y="2821943"/>
            <a:ext cx="2128523" cy="720347"/>
            <a:chOff x="0" y="0"/>
            <a:chExt cx="2838031" cy="96046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2804160" cy="926592"/>
            </a:xfrm>
            <a:custGeom>
              <a:avLst/>
              <a:gdLst/>
              <a:ahLst/>
              <a:cxnLst/>
              <a:rect r="r" b="b" t="t" l="l"/>
              <a:pathLst>
                <a:path h="926592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837942" cy="960376"/>
            </a:xfrm>
            <a:custGeom>
              <a:avLst/>
              <a:gdLst/>
              <a:ahLst/>
              <a:cxnLst/>
              <a:rect r="r" b="b" t="t" l="l"/>
              <a:pathLst>
                <a:path h="960376" w="2837942">
                  <a:moveTo>
                    <a:pt x="16891" y="0"/>
                  </a:moveTo>
                  <a:lnTo>
                    <a:pt x="2821051" y="0"/>
                  </a:lnTo>
                  <a:cubicBezTo>
                    <a:pt x="2830449" y="0"/>
                    <a:pt x="2837942" y="7620"/>
                    <a:pt x="2837942" y="16891"/>
                  </a:cubicBezTo>
                  <a:lnTo>
                    <a:pt x="2837942" y="943483"/>
                  </a:lnTo>
                  <a:cubicBezTo>
                    <a:pt x="2837942" y="952881"/>
                    <a:pt x="2830322" y="960374"/>
                    <a:pt x="282105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821051" y="926592"/>
                  </a:lnTo>
                  <a:lnTo>
                    <a:pt x="2821051" y="943483"/>
                  </a:lnTo>
                  <a:lnTo>
                    <a:pt x="2804160" y="943483"/>
                  </a:lnTo>
                  <a:lnTo>
                    <a:pt x="2804160" y="16891"/>
                  </a:lnTo>
                  <a:lnTo>
                    <a:pt x="2821051" y="16891"/>
                  </a:lnTo>
                  <a:lnTo>
                    <a:pt x="2821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186416" y="2834640"/>
            <a:ext cx="2103120" cy="694944"/>
            <a:chOff x="0" y="0"/>
            <a:chExt cx="2804160" cy="9265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804160" cy="926592"/>
            </a:xfrm>
            <a:custGeom>
              <a:avLst/>
              <a:gdLst/>
              <a:ahLst/>
              <a:cxnLst/>
              <a:rect r="r" b="b" t="t" l="l"/>
              <a:pathLst>
                <a:path h="926592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7" r="0" b="-896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8041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From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276839" y="2821943"/>
            <a:ext cx="2128523" cy="720347"/>
            <a:chOff x="0" y="0"/>
            <a:chExt cx="2838031" cy="96046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804160" cy="926592"/>
            </a:xfrm>
            <a:custGeom>
              <a:avLst/>
              <a:gdLst/>
              <a:ahLst/>
              <a:cxnLst/>
              <a:rect r="r" b="b" t="t" l="l"/>
              <a:pathLst>
                <a:path h="926592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837942" cy="960376"/>
            </a:xfrm>
            <a:custGeom>
              <a:avLst/>
              <a:gdLst/>
              <a:ahLst/>
              <a:cxnLst/>
              <a:rect r="r" b="b" t="t" l="l"/>
              <a:pathLst>
                <a:path h="960376" w="2837942">
                  <a:moveTo>
                    <a:pt x="16891" y="0"/>
                  </a:moveTo>
                  <a:lnTo>
                    <a:pt x="2821051" y="0"/>
                  </a:lnTo>
                  <a:cubicBezTo>
                    <a:pt x="2830449" y="0"/>
                    <a:pt x="2837942" y="7620"/>
                    <a:pt x="2837942" y="16891"/>
                  </a:cubicBezTo>
                  <a:lnTo>
                    <a:pt x="2837942" y="943483"/>
                  </a:lnTo>
                  <a:cubicBezTo>
                    <a:pt x="2837942" y="952881"/>
                    <a:pt x="2830322" y="960374"/>
                    <a:pt x="282105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821051" y="926592"/>
                  </a:lnTo>
                  <a:lnTo>
                    <a:pt x="2821051" y="943483"/>
                  </a:lnTo>
                  <a:lnTo>
                    <a:pt x="2804160" y="943483"/>
                  </a:lnTo>
                  <a:lnTo>
                    <a:pt x="2804160" y="16891"/>
                  </a:lnTo>
                  <a:lnTo>
                    <a:pt x="2821051" y="16891"/>
                  </a:lnTo>
                  <a:lnTo>
                    <a:pt x="2821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289536" y="2834640"/>
            <a:ext cx="2103120" cy="694944"/>
            <a:chOff x="0" y="0"/>
            <a:chExt cx="2804160" cy="9265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804160" cy="926592"/>
            </a:xfrm>
            <a:custGeom>
              <a:avLst/>
              <a:gdLst/>
              <a:ahLst/>
              <a:cxnLst/>
              <a:rect r="r" b="b" t="t" l="l"/>
              <a:pathLst>
                <a:path h="926592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7" r="0" b="-896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8041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379959" y="2821943"/>
            <a:ext cx="1634747" cy="720347"/>
            <a:chOff x="0" y="0"/>
            <a:chExt cx="2179663" cy="96046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2145792" cy="926592"/>
            </a:xfrm>
            <a:custGeom>
              <a:avLst/>
              <a:gdLst/>
              <a:ahLst/>
              <a:cxnLst/>
              <a:rect r="r" b="b" t="t" l="l"/>
              <a:pathLst>
                <a:path h="92659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79574" cy="960376"/>
            </a:xfrm>
            <a:custGeom>
              <a:avLst/>
              <a:gdLst/>
              <a:ahLst/>
              <a:cxnLst/>
              <a:rect r="r" b="b" t="t" l="l"/>
              <a:pathLst>
                <a:path h="960376" w="2179574">
                  <a:moveTo>
                    <a:pt x="16891" y="0"/>
                  </a:moveTo>
                  <a:lnTo>
                    <a:pt x="2162683" y="0"/>
                  </a:lnTo>
                  <a:cubicBezTo>
                    <a:pt x="2172081" y="0"/>
                    <a:pt x="2179574" y="7620"/>
                    <a:pt x="2179574" y="16891"/>
                  </a:cubicBezTo>
                  <a:lnTo>
                    <a:pt x="2179574" y="943483"/>
                  </a:lnTo>
                  <a:cubicBezTo>
                    <a:pt x="2179574" y="952881"/>
                    <a:pt x="2171954" y="960374"/>
                    <a:pt x="2162683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162683" y="926592"/>
                  </a:lnTo>
                  <a:lnTo>
                    <a:pt x="2162683" y="943483"/>
                  </a:lnTo>
                  <a:lnTo>
                    <a:pt x="2145792" y="943483"/>
                  </a:lnTo>
                  <a:lnTo>
                    <a:pt x="2145792" y="16891"/>
                  </a:lnTo>
                  <a:lnTo>
                    <a:pt x="2162683" y="16891"/>
                  </a:lnTo>
                  <a:lnTo>
                    <a:pt x="21626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392656" y="2834640"/>
            <a:ext cx="1609344" cy="694944"/>
            <a:chOff x="0" y="0"/>
            <a:chExt cx="2145792" cy="9265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45792" cy="926592"/>
            </a:xfrm>
            <a:custGeom>
              <a:avLst/>
              <a:gdLst/>
              <a:ahLst/>
              <a:cxnLst/>
              <a:rect r="r" b="b" t="t" l="l"/>
              <a:pathLst>
                <a:path h="92659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03" t="0" r="-54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1457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Weight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5989303" y="2821943"/>
            <a:ext cx="1397003" cy="720347"/>
            <a:chOff x="0" y="0"/>
            <a:chExt cx="1862671" cy="96046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82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862582" cy="960376"/>
            </a:xfrm>
            <a:custGeom>
              <a:avLst/>
              <a:gdLst/>
              <a:ahLst/>
              <a:cxnLst/>
              <a:rect r="r" b="b" t="t" l="l"/>
              <a:pathLst>
                <a:path h="960376" w="1862582">
                  <a:moveTo>
                    <a:pt x="16891" y="0"/>
                  </a:moveTo>
                  <a:lnTo>
                    <a:pt x="1845691" y="0"/>
                  </a:lnTo>
                  <a:cubicBezTo>
                    <a:pt x="1855089" y="0"/>
                    <a:pt x="1862582" y="7620"/>
                    <a:pt x="1862582" y="16891"/>
                  </a:cubicBezTo>
                  <a:lnTo>
                    <a:pt x="1862582" y="943483"/>
                  </a:lnTo>
                  <a:cubicBezTo>
                    <a:pt x="1862582" y="952881"/>
                    <a:pt x="1854962" y="960374"/>
                    <a:pt x="184569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845691" y="926592"/>
                  </a:lnTo>
                  <a:lnTo>
                    <a:pt x="1845691" y="943483"/>
                  </a:lnTo>
                  <a:lnTo>
                    <a:pt x="1828800" y="943483"/>
                  </a:lnTo>
                  <a:lnTo>
                    <a:pt x="1828800" y="16891"/>
                  </a:lnTo>
                  <a:lnTo>
                    <a:pt x="1845691" y="16891"/>
                  </a:lnTo>
                  <a:lnTo>
                    <a:pt x="1845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6002000" y="2834640"/>
            <a:ext cx="1371600" cy="694944"/>
            <a:chOff x="0" y="0"/>
            <a:chExt cx="1828800" cy="92659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82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007" t="0" r="-15007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8288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Added?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539983" y="3523231"/>
            <a:ext cx="652777" cy="689353"/>
            <a:chOff x="0" y="0"/>
            <a:chExt cx="870369" cy="91913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8509" y="8509"/>
              <a:ext cx="853440" cy="902208"/>
            </a:xfrm>
            <a:custGeom>
              <a:avLst/>
              <a:gdLst/>
              <a:ahLst/>
              <a:cxnLst/>
              <a:rect r="r" b="b" t="t" l="l"/>
              <a:pathLst>
                <a:path h="90220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EBF8F2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70458" cy="919226"/>
            </a:xfrm>
            <a:custGeom>
              <a:avLst/>
              <a:gdLst/>
              <a:ahLst/>
              <a:cxnLst/>
              <a:rect r="r" b="b" t="t" l="l"/>
              <a:pathLst>
                <a:path h="919226" w="870458">
                  <a:moveTo>
                    <a:pt x="8509" y="0"/>
                  </a:moveTo>
                  <a:lnTo>
                    <a:pt x="861949" y="0"/>
                  </a:lnTo>
                  <a:cubicBezTo>
                    <a:pt x="866648" y="0"/>
                    <a:pt x="870458" y="3810"/>
                    <a:pt x="870458" y="8509"/>
                  </a:cubicBezTo>
                  <a:lnTo>
                    <a:pt x="870458" y="910717"/>
                  </a:lnTo>
                  <a:cubicBezTo>
                    <a:pt x="870458" y="915416"/>
                    <a:pt x="866648" y="919226"/>
                    <a:pt x="86194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861949" y="902208"/>
                  </a:lnTo>
                  <a:lnTo>
                    <a:pt x="861949" y="910717"/>
                  </a:lnTo>
                  <a:lnTo>
                    <a:pt x="853440" y="910717"/>
                  </a:lnTo>
                  <a:lnTo>
                    <a:pt x="853440" y="8509"/>
                  </a:lnTo>
                  <a:lnTo>
                    <a:pt x="861949" y="8509"/>
                  </a:lnTo>
                  <a:lnTo>
                    <a:pt x="861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546336" y="3529584"/>
            <a:ext cx="640080" cy="676656"/>
            <a:chOff x="0" y="0"/>
            <a:chExt cx="853440" cy="90220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53440" cy="902208"/>
            </a:xfrm>
            <a:custGeom>
              <a:avLst/>
              <a:gdLst/>
              <a:ahLst/>
              <a:cxnLst/>
              <a:rect r="r" b="b" t="t" l="l"/>
              <a:pathLst>
                <a:path h="90220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635" t="0" r="-85635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85344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180063" y="3523231"/>
            <a:ext cx="2115817" cy="689353"/>
            <a:chOff x="0" y="0"/>
            <a:chExt cx="2821089" cy="91913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8509" y="8509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EBF8F2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821178" cy="919226"/>
            </a:xfrm>
            <a:custGeom>
              <a:avLst/>
              <a:gdLst/>
              <a:ahLst/>
              <a:cxnLst/>
              <a:rect r="r" b="b" t="t" l="l"/>
              <a:pathLst>
                <a:path h="919226" w="2821178">
                  <a:moveTo>
                    <a:pt x="8509" y="0"/>
                  </a:moveTo>
                  <a:lnTo>
                    <a:pt x="2812669" y="0"/>
                  </a:lnTo>
                  <a:cubicBezTo>
                    <a:pt x="2817368" y="0"/>
                    <a:pt x="2821178" y="3810"/>
                    <a:pt x="2821178" y="8509"/>
                  </a:cubicBezTo>
                  <a:lnTo>
                    <a:pt x="2821178" y="910717"/>
                  </a:lnTo>
                  <a:cubicBezTo>
                    <a:pt x="2821178" y="915416"/>
                    <a:pt x="2817368" y="919226"/>
                    <a:pt x="281266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812669" y="902208"/>
                  </a:lnTo>
                  <a:lnTo>
                    <a:pt x="2812669" y="910717"/>
                  </a:lnTo>
                  <a:lnTo>
                    <a:pt x="2804160" y="910717"/>
                  </a:lnTo>
                  <a:lnTo>
                    <a:pt x="2804160" y="8509"/>
                  </a:lnTo>
                  <a:lnTo>
                    <a:pt x="2812669" y="8509"/>
                  </a:lnTo>
                  <a:lnTo>
                    <a:pt x="2812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186416" y="3529584"/>
            <a:ext cx="2103120" cy="676656"/>
            <a:chOff x="0" y="0"/>
            <a:chExt cx="2804160" cy="90220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1" r="0" b="-10561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28041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City B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283183" y="3523231"/>
            <a:ext cx="2115817" cy="689353"/>
            <a:chOff x="0" y="0"/>
            <a:chExt cx="2821089" cy="91913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8509" y="8509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EBF8F2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821178" cy="919226"/>
            </a:xfrm>
            <a:custGeom>
              <a:avLst/>
              <a:gdLst/>
              <a:ahLst/>
              <a:cxnLst/>
              <a:rect r="r" b="b" t="t" l="l"/>
              <a:pathLst>
                <a:path h="919226" w="2821178">
                  <a:moveTo>
                    <a:pt x="8509" y="0"/>
                  </a:moveTo>
                  <a:lnTo>
                    <a:pt x="2812669" y="0"/>
                  </a:lnTo>
                  <a:cubicBezTo>
                    <a:pt x="2817368" y="0"/>
                    <a:pt x="2821178" y="3810"/>
                    <a:pt x="2821178" y="8509"/>
                  </a:cubicBezTo>
                  <a:lnTo>
                    <a:pt x="2821178" y="910717"/>
                  </a:lnTo>
                  <a:cubicBezTo>
                    <a:pt x="2821178" y="915416"/>
                    <a:pt x="2817368" y="919226"/>
                    <a:pt x="281266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812669" y="902208"/>
                  </a:lnTo>
                  <a:lnTo>
                    <a:pt x="2812669" y="910717"/>
                  </a:lnTo>
                  <a:lnTo>
                    <a:pt x="2804160" y="910717"/>
                  </a:lnTo>
                  <a:lnTo>
                    <a:pt x="2804160" y="8509"/>
                  </a:lnTo>
                  <a:lnTo>
                    <a:pt x="2812669" y="8509"/>
                  </a:lnTo>
                  <a:lnTo>
                    <a:pt x="2812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2289536" y="3529584"/>
            <a:ext cx="2103120" cy="676656"/>
            <a:chOff x="0" y="0"/>
            <a:chExt cx="2804160" cy="90220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1" r="0" b="-10561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8041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City D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4386303" y="3523231"/>
            <a:ext cx="1622041" cy="689353"/>
            <a:chOff x="0" y="0"/>
            <a:chExt cx="2162721" cy="91913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8509" y="8509"/>
              <a:ext cx="2145792" cy="902208"/>
            </a:xfrm>
            <a:custGeom>
              <a:avLst/>
              <a:gdLst/>
              <a:ahLst/>
              <a:cxnLst/>
              <a:rect r="r" b="b" t="t" l="l"/>
              <a:pathLst>
                <a:path h="902208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EBF8F2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162810" cy="919226"/>
            </a:xfrm>
            <a:custGeom>
              <a:avLst/>
              <a:gdLst/>
              <a:ahLst/>
              <a:cxnLst/>
              <a:rect r="r" b="b" t="t" l="l"/>
              <a:pathLst>
                <a:path h="919226" w="2162810">
                  <a:moveTo>
                    <a:pt x="8509" y="0"/>
                  </a:moveTo>
                  <a:lnTo>
                    <a:pt x="2154301" y="0"/>
                  </a:lnTo>
                  <a:cubicBezTo>
                    <a:pt x="2159000" y="0"/>
                    <a:pt x="2162810" y="3810"/>
                    <a:pt x="2162810" y="8509"/>
                  </a:cubicBezTo>
                  <a:lnTo>
                    <a:pt x="2162810" y="910717"/>
                  </a:lnTo>
                  <a:cubicBezTo>
                    <a:pt x="2162810" y="915416"/>
                    <a:pt x="2159000" y="919226"/>
                    <a:pt x="2154301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154301" y="902208"/>
                  </a:lnTo>
                  <a:lnTo>
                    <a:pt x="2154301" y="910717"/>
                  </a:lnTo>
                  <a:lnTo>
                    <a:pt x="2145792" y="910717"/>
                  </a:lnTo>
                  <a:lnTo>
                    <a:pt x="2145792" y="8509"/>
                  </a:lnTo>
                  <a:lnTo>
                    <a:pt x="2154301" y="8509"/>
                  </a:lnTo>
                  <a:lnTo>
                    <a:pt x="215430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4392656" y="3529584"/>
            <a:ext cx="1609344" cy="676656"/>
            <a:chOff x="0" y="0"/>
            <a:chExt cx="2145792" cy="90220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145792" cy="902208"/>
            </a:xfrm>
            <a:custGeom>
              <a:avLst/>
              <a:gdLst/>
              <a:ahLst/>
              <a:cxnLst/>
              <a:rect r="r" b="b" t="t" l="l"/>
              <a:pathLst>
                <a:path h="902208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5" t="0" r="-3945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2145792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4.0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5995647" y="3523231"/>
            <a:ext cx="1384297" cy="689353"/>
            <a:chOff x="0" y="0"/>
            <a:chExt cx="1845729" cy="919137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8509" y="8509"/>
              <a:ext cx="1828800" cy="902208"/>
            </a:xfrm>
            <a:custGeom>
              <a:avLst/>
              <a:gdLst/>
              <a:ahLst/>
              <a:cxnLst/>
              <a:rect r="r" b="b" t="t" l="l"/>
              <a:pathLst>
                <a:path h="90220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EBF8F2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845818" cy="919226"/>
            </a:xfrm>
            <a:custGeom>
              <a:avLst/>
              <a:gdLst/>
              <a:ahLst/>
              <a:cxnLst/>
              <a:rect r="r" b="b" t="t" l="l"/>
              <a:pathLst>
                <a:path h="919226" w="1845818">
                  <a:moveTo>
                    <a:pt x="8509" y="0"/>
                  </a:moveTo>
                  <a:lnTo>
                    <a:pt x="1837309" y="0"/>
                  </a:lnTo>
                  <a:cubicBezTo>
                    <a:pt x="1842008" y="0"/>
                    <a:pt x="1845818" y="3810"/>
                    <a:pt x="1845818" y="8509"/>
                  </a:cubicBezTo>
                  <a:lnTo>
                    <a:pt x="1845818" y="910717"/>
                  </a:lnTo>
                  <a:cubicBezTo>
                    <a:pt x="1845818" y="915416"/>
                    <a:pt x="1842008" y="919226"/>
                    <a:pt x="183730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1837309" y="902208"/>
                  </a:lnTo>
                  <a:lnTo>
                    <a:pt x="1837309" y="910717"/>
                  </a:lnTo>
                  <a:lnTo>
                    <a:pt x="1828800" y="910717"/>
                  </a:lnTo>
                  <a:lnTo>
                    <a:pt x="1828800" y="8509"/>
                  </a:lnTo>
                  <a:lnTo>
                    <a:pt x="1837309" y="8509"/>
                  </a:lnTo>
                  <a:lnTo>
                    <a:pt x="1837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6002000" y="3529584"/>
            <a:ext cx="1371600" cy="676656"/>
            <a:chOff x="0" y="0"/>
            <a:chExt cx="1828800" cy="90220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828800" cy="902208"/>
            </a:xfrm>
            <a:custGeom>
              <a:avLst/>
              <a:gdLst/>
              <a:ahLst/>
              <a:cxnLst/>
              <a:rect r="r" b="b" t="t" l="l"/>
              <a:pathLst>
                <a:path h="90220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96" t="0" r="-13296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82880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A6B5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Yes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539983" y="4199887"/>
            <a:ext cx="652777" cy="689353"/>
            <a:chOff x="0" y="0"/>
            <a:chExt cx="870369" cy="91913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8509" y="8509"/>
              <a:ext cx="853440" cy="902208"/>
            </a:xfrm>
            <a:custGeom>
              <a:avLst/>
              <a:gdLst/>
              <a:ahLst/>
              <a:cxnLst/>
              <a:rect r="r" b="b" t="t" l="l"/>
              <a:pathLst>
                <a:path h="90220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5FBF8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870458" cy="919226"/>
            </a:xfrm>
            <a:custGeom>
              <a:avLst/>
              <a:gdLst/>
              <a:ahLst/>
              <a:cxnLst/>
              <a:rect r="r" b="b" t="t" l="l"/>
              <a:pathLst>
                <a:path h="919226" w="870458">
                  <a:moveTo>
                    <a:pt x="8509" y="0"/>
                  </a:moveTo>
                  <a:lnTo>
                    <a:pt x="861949" y="0"/>
                  </a:lnTo>
                  <a:cubicBezTo>
                    <a:pt x="866648" y="0"/>
                    <a:pt x="870458" y="3810"/>
                    <a:pt x="870458" y="8509"/>
                  </a:cubicBezTo>
                  <a:lnTo>
                    <a:pt x="870458" y="910717"/>
                  </a:lnTo>
                  <a:cubicBezTo>
                    <a:pt x="870458" y="915416"/>
                    <a:pt x="866648" y="919226"/>
                    <a:pt x="86194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861949" y="902208"/>
                  </a:lnTo>
                  <a:lnTo>
                    <a:pt x="861949" y="910717"/>
                  </a:lnTo>
                  <a:lnTo>
                    <a:pt x="853440" y="910717"/>
                  </a:lnTo>
                  <a:lnTo>
                    <a:pt x="853440" y="8509"/>
                  </a:lnTo>
                  <a:lnTo>
                    <a:pt x="861949" y="8509"/>
                  </a:lnTo>
                  <a:lnTo>
                    <a:pt x="861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546336" y="4206240"/>
            <a:ext cx="640080" cy="676656"/>
            <a:chOff x="0" y="0"/>
            <a:chExt cx="853440" cy="90220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853440" cy="902208"/>
            </a:xfrm>
            <a:custGeom>
              <a:avLst/>
              <a:gdLst/>
              <a:ahLst/>
              <a:cxnLst/>
              <a:rect r="r" b="b" t="t" l="l"/>
              <a:pathLst>
                <a:path h="90220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635" t="0" r="-85635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85344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0180063" y="4199887"/>
            <a:ext cx="2115817" cy="689353"/>
            <a:chOff x="0" y="0"/>
            <a:chExt cx="2821089" cy="919137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8509" y="8509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5FBF8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821178" cy="919226"/>
            </a:xfrm>
            <a:custGeom>
              <a:avLst/>
              <a:gdLst/>
              <a:ahLst/>
              <a:cxnLst/>
              <a:rect r="r" b="b" t="t" l="l"/>
              <a:pathLst>
                <a:path h="919226" w="2821178">
                  <a:moveTo>
                    <a:pt x="8509" y="0"/>
                  </a:moveTo>
                  <a:lnTo>
                    <a:pt x="2812669" y="0"/>
                  </a:lnTo>
                  <a:cubicBezTo>
                    <a:pt x="2817368" y="0"/>
                    <a:pt x="2821178" y="3810"/>
                    <a:pt x="2821178" y="8509"/>
                  </a:cubicBezTo>
                  <a:lnTo>
                    <a:pt x="2821178" y="910717"/>
                  </a:lnTo>
                  <a:cubicBezTo>
                    <a:pt x="2821178" y="915416"/>
                    <a:pt x="2817368" y="919226"/>
                    <a:pt x="281266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812669" y="902208"/>
                  </a:lnTo>
                  <a:lnTo>
                    <a:pt x="2812669" y="910717"/>
                  </a:lnTo>
                  <a:lnTo>
                    <a:pt x="2804160" y="910717"/>
                  </a:lnTo>
                  <a:lnTo>
                    <a:pt x="2804160" y="8509"/>
                  </a:lnTo>
                  <a:lnTo>
                    <a:pt x="2812669" y="8509"/>
                  </a:lnTo>
                  <a:lnTo>
                    <a:pt x="2812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0186416" y="4206240"/>
            <a:ext cx="2103120" cy="676656"/>
            <a:chOff x="0" y="0"/>
            <a:chExt cx="2804160" cy="90220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1" r="0" b="-10561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28041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City A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2283183" y="4199887"/>
            <a:ext cx="2115817" cy="689353"/>
            <a:chOff x="0" y="0"/>
            <a:chExt cx="2821089" cy="919137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8509" y="8509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5FBF8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821178" cy="919226"/>
            </a:xfrm>
            <a:custGeom>
              <a:avLst/>
              <a:gdLst/>
              <a:ahLst/>
              <a:cxnLst/>
              <a:rect r="r" b="b" t="t" l="l"/>
              <a:pathLst>
                <a:path h="919226" w="2821178">
                  <a:moveTo>
                    <a:pt x="8509" y="0"/>
                  </a:moveTo>
                  <a:lnTo>
                    <a:pt x="2812669" y="0"/>
                  </a:lnTo>
                  <a:cubicBezTo>
                    <a:pt x="2817368" y="0"/>
                    <a:pt x="2821178" y="3810"/>
                    <a:pt x="2821178" y="8509"/>
                  </a:cubicBezTo>
                  <a:lnTo>
                    <a:pt x="2821178" y="910717"/>
                  </a:lnTo>
                  <a:cubicBezTo>
                    <a:pt x="2821178" y="915416"/>
                    <a:pt x="2817368" y="919226"/>
                    <a:pt x="281266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812669" y="902208"/>
                  </a:lnTo>
                  <a:lnTo>
                    <a:pt x="2812669" y="910717"/>
                  </a:lnTo>
                  <a:lnTo>
                    <a:pt x="2804160" y="910717"/>
                  </a:lnTo>
                  <a:lnTo>
                    <a:pt x="2804160" y="8509"/>
                  </a:lnTo>
                  <a:lnTo>
                    <a:pt x="2812669" y="8509"/>
                  </a:lnTo>
                  <a:lnTo>
                    <a:pt x="2812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2289536" y="4206240"/>
            <a:ext cx="2103120" cy="676656"/>
            <a:chOff x="0" y="0"/>
            <a:chExt cx="2804160" cy="90220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1" r="0" b="-10561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28041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City B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4386303" y="4199887"/>
            <a:ext cx="1622041" cy="689353"/>
            <a:chOff x="0" y="0"/>
            <a:chExt cx="2162721" cy="919137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8509" y="8509"/>
              <a:ext cx="2145792" cy="902208"/>
            </a:xfrm>
            <a:custGeom>
              <a:avLst/>
              <a:gdLst/>
              <a:ahLst/>
              <a:cxnLst/>
              <a:rect r="r" b="b" t="t" l="l"/>
              <a:pathLst>
                <a:path h="902208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5FBF8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162810" cy="919226"/>
            </a:xfrm>
            <a:custGeom>
              <a:avLst/>
              <a:gdLst/>
              <a:ahLst/>
              <a:cxnLst/>
              <a:rect r="r" b="b" t="t" l="l"/>
              <a:pathLst>
                <a:path h="919226" w="2162810">
                  <a:moveTo>
                    <a:pt x="8509" y="0"/>
                  </a:moveTo>
                  <a:lnTo>
                    <a:pt x="2154301" y="0"/>
                  </a:lnTo>
                  <a:cubicBezTo>
                    <a:pt x="2159000" y="0"/>
                    <a:pt x="2162810" y="3810"/>
                    <a:pt x="2162810" y="8509"/>
                  </a:cubicBezTo>
                  <a:lnTo>
                    <a:pt x="2162810" y="910717"/>
                  </a:lnTo>
                  <a:cubicBezTo>
                    <a:pt x="2162810" y="915416"/>
                    <a:pt x="2159000" y="919226"/>
                    <a:pt x="2154301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154301" y="902208"/>
                  </a:lnTo>
                  <a:lnTo>
                    <a:pt x="2154301" y="910717"/>
                  </a:lnTo>
                  <a:lnTo>
                    <a:pt x="2145792" y="910717"/>
                  </a:lnTo>
                  <a:lnTo>
                    <a:pt x="2145792" y="8509"/>
                  </a:lnTo>
                  <a:lnTo>
                    <a:pt x="2154301" y="8509"/>
                  </a:lnTo>
                  <a:lnTo>
                    <a:pt x="215430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4392656" y="4206240"/>
            <a:ext cx="1609344" cy="676656"/>
            <a:chOff x="0" y="0"/>
            <a:chExt cx="2145792" cy="90220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145792" cy="902208"/>
            </a:xfrm>
            <a:custGeom>
              <a:avLst/>
              <a:gdLst/>
              <a:ahLst/>
              <a:cxnLst/>
              <a:rect r="r" b="b" t="t" l="l"/>
              <a:pathLst>
                <a:path h="902208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5" t="0" r="-3945" b="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2145792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5.0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5995647" y="4199887"/>
            <a:ext cx="1384297" cy="689353"/>
            <a:chOff x="0" y="0"/>
            <a:chExt cx="1845729" cy="919137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8509" y="8509"/>
              <a:ext cx="1828800" cy="902208"/>
            </a:xfrm>
            <a:custGeom>
              <a:avLst/>
              <a:gdLst/>
              <a:ahLst/>
              <a:cxnLst/>
              <a:rect r="r" b="b" t="t" l="l"/>
              <a:pathLst>
                <a:path h="90220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5FBF8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845818" cy="919226"/>
            </a:xfrm>
            <a:custGeom>
              <a:avLst/>
              <a:gdLst/>
              <a:ahLst/>
              <a:cxnLst/>
              <a:rect r="r" b="b" t="t" l="l"/>
              <a:pathLst>
                <a:path h="919226" w="1845818">
                  <a:moveTo>
                    <a:pt x="8509" y="0"/>
                  </a:moveTo>
                  <a:lnTo>
                    <a:pt x="1837309" y="0"/>
                  </a:lnTo>
                  <a:cubicBezTo>
                    <a:pt x="1842008" y="0"/>
                    <a:pt x="1845818" y="3810"/>
                    <a:pt x="1845818" y="8509"/>
                  </a:cubicBezTo>
                  <a:lnTo>
                    <a:pt x="1845818" y="910717"/>
                  </a:lnTo>
                  <a:cubicBezTo>
                    <a:pt x="1845818" y="915416"/>
                    <a:pt x="1842008" y="919226"/>
                    <a:pt x="183730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1837309" y="902208"/>
                  </a:lnTo>
                  <a:lnTo>
                    <a:pt x="1837309" y="910717"/>
                  </a:lnTo>
                  <a:lnTo>
                    <a:pt x="1828800" y="910717"/>
                  </a:lnTo>
                  <a:lnTo>
                    <a:pt x="1828800" y="8509"/>
                  </a:lnTo>
                  <a:lnTo>
                    <a:pt x="1837309" y="8509"/>
                  </a:lnTo>
                  <a:lnTo>
                    <a:pt x="1837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6002000" y="4206240"/>
            <a:ext cx="1371600" cy="676656"/>
            <a:chOff x="0" y="0"/>
            <a:chExt cx="1828800" cy="90220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828800" cy="902208"/>
            </a:xfrm>
            <a:custGeom>
              <a:avLst/>
              <a:gdLst/>
              <a:ahLst/>
              <a:cxnLst/>
              <a:rect r="r" b="b" t="t" l="l"/>
              <a:pathLst>
                <a:path h="90220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96" t="0" r="-13296" b="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182880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A6B5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Yes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9539983" y="4876543"/>
            <a:ext cx="652777" cy="689353"/>
            <a:chOff x="0" y="0"/>
            <a:chExt cx="870369" cy="919137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8509" y="8509"/>
              <a:ext cx="853440" cy="902208"/>
            </a:xfrm>
            <a:custGeom>
              <a:avLst/>
              <a:gdLst/>
              <a:ahLst/>
              <a:cxnLst/>
              <a:rect r="r" b="b" t="t" l="l"/>
              <a:pathLst>
                <a:path h="90220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EBF8F2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870458" cy="919226"/>
            </a:xfrm>
            <a:custGeom>
              <a:avLst/>
              <a:gdLst/>
              <a:ahLst/>
              <a:cxnLst/>
              <a:rect r="r" b="b" t="t" l="l"/>
              <a:pathLst>
                <a:path h="919226" w="870458">
                  <a:moveTo>
                    <a:pt x="8509" y="0"/>
                  </a:moveTo>
                  <a:lnTo>
                    <a:pt x="861949" y="0"/>
                  </a:lnTo>
                  <a:cubicBezTo>
                    <a:pt x="866648" y="0"/>
                    <a:pt x="870458" y="3810"/>
                    <a:pt x="870458" y="8509"/>
                  </a:cubicBezTo>
                  <a:lnTo>
                    <a:pt x="870458" y="910717"/>
                  </a:lnTo>
                  <a:cubicBezTo>
                    <a:pt x="870458" y="915416"/>
                    <a:pt x="866648" y="919226"/>
                    <a:pt x="86194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861949" y="902208"/>
                  </a:lnTo>
                  <a:lnTo>
                    <a:pt x="861949" y="910717"/>
                  </a:lnTo>
                  <a:lnTo>
                    <a:pt x="853440" y="910717"/>
                  </a:lnTo>
                  <a:lnTo>
                    <a:pt x="853440" y="8509"/>
                  </a:lnTo>
                  <a:lnTo>
                    <a:pt x="861949" y="8509"/>
                  </a:lnTo>
                  <a:lnTo>
                    <a:pt x="861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546336" y="4882896"/>
            <a:ext cx="640080" cy="676656"/>
            <a:chOff x="0" y="0"/>
            <a:chExt cx="853440" cy="902208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853440" cy="902208"/>
            </a:xfrm>
            <a:custGeom>
              <a:avLst/>
              <a:gdLst/>
              <a:ahLst/>
              <a:cxnLst/>
              <a:rect r="r" b="b" t="t" l="l"/>
              <a:pathLst>
                <a:path h="90220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635" t="0" r="-85635" b="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85344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0180063" y="4876543"/>
            <a:ext cx="2115817" cy="689353"/>
            <a:chOff x="0" y="0"/>
            <a:chExt cx="2821089" cy="919137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8509" y="8509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EBF8F2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821178" cy="919226"/>
            </a:xfrm>
            <a:custGeom>
              <a:avLst/>
              <a:gdLst/>
              <a:ahLst/>
              <a:cxnLst/>
              <a:rect r="r" b="b" t="t" l="l"/>
              <a:pathLst>
                <a:path h="919226" w="2821178">
                  <a:moveTo>
                    <a:pt x="8509" y="0"/>
                  </a:moveTo>
                  <a:lnTo>
                    <a:pt x="2812669" y="0"/>
                  </a:lnTo>
                  <a:cubicBezTo>
                    <a:pt x="2817368" y="0"/>
                    <a:pt x="2821178" y="3810"/>
                    <a:pt x="2821178" y="8509"/>
                  </a:cubicBezTo>
                  <a:lnTo>
                    <a:pt x="2821178" y="910717"/>
                  </a:lnTo>
                  <a:cubicBezTo>
                    <a:pt x="2821178" y="915416"/>
                    <a:pt x="2817368" y="919226"/>
                    <a:pt x="281266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812669" y="902208"/>
                  </a:lnTo>
                  <a:lnTo>
                    <a:pt x="2812669" y="910717"/>
                  </a:lnTo>
                  <a:lnTo>
                    <a:pt x="2804160" y="910717"/>
                  </a:lnTo>
                  <a:lnTo>
                    <a:pt x="2804160" y="8509"/>
                  </a:lnTo>
                  <a:lnTo>
                    <a:pt x="2812669" y="8509"/>
                  </a:lnTo>
                  <a:lnTo>
                    <a:pt x="2812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0186416" y="4882896"/>
            <a:ext cx="2103120" cy="676656"/>
            <a:chOff x="0" y="0"/>
            <a:chExt cx="2804160" cy="902208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1" r="0" b="-10561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28041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Depot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2283183" y="4876543"/>
            <a:ext cx="2115817" cy="689353"/>
            <a:chOff x="0" y="0"/>
            <a:chExt cx="2821089" cy="919137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8509" y="8509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EBF8F2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821178" cy="919226"/>
            </a:xfrm>
            <a:custGeom>
              <a:avLst/>
              <a:gdLst/>
              <a:ahLst/>
              <a:cxnLst/>
              <a:rect r="r" b="b" t="t" l="l"/>
              <a:pathLst>
                <a:path h="919226" w="2821178">
                  <a:moveTo>
                    <a:pt x="8509" y="0"/>
                  </a:moveTo>
                  <a:lnTo>
                    <a:pt x="2812669" y="0"/>
                  </a:lnTo>
                  <a:cubicBezTo>
                    <a:pt x="2817368" y="0"/>
                    <a:pt x="2821178" y="3810"/>
                    <a:pt x="2821178" y="8509"/>
                  </a:cubicBezTo>
                  <a:lnTo>
                    <a:pt x="2821178" y="910717"/>
                  </a:lnTo>
                  <a:cubicBezTo>
                    <a:pt x="2821178" y="915416"/>
                    <a:pt x="2817368" y="919226"/>
                    <a:pt x="281266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812669" y="902208"/>
                  </a:lnTo>
                  <a:lnTo>
                    <a:pt x="2812669" y="910717"/>
                  </a:lnTo>
                  <a:lnTo>
                    <a:pt x="2804160" y="910717"/>
                  </a:lnTo>
                  <a:lnTo>
                    <a:pt x="2804160" y="8509"/>
                  </a:lnTo>
                  <a:lnTo>
                    <a:pt x="2812669" y="8509"/>
                  </a:lnTo>
                  <a:lnTo>
                    <a:pt x="2812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2289536" y="4882896"/>
            <a:ext cx="2103120" cy="676656"/>
            <a:chOff x="0" y="0"/>
            <a:chExt cx="2804160" cy="90220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1" r="0" b="-10561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28041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City B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4386303" y="4876543"/>
            <a:ext cx="1622041" cy="689353"/>
            <a:chOff x="0" y="0"/>
            <a:chExt cx="2162721" cy="919137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8509" y="8509"/>
              <a:ext cx="2145792" cy="902208"/>
            </a:xfrm>
            <a:custGeom>
              <a:avLst/>
              <a:gdLst/>
              <a:ahLst/>
              <a:cxnLst/>
              <a:rect r="r" b="b" t="t" l="l"/>
              <a:pathLst>
                <a:path h="902208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EBF8F2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2162810" cy="919226"/>
            </a:xfrm>
            <a:custGeom>
              <a:avLst/>
              <a:gdLst/>
              <a:ahLst/>
              <a:cxnLst/>
              <a:rect r="r" b="b" t="t" l="l"/>
              <a:pathLst>
                <a:path h="919226" w="2162810">
                  <a:moveTo>
                    <a:pt x="8509" y="0"/>
                  </a:moveTo>
                  <a:lnTo>
                    <a:pt x="2154301" y="0"/>
                  </a:lnTo>
                  <a:cubicBezTo>
                    <a:pt x="2159000" y="0"/>
                    <a:pt x="2162810" y="3810"/>
                    <a:pt x="2162810" y="8509"/>
                  </a:cubicBezTo>
                  <a:lnTo>
                    <a:pt x="2162810" y="910717"/>
                  </a:lnTo>
                  <a:cubicBezTo>
                    <a:pt x="2162810" y="915416"/>
                    <a:pt x="2159000" y="919226"/>
                    <a:pt x="2154301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154301" y="902208"/>
                  </a:lnTo>
                  <a:lnTo>
                    <a:pt x="2154301" y="910717"/>
                  </a:lnTo>
                  <a:lnTo>
                    <a:pt x="2145792" y="910717"/>
                  </a:lnTo>
                  <a:lnTo>
                    <a:pt x="2145792" y="8509"/>
                  </a:lnTo>
                  <a:lnTo>
                    <a:pt x="2154301" y="8509"/>
                  </a:lnTo>
                  <a:lnTo>
                    <a:pt x="215430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4392656" y="4882896"/>
            <a:ext cx="1609344" cy="676656"/>
            <a:chOff x="0" y="0"/>
            <a:chExt cx="2145792" cy="90220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2145792" cy="902208"/>
            </a:xfrm>
            <a:custGeom>
              <a:avLst/>
              <a:gdLst/>
              <a:ahLst/>
              <a:cxnLst/>
              <a:rect r="r" b="b" t="t" l="l"/>
              <a:pathLst>
                <a:path h="902208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5" t="0" r="-3945" b="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2145792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6.0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5995647" y="4876543"/>
            <a:ext cx="1384297" cy="689353"/>
            <a:chOff x="0" y="0"/>
            <a:chExt cx="1845729" cy="919137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8509" y="8509"/>
              <a:ext cx="1828800" cy="902208"/>
            </a:xfrm>
            <a:custGeom>
              <a:avLst/>
              <a:gdLst/>
              <a:ahLst/>
              <a:cxnLst/>
              <a:rect r="r" b="b" t="t" l="l"/>
              <a:pathLst>
                <a:path h="90220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EBF8F2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845818" cy="919226"/>
            </a:xfrm>
            <a:custGeom>
              <a:avLst/>
              <a:gdLst/>
              <a:ahLst/>
              <a:cxnLst/>
              <a:rect r="r" b="b" t="t" l="l"/>
              <a:pathLst>
                <a:path h="919226" w="1845818">
                  <a:moveTo>
                    <a:pt x="8509" y="0"/>
                  </a:moveTo>
                  <a:lnTo>
                    <a:pt x="1837309" y="0"/>
                  </a:lnTo>
                  <a:cubicBezTo>
                    <a:pt x="1842008" y="0"/>
                    <a:pt x="1845818" y="3810"/>
                    <a:pt x="1845818" y="8509"/>
                  </a:cubicBezTo>
                  <a:lnTo>
                    <a:pt x="1845818" y="910717"/>
                  </a:lnTo>
                  <a:cubicBezTo>
                    <a:pt x="1845818" y="915416"/>
                    <a:pt x="1842008" y="919226"/>
                    <a:pt x="183730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1837309" y="902208"/>
                  </a:lnTo>
                  <a:lnTo>
                    <a:pt x="1837309" y="910717"/>
                  </a:lnTo>
                  <a:lnTo>
                    <a:pt x="1828800" y="910717"/>
                  </a:lnTo>
                  <a:lnTo>
                    <a:pt x="1828800" y="8509"/>
                  </a:lnTo>
                  <a:lnTo>
                    <a:pt x="1837309" y="8509"/>
                  </a:lnTo>
                  <a:lnTo>
                    <a:pt x="1837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6002000" y="4882896"/>
            <a:ext cx="1371600" cy="676656"/>
            <a:chOff x="0" y="0"/>
            <a:chExt cx="1828800" cy="902208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828800" cy="902208"/>
            </a:xfrm>
            <a:custGeom>
              <a:avLst/>
              <a:gdLst/>
              <a:ahLst/>
              <a:cxnLst/>
              <a:rect r="r" b="b" t="t" l="l"/>
              <a:pathLst>
                <a:path h="90220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96" t="0" r="-13296" b="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182880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A6B5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Yes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9539983" y="5553199"/>
            <a:ext cx="652777" cy="689353"/>
            <a:chOff x="0" y="0"/>
            <a:chExt cx="870369" cy="919137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8509" y="8509"/>
              <a:ext cx="853440" cy="902208"/>
            </a:xfrm>
            <a:custGeom>
              <a:avLst/>
              <a:gdLst/>
              <a:ahLst/>
              <a:cxnLst/>
              <a:rect r="r" b="b" t="t" l="l"/>
              <a:pathLst>
                <a:path h="90220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5FBF8"/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870458" cy="919226"/>
            </a:xfrm>
            <a:custGeom>
              <a:avLst/>
              <a:gdLst/>
              <a:ahLst/>
              <a:cxnLst/>
              <a:rect r="r" b="b" t="t" l="l"/>
              <a:pathLst>
                <a:path h="919226" w="870458">
                  <a:moveTo>
                    <a:pt x="8509" y="0"/>
                  </a:moveTo>
                  <a:lnTo>
                    <a:pt x="861949" y="0"/>
                  </a:lnTo>
                  <a:cubicBezTo>
                    <a:pt x="866648" y="0"/>
                    <a:pt x="870458" y="3810"/>
                    <a:pt x="870458" y="8509"/>
                  </a:cubicBezTo>
                  <a:lnTo>
                    <a:pt x="870458" y="910717"/>
                  </a:lnTo>
                  <a:cubicBezTo>
                    <a:pt x="870458" y="915416"/>
                    <a:pt x="866648" y="919226"/>
                    <a:pt x="86194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861949" y="902208"/>
                  </a:lnTo>
                  <a:lnTo>
                    <a:pt x="861949" y="910717"/>
                  </a:lnTo>
                  <a:lnTo>
                    <a:pt x="853440" y="910717"/>
                  </a:lnTo>
                  <a:lnTo>
                    <a:pt x="853440" y="8509"/>
                  </a:lnTo>
                  <a:lnTo>
                    <a:pt x="861949" y="8509"/>
                  </a:lnTo>
                  <a:lnTo>
                    <a:pt x="861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9546336" y="5559552"/>
            <a:ext cx="640080" cy="676656"/>
            <a:chOff x="0" y="0"/>
            <a:chExt cx="853440" cy="902208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853440" cy="902208"/>
            </a:xfrm>
            <a:custGeom>
              <a:avLst/>
              <a:gdLst/>
              <a:ahLst/>
              <a:cxnLst/>
              <a:rect r="r" b="b" t="t" l="l"/>
              <a:pathLst>
                <a:path h="90220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635" t="0" r="-85635" b="0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85344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0180063" y="5553199"/>
            <a:ext cx="2115817" cy="689353"/>
            <a:chOff x="0" y="0"/>
            <a:chExt cx="2821089" cy="919137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8509" y="8509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5FBF8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2821178" cy="919226"/>
            </a:xfrm>
            <a:custGeom>
              <a:avLst/>
              <a:gdLst/>
              <a:ahLst/>
              <a:cxnLst/>
              <a:rect r="r" b="b" t="t" l="l"/>
              <a:pathLst>
                <a:path h="919226" w="2821178">
                  <a:moveTo>
                    <a:pt x="8509" y="0"/>
                  </a:moveTo>
                  <a:lnTo>
                    <a:pt x="2812669" y="0"/>
                  </a:lnTo>
                  <a:cubicBezTo>
                    <a:pt x="2817368" y="0"/>
                    <a:pt x="2821178" y="3810"/>
                    <a:pt x="2821178" y="8509"/>
                  </a:cubicBezTo>
                  <a:lnTo>
                    <a:pt x="2821178" y="910717"/>
                  </a:lnTo>
                  <a:cubicBezTo>
                    <a:pt x="2821178" y="915416"/>
                    <a:pt x="2817368" y="919226"/>
                    <a:pt x="281266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812669" y="902208"/>
                  </a:lnTo>
                  <a:lnTo>
                    <a:pt x="2812669" y="910717"/>
                  </a:lnTo>
                  <a:lnTo>
                    <a:pt x="2804160" y="910717"/>
                  </a:lnTo>
                  <a:lnTo>
                    <a:pt x="2804160" y="8509"/>
                  </a:lnTo>
                  <a:lnTo>
                    <a:pt x="2812669" y="8509"/>
                  </a:lnTo>
                  <a:lnTo>
                    <a:pt x="2812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0186416" y="5559552"/>
            <a:ext cx="2103120" cy="676656"/>
            <a:chOff x="0" y="0"/>
            <a:chExt cx="2804160" cy="902208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1" r="0" b="-10561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28041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City D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2283183" y="5553199"/>
            <a:ext cx="2115817" cy="689353"/>
            <a:chOff x="0" y="0"/>
            <a:chExt cx="2821089" cy="919137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8509" y="8509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5FBF8"/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2821178" cy="919226"/>
            </a:xfrm>
            <a:custGeom>
              <a:avLst/>
              <a:gdLst/>
              <a:ahLst/>
              <a:cxnLst/>
              <a:rect r="r" b="b" t="t" l="l"/>
              <a:pathLst>
                <a:path h="919226" w="2821178">
                  <a:moveTo>
                    <a:pt x="8509" y="0"/>
                  </a:moveTo>
                  <a:lnTo>
                    <a:pt x="2812669" y="0"/>
                  </a:lnTo>
                  <a:cubicBezTo>
                    <a:pt x="2817368" y="0"/>
                    <a:pt x="2821178" y="3810"/>
                    <a:pt x="2821178" y="8509"/>
                  </a:cubicBezTo>
                  <a:lnTo>
                    <a:pt x="2821178" y="910717"/>
                  </a:lnTo>
                  <a:cubicBezTo>
                    <a:pt x="2821178" y="915416"/>
                    <a:pt x="2817368" y="919226"/>
                    <a:pt x="281266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812669" y="902208"/>
                  </a:lnTo>
                  <a:lnTo>
                    <a:pt x="2812669" y="910717"/>
                  </a:lnTo>
                  <a:lnTo>
                    <a:pt x="2804160" y="910717"/>
                  </a:lnTo>
                  <a:lnTo>
                    <a:pt x="2804160" y="8509"/>
                  </a:lnTo>
                  <a:lnTo>
                    <a:pt x="2812669" y="8509"/>
                  </a:lnTo>
                  <a:lnTo>
                    <a:pt x="2812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12289536" y="5559552"/>
            <a:ext cx="2103120" cy="676656"/>
            <a:chOff x="0" y="0"/>
            <a:chExt cx="2804160" cy="90220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1" r="0" b="-1056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28041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City C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4386303" y="5553199"/>
            <a:ext cx="1622041" cy="689353"/>
            <a:chOff x="0" y="0"/>
            <a:chExt cx="2162721" cy="919137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8509" y="8509"/>
              <a:ext cx="2145792" cy="902208"/>
            </a:xfrm>
            <a:custGeom>
              <a:avLst/>
              <a:gdLst/>
              <a:ahLst/>
              <a:cxnLst/>
              <a:rect r="r" b="b" t="t" l="l"/>
              <a:pathLst>
                <a:path h="902208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5FBF8"/>
            </a:solidFill>
          </p:spPr>
        </p:sp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2162810" cy="919226"/>
            </a:xfrm>
            <a:custGeom>
              <a:avLst/>
              <a:gdLst/>
              <a:ahLst/>
              <a:cxnLst/>
              <a:rect r="r" b="b" t="t" l="l"/>
              <a:pathLst>
                <a:path h="919226" w="2162810">
                  <a:moveTo>
                    <a:pt x="8509" y="0"/>
                  </a:moveTo>
                  <a:lnTo>
                    <a:pt x="2154301" y="0"/>
                  </a:lnTo>
                  <a:cubicBezTo>
                    <a:pt x="2159000" y="0"/>
                    <a:pt x="2162810" y="3810"/>
                    <a:pt x="2162810" y="8509"/>
                  </a:cubicBezTo>
                  <a:lnTo>
                    <a:pt x="2162810" y="910717"/>
                  </a:lnTo>
                  <a:cubicBezTo>
                    <a:pt x="2162810" y="915416"/>
                    <a:pt x="2159000" y="919226"/>
                    <a:pt x="2154301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154301" y="902208"/>
                  </a:lnTo>
                  <a:lnTo>
                    <a:pt x="2154301" y="910717"/>
                  </a:lnTo>
                  <a:lnTo>
                    <a:pt x="2145792" y="910717"/>
                  </a:lnTo>
                  <a:lnTo>
                    <a:pt x="2145792" y="8509"/>
                  </a:lnTo>
                  <a:lnTo>
                    <a:pt x="2154301" y="8509"/>
                  </a:lnTo>
                  <a:lnTo>
                    <a:pt x="215430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14392656" y="5559552"/>
            <a:ext cx="1609344" cy="676656"/>
            <a:chOff x="0" y="0"/>
            <a:chExt cx="2145792" cy="902208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2145792" cy="902208"/>
            </a:xfrm>
            <a:custGeom>
              <a:avLst/>
              <a:gdLst/>
              <a:ahLst/>
              <a:cxnLst/>
              <a:rect r="r" b="b" t="t" l="l"/>
              <a:pathLst>
                <a:path h="902208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5" t="0" r="-3945" b="0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2145792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10.0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15995647" y="5553199"/>
            <a:ext cx="1384297" cy="689353"/>
            <a:chOff x="0" y="0"/>
            <a:chExt cx="1845729" cy="919137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8509" y="8509"/>
              <a:ext cx="1828800" cy="902208"/>
            </a:xfrm>
            <a:custGeom>
              <a:avLst/>
              <a:gdLst/>
              <a:ahLst/>
              <a:cxnLst/>
              <a:rect r="r" b="b" t="t" l="l"/>
              <a:pathLst>
                <a:path h="90220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5FBF8"/>
            </a:solidFill>
          </p:spPr>
        </p:sp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1845818" cy="919226"/>
            </a:xfrm>
            <a:custGeom>
              <a:avLst/>
              <a:gdLst/>
              <a:ahLst/>
              <a:cxnLst/>
              <a:rect r="r" b="b" t="t" l="l"/>
              <a:pathLst>
                <a:path h="919226" w="1845818">
                  <a:moveTo>
                    <a:pt x="8509" y="0"/>
                  </a:moveTo>
                  <a:lnTo>
                    <a:pt x="1837309" y="0"/>
                  </a:lnTo>
                  <a:cubicBezTo>
                    <a:pt x="1842008" y="0"/>
                    <a:pt x="1845818" y="3810"/>
                    <a:pt x="1845818" y="8509"/>
                  </a:cubicBezTo>
                  <a:lnTo>
                    <a:pt x="1845818" y="910717"/>
                  </a:lnTo>
                  <a:cubicBezTo>
                    <a:pt x="1845818" y="915416"/>
                    <a:pt x="1842008" y="919226"/>
                    <a:pt x="183730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1837309" y="902208"/>
                  </a:lnTo>
                  <a:lnTo>
                    <a:pt x="1837309" y="910717"/>
                  </a:lnTo>
                  <a:lnTo>
                    <a:pt x="1828800" y="910717"/>
                  </a:lnTo>
                  <a:lnTo>
                    <a:pt x="1828800" y="8509"/>
                  </a:lnTo>
                  <a:lnTo>
                    <a:pt x="1837309" y="8509"/>
                  </a:lnTo>
                  <a:lnTo>
                    <a:pt x="1837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16002000" y="5559552"/>
            <a:ext cx="1371600" cy="676656"/>
            <a:chOff x="0" y="0"/>
            <a:chExt cx="1828800" cy="90220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1828800" cy="902208"/>
            </a:xfrm>
            <a:custGeom>
              <a:avLst/>
              <a:gdLst/>
              <a:ahLst/>
              <a:cxnLst/>
              <a:rect r="r" b="b" t="t" l="l"/>
              <a:pathLst>
                <a:path h="90220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96" t="0" r="-13296" b="0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182880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A6B5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Yes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9539983" y="6229855"/>
            <a:ext cx="652777" cy="689353"/>
            <a:chOff x="0" y="0"/>
            <a:chExt cx="870369" cy="919137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8509" y="8509"/>
              <a:ext cx="853440" cy="902208"/>
            </a:xfrm>
            <a:custGeom>
              <a:avLst/>
              <a:gdLst/>
              <a:ahLst/>
              <a:cxnLst/>
              <a:rect r="r" b="b" t="t" l="l"/>
              <a:pathLst>
                <a:path h="90220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2F2"/>
            </a:solidFill>
          </p:spPr>
        </p:sp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870458" cy="919226"/>
            </a:xfrm>
            <a:custGeom>
              <a:avLst/>
              <a:gdLst/>
              <a:ahLst/>
              <a:cxnLst/>
              <a:rect r="r" b="b" t="t" l="l"/>
              <a:pathLst>
                <a:path h="919226" w="870458">
                  <a:moveTo>
                    <a:pt x="8509" y="0"/>
                  </a:moveTo>
                  <a:lnTo>
                    <a:pt x="861949" y="0"/>
                  </a:lnTo>
                  <a:cubicBezTo>
                    <a:pt x="866648" y="0"/>
                    <a:pt x="870458" y="3810"/>
                    <a:pt x="870458" y="8509"/>
                  </a:cubicBezTo>
                  <a:lnTo>
                    <a:pt x="870458" y="910717"/>
                  </a:lnTo>
                  <a:cubicBezTo>
                    <a:pt x="870458" y="915416"/>
                    <a:pt x="866648" y="919226"/>
                    <a:pt x="86194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861949" y="902208"/>
                  </a:lnTo>
                  <a:lnTo>
                    <a:pt x="861949" y="910717"/>
                  </a:lnTo>
                  <a:lnTo>
                    <a:pt x="853440" y="910717"/>
                  </a:lnTo>
                  <a:lnTo>
                    <a:pt x="853440" y="8509"/>
                  </a:lnTo>
                  <a:lnTo>
                    <a:pt x="861949" y="8509"/>
                  </a:lnTo>
                  <a:lnTo>
                    <a:pt x="861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200" id="200"/>
          <p:cNvGrpSpPr/>
          <p:nvPr/>
        </p:nvGrpSpPr>
        <p:grpSpPr>
          <a:xfrm rot="0">
            <a:off x="9546336" y="6236208"/>
            <a:ext cx="640080" cy="676656"/>
            <a:chOff x="0" y="0"/>
            <a:chExt cx="853440" cy="902208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853440" cy="902208"/>
            </a:xfrm>
            <a:custGeom>
              <a:avLst/>
              <a:gdLst/>
              <a:ahLst/>
              <a:cxnLst/>
              <a:rect r="r" b="b" t="t" l="l"/>
              <a:pathLst>
                <a:path h="90220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635" t="0" r="-85635" b="0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85344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10180063" y="6229855"/>
            <a:ext cx="2115817" cy="689353"/>
            <a:chOff x="0" y="0"/>
            <a:chExt cx="2821089" cy="919137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8509" y="8509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2F2"/>
            </a:solidFill>
          </p:spPr>
        </p:sp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2821178" cy="919226"/>
            </a:xfrm>
            <a:custGeom>
              <a:avLst/>
              <a:gdLst/>
              <a:ahLst/>
              <a:cxnLst/>
              <a:rect r="r" b="b" t="t" l="l"/>
              <a:pathLst>
                <a:path h="919226" w="2821178">
                  <a:moveTo>
                    <a:pt x="8509" y="0"/>
                  </a:moveTo>
                  <a:lnTo>
                    <a:pt x="2812669" y="0"/>
                  </a:lnTo>
                  <a:cubicBezTo>
                    <a:pt x="2817368" y="0"/>
                    <a:pt x="2821178" y="3810"/>
                    <a:pt x="2821178" y="8509"/>
                  </a:cubicBezTo>
                  <a:lnTo>
                    <a:pt x="2821178" y="910717"/>
                  </a:lnTo>
                  <a:cubicBezTo>
                    <a:pt x="2821178" y="915416"/>
                    <a:pt x="2817368" y="919226"/>
                    <a:pt x="281266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812669" y="902208"/>
                  </a:lnTo>
                  <a:lnTo>
                    <a:pt x="2812669" y="910717"/>
                  </a:lnTo>
                  <a:lnTo>
                    <a:pt x="2804160" y="910717"/>
                  </a:lnTo>
                  <a:lnTo>
                    <a:pt x="2804160" y="8509"/>
                  </a:lnTo>
                  <a:lnTo>
                    <a:pt x="2812669" y="8509"/>
                  </a:lnTo>
                  <a:lnTo>
                    <a:pt x="2812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10186416" y="6236208"/>
            <a:ext cx="2103120" cy="676656"/>
            <a:chOff x="0" y="0"/>
            <a:chExt cx="2804160" cy="90220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1" r="0" b="-1056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38100"/>
              <a:ext cx="28041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Depot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12283183" y="6229855"/>
            <a:ext cx="2115817" cy="689353"/>
            <a:chOff x="0" y="0"/>
            <a:chExt cx="2821089" cy="919137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8509" y="8509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2F2"/>
            </a:solidFill>
          </p:spPr>
        </p:sp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2821178" cy="919226"/>
            </a:xfrm>
            <a:custGeom>
              <a:avLst/>
              <a:gdLst/>
              <a:ahLst/>
              <a:cxnLst/>
              <a:rect r="r" b="b" t="t" l="l"/>
              <a:pathLst>
                <a:path h="919226" w="2821178">
                  <a:moveTo>
                    <a:pt x="8509" y="0"/>
                  </a:moveTo>
                  <a:lnTo>
                    <a:pt x="2812669" y="0"/>
                  </a:lnTo>
                  <a:cubicBezTo>
                    <a:pt x="2817368" y="0"/>
                    <a:pt x="2821178" y="3810"/>
                    <a:pt x="2821178" y="8509"/>
                  </a:cubicBezTo>
                  <a:lnTo>
                    <a:pt x="2821178" y="910717"/>
                  </a:lnTo>
                  <a:cubicBezTo>
                    <a:pt x="2821178" y="915416"/>
                    <a:pt x="2817368" y="919226"/>
                    <a:pt x="281266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812669" y="902208"/>
                  </a:lnTo>
                  <a:lnTo>
                    <a:pt x="2812669" y="910717"/>
                  </a:lnTo>
                  <a:lnTo>
                    <a:pt x="2804160" y="910717"/>
                  </a:lnTo>
                  <a:lnTo>
                    <a:pt x="2804160" y="8509"/>
                  </a:lnTo>
                  <a:lnTo>
                    <a:pt x="2812669" y="8509"/>
                  </a:lnTo>
                  <a:lnTo>
                    <a:pt x="2812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212" id="212"/>
          <p:cNvGrpSpPr/>
          <p:nvPr/>
        </p:nvGrpSpPr>
        <p:grpSpPr>
          <a:xfrm rot="0">
            <a:off x="12289536" y="6236208"/>
            <a:ext cx="2103120" cy="676656"/>
            <a:chOff x="0" y="0"/>
            <a:chExt cx="2804160" cy="902208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1" r="0" b="-1056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38100"/>
              <a:ext cx="28041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City A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14386303" y="6229855"/>
            <a:ext cx="1622041" cy="689353"/>
            <a:chOff x="0" y="0"/>
            <a:chExt cx="2162721" cy="919137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8509" y="8509"/>
              <a:ext cx="2145792" cy="902208"/>
            </a:xfrm>
            <a:custGeom>
              <a:avLst/>
              <a:gdLst/>
              <a:ahLst/>
              <a:cxnLst/>
              <a:rect r="r" b="b" t="t" l="l"/>
              <a:pathLst>
                <a:path h="902208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2F2"/>
            </a:solidFill>
          </p:spPr>
        </p:sp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2162810" cy="919226"/>
            </a:xfrm>
            <a:custGeom>
              <a:avLst/>
              <a:gdLst/>
              <a:ahLst/>
              <a:cxnLst/>
              <a:rect r="r" b="b" t="t" l="l"/>
              <a:pathLst>
                <a:path h="919226" w="2162810">
                  <a:moveTo>
                    <a:pt x="8509" y="0"/>
                  </a:moveTo>
                  <a:lnTo>
                    <a:pt x="2154301" y="0"/>
                  </a:lnTo>
                  <a:cubicBezTo>
                    <a:pt x="2159000" y="0"/>
                    <a:pt x="2162810" y="3810"/>
                    <a:pt x="2162810" y="8509"/>
                  </a:cubicBezTo>
                  <a:lnTo>
                    <a:pt x="2162810" y="910717"/>
                  </a:lnTo>
                  <a:cubicBezTo>
                    <a:pt x="2162810" y="915416"/>
                    <a:pt x="2159000" y="919226"/>
                    <a:pt x="2154301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154301" y="902208"/>
                  </a:lnTo>
                  <a:lnTo>
                    <a:pt x="2154301" y="910717"/>
                  </a:lnTo>
                  <a:lnTo>
                    <a:pt x="2145792" y="910717"/>
                  </a:lnTo>
                  <a:lnTo>
                    <a:pt x="2145792" y="8509"/>
                  </a:lnTo>
                  <a:lnTo>
                    <a:pt x="2154301" y="8509"/>
                  </a:lnTo>
                  <a:lnTo>
                    <a:pt x="215430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14392656" y="6236208"/>
            <a:ext cx="1609344" cy="676656"/>
            <a:chOff x="0" y="0"/>
            <a:chExt cx="2145792" cy="902208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2145792" cy="902208"/>
            </a:xfrm>
            <a:custGeom>
              <a:avLst/>
              <a:gdLst/>
              <a:ahLst/>
              <a:cxnLst/>
              <a:rect r="r" b="b" t="t" l="l"/>
              <a:pathLst>
                <a:path h="902208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5" t="0" r="-3945" b="0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38100"/>
              <a:ext cx="2145792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10.0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15995647" y="6229855"/>
            <a:ext cx="1384297" cy="689353"/>
            <a:chOff x="0" y="0"/>
            <a:chExt cx="1845729" cy="919137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8509" y="8509"/>
              <a:ext cx="1828800" cy="902208"/>
            </a:xfrm>
            <a:custGeom>
              <a:avLst/>
              <a:gdLst/>
              <a:ahLst/>
              <a:cxnLst/>
              <a:rect r="r" b="b" t="t" l="l"/>
              <a:pathLst>
                <a:path h="90220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2F2"/>
            </a:solidFill>
          </p:spPr>
        </p:sp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1845818" cy="919226"/>
            </a:xfrm>
            <a:custGeom>
              <a:avLst/>
              <a:gdLst/>
              <a:ahLst/>
              <a:cxnLst/>
              <a:rect r="r" b="b" t="t" l="l"/>
              <a:pathLst>
                <a:path h="919226" w="1845818">
                  <a:moveTo>
                    <a:pt x="8509" y="0"/>
                  </a:moveTo>
                  <a:lnTo>
                    <a:pt x="1837309" y="0"/>
                  </a:lnTo>
                  <a:cubicBezTo>
                    <a:pt x="1842008" y="0"/>
                    <a:pt x="1845818" y="3810"/>
                    <a:pt x="1845818" y="8509"/>
                  </a:cubicBezTo>
                  <a:lnTo>
                    <a:pt x="1845818" y="910717"/>
                  </a:lnTo>
                  <a:cubicBezTo>
                    <a:pt x="1845818" y="915416"/>
                    <a:pt x="1842008" y="919226"/>
                    <a:pt x="183730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1837309" y="902208"/>
                  </a:lnTo>
                  <a:lnTo>
                    <a:pt x="1837309" y="910717"/>
                  </a:lnTo>
                  <a:lnTo>
                    <a:pt x="1828800" y="910717"/>
                  </a:lnTo>
                  <a:lnTo>
                    <a:pt x="1828800" y="8509"/>
                  </a:lnTo>
                  <a:lnTo>
                    <a:pt x="1837309" y="8509"/>
                  </a:lnTo>
                  <a:lnTo>
                    <a:pt x="1837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224" id="224"/>
          <p:cNvGrpSpPr/>
          <p:nvPr/>
        </p:nvGrpSpPr>
        <p:grpSpPr>
          <a:xfrm rot="0">
            <a:off x="16002000" y="6236208"/>
            <a:ext cx="1371600" cy="676656"/>
            <a:chOff x="0" y="0"/>
            <a:chExt cx="1828800" cy="902208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1828800" cy="902208"/>
            </a:xfrm>
            <a:custGeom>
              <a:avLst/>
              <a:gdLst/>
              <a:ahLst/>
              <a:cxnLst/>
              <a:rect r="r" b="b" t="t" l="l"/>
              <a:pathLst>
                <a:path h="90220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96" t="0" r="-13296" b="0"/>
              </a:stretch>
            </a:blipFill>
          </p:spPr>
        </p:sp>
        <p:sp>
          <p:nvSpPr>
            <p:cNvPr name="TextBox 226" id="226"/>
            <p:cNvSpPr txBox="true"/>
            <p:nvPr/>
          </p:nvSpPr>
          <p:spPr>
            <a:xfrm>
              <a:off x="0" y="-38100"/>
              <a:ext cx="182880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8B20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 Skip</a:t>
              </a:r>
            </a:p>
          </p:txBody>
        </p:sp>
      </p:grpSp>
      <p:grpSp>
        <p:nvGrpSpPr>
          <p:cNvPr name="Group 227" id="227"/>
          <p:cNvGrpSpPr/>
          <p:nvPr/>
        </p:nvGrpSpPr>
        <p:grpSpPr>
          <a:xfrm rot="0">
            <a:off x="9539983" y="6906511"/>
            <a:ext cx="652777" cy="689353"/>
            <a:chOff x="0" y="0"/>
            <a:chExt cx="870369" cy="919137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8509" y="8509"/>
              <a:ext cx="853440" cy="902208"/>
            </a:xfrm>
            <a:custGeom>
              <a:avLst/>
              <a:gdLst/>
              <a:ahLst/>
              <a:cxnLst/>
              <a:rect r="r" b="b" t="t" l="l"/>
              <a:pathLst>
                <a:path h="90220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2F2"/>
            </a:solidFill>
          </p:spPr>
        </p:sp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870458" cy="919226"/>
            </a:xfrm>
            <a:custGeom>
              <a:avLst/>
              <a:gdLst/>
              <a:ahLst/>
              <a:cxnLst/>
              <a:rect r="r" b="b" t="t" l="l"/>
              <a:pathLst>
                <a:path h="919226" w="870458">
                  <a:moveTo>
                    <a:pt x="8509" y="0"/>
                  </a:moveTo>
                  <a:lnTo>
                    <a:pt x="861949" y="0"/>
                  </a:lnTo>
                  <a:cubicBezTo>
                    <a:pt x="866648" y="0"/>
                    <a:pt x="870458" y="3810"/>
                    <a:pt x="870458" y="8509"/>
                  </a:cubicBezTo>
                  <a:lnTo>
                    <a:pt x="870458" y="910717"/>
                  </a:lnTo>
                  <a:cubicBezTo>
                    <a:pt x="870458" y="915416"/>
                    <a:pt x="866648" y="919226"/>
                    <a:pt x="86194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861949" y="902208"/>
                  </a:lnTo>
                  <a:lnTo>
                    <a:pt x="861949" y="910717"/>
                  </a:lnTo>
                  <a:lnTo>
                    <a:pt x="853440" y="910717"/>
                  </a:lnTo>
                  <a:lnTo>
                    <a:pt x="853440" y="8509"/>
                  </a:lnTo>
                  <a:lnTo>
                    <a:pt x="861949" y="8509"/>
                  </a:lnTo>
                  <a:lnTo>
                    <a:pt x="861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230" id="230"/>
          <p:cNvGrpSpPr/>
          <p:nvPr/>
        </p:nvGrpSpPr>
        <p:grpSpPr>
          <a:xfrm rot="0">
            <a:off x="9546336" y="6912864"/>
            <a:ext cx="640080" cy="676656"/>
            <a:chOff x="0" y="0"/>
            <a:chExt cx="853440" cy="902208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853440" cy="902208"/>
            </a:xfrm>
            <a:custGeom>
              <a:avLst/>
              <a:gdLst/>
              <a:ahLst/>
              <a:cxnLst/>
              <a:rect r="r" b="b" t="t" l="l"/>
              <a:pathLst>
                <a:path h="90220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635" t="0" r="-85635" b="0"/>
              </a:stretch>
            </a:blipFill>
          </p:spPr>
        </p:sp>
        <p:sp>
          <p:nvSpPr>
            <p:cNvPr name="TextBox 232" id="232"/>
            <p:cNvSpPr txBox="true"/>
            <p:nvPr/>
          </p:nvSpPr>
          <p:spPr>
            <a:xfrm>
              <a:off x="0" y="-38100"/>
              <a:ext cx="85344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233" id="233"/>
          <p:cNvGrpSpPr/>
          <p:nvPr/>
        </p:nvGrpSpPr>
        <p:grpSpPr>
          <a:xfrm rot="0">
            <a:off x="10180063" y="6906511"/>
            <a:ext cx="2115817" cy="689353"/>
            <a:chOff x="0" y="0"/>
            <a:chExt cx="2821089" cy="919137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8509" y="8509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2F2"/>
            </a:solidFill>
          </p:spPr>
        </p:sp>
        <p:sp>
          <p:nvSpPr>
            <p:cNvPr name="Freeform 235" id="235"/>
            <p:cNvSpPr/>
            <p:nvPr/>
          </p:nvSpPr>
          <p:spPr>
            <a:xfrm flipH="false" flipV="false" rot="0">
              <a:off x="0" y="0"/>
              <a:ext cx="2821178" cy="919226"/>
            </a:xfrm>
            <a:custGeom>
              <a:avLst/>
              <a:gdLst/>
              <a:ahLst/>
              <a:cxnLst/>
              <a:rect r="r" b="b" t="t" l="l"/>
              <a:pathLst>
                <a:path h="919226" w="2821178">
                  <a:moveTo>
                    <a:pt x="8509" y="0"/>
                  </a:moveTo>
                  <a:lnTo>
                    <a:pt x="2812669" y="0"/>
                  </a:lnTo>
                  <a:cubicBezTo>
                    <a:pt x="2817368" y="0"/>
                    <a:pt x="2821178" y="3810"/>
                    <a:pt x="2821178" y="8509"/>
                  </a:cubicBezTo>
                  <a:lnTo>
                    <a:pt x="2821178" y="910717"/>
                  </a:lnTo>
                  <a:cubicBezTo>
                    <a:pt x="2821178" y="915416"/>
                    <a:pt x="2817368" y="919226"/>
                    <a:pt x="281266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812669" y="902208"/>
                  </a:lnTo>
                  <a:lnTo>
                    <a:pt x="2812669" y="910717"/>
                  </a:lnTo>
                  <a:lnTo>
                    <a:pt x="2804160" y="910717"/>
                  </a:lnTo>
                  <a:lnTo>
                    <a:pt x="2804160" y="8509"/>
                  </a:lnTo>
                  <a:lnTo>
                    <a:pt x="2812669" y="8509"/>
                  </a:lnTo>
                  <a:lnTo>
                    <a:pt x="2812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0186416" y="6912864"/>
            <a:ext cx="2103120" cy="676656"/>
            <a:chOff x="0" y="0"/>
            <a:chExt cx="2804160" cy="902208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1" r="0" b="-1056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-38100"/>
              <a:ext cx="28041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City A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12283183" y="6906511"/>
            <a:ext cx="2115817" cy="689353"/>
            <a:chOff x="0" y="0"/>
            <a:chExt cx="2821089" cy="919137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8509" y="8509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2F2"/>
            </a:solidFill>
          </p:spPr>
        </p:sp>
        <p:sp>
          <p:nvSpPr>
            <p:cNvPr name="Freeform 241" id="241"/>
            <p:cNvSpPr/>
            <p:nvPr/>
          </p:nvSpPr>
          <p:spPr>
            <a:xfrm flipH="false" flipV="false" rot="0">
              <a:off x="0" y="0"/>
              <a:ext cx="2821178" cy="919226"/>
            </a:xfrm>
            <a:custGeom>
              <a:avLst/>
              <a:gdLst/>
              <a:ahLst/>
              <a:cxnLst/>
              <a:rect r="r" b="b" t="t" l="l"/>
              <a:pathLst>
                <a:path h="919226" w="2821178">
                  <a:moveTo>
                    <a:pt x="8509" y="0"/>
                  </a:moveTo>
                  <a:lnTo>
                    <a:pt x="2812669" y="0"/>
                  </a:lnTo>
                  <a:cubicBezTo>
                    <a:pt x="2817368" y="0"/>
                    <a:pt x="2821178" y="3810"/>
                    <a:pt x="2821178" y="8509"/>
                  </a:cubicBezTo>
                  <a:lnTo>
                    <a:pt x="2821178" y="910717"/>
                  </a:lnTo>
                  <a:cubicBezTo>
                    <a:pt x="2821178" y="915416"/>
                    <a:pt x="2817368" y="919226"/>
                    <a:pt x="281266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812669" y="902208"/>
                  </a:lnTo>
                  <a:lnTo>
                    <a:pt x="2812669" y="910717"/>
                  </a:lnTo>
                  <a:lnTo>
                    <a:pt x="2804160" y="910717"/>
                  </a:lnTo>
                  <a:lnTo>
                    <a:pt x="2804160" y="8509"/>
                  </a:lnTo>
                  <a:lnTo>
                    <a:pt x="2812669" y="8509"/>
                  </a:lnTo>
                  <a:lnTo>
                    <a:pt x="2812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242" id="242"/>
          <p:cNvGrpSpPr/>
          <p:nvPr/>
        </p:nvGrpSpPr>
        <p:grpSpPr>
          <a:xfrm rot="0">
            <a:off x="12289536" y="6912864"/>
            <a:ext cx="2103120" cy="676656"/>
            <a:chOff x="0" y="0"/>
            <a:chExt cx="2804160" cy="902208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2804160" cy="902208"/>
            </a:xfrm>
            <a:custGeom>
              <a:avLst/>
              <a:gdLst/>
              <a:ahLst/>
              <a:cxnLst/>
              <a:rect r="r" b="b" t="t" l="l"/>
              <a:pathLst>
                <a:path h="902208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1" r="0" b="-10561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-38100"/>
              <a:ext cx="280416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City C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14386303" y="6906511"/>
            <a:ext cx="1622041" cy="689353"/>
            <a:chOff x="0" y="0"/>
            <a:chExt cx="2162721" cy="919137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8509" y="8509"/>
              <a:ext cx="2145792" cy="902208"/>
            </a:xfrm>
            <a:custGeom>
              <a:avLst/>
              <a:gdLst/>
              <a:ahLst/>
              <a:cxnLst/>
              <a:rect r="r" b="b" t="t" l="l"/>
              <a:pathLst>
                <a:path h="902208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2F2"/>
            </a:solidFill>
          </p:spPr>
        </p:sp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2162810" cy="919226"/>
            </a:xfrm>
            <a:custGeom>
              <a:avLst/>
              <a:gdLst/>
              <a:ahLst/>
              <a:cxnLst/>
              <a:rect r="r" b="b" t="t" l="l"/>
              <a:pathLst>
                <a:path h="919226" w="2162810">
                  <a:moveTo>
                    <a:pt x="8509" y="0"/>
                  </a:moveTo>
                  <a:lnTo>
                    <a:pt x="2154301" y="0"/>
                  </a:lnTo>
                  <a:cubicBezTo>
                    <a:pt x="2159000" y="0"/>
                    <a:pt x="2162810" y="3810"/>
                    <a:pt x="2162810" y="8509"/>
                  </a:cubicBezTo>
                  <a:lnTo>
                    <a:pt x="2162810" y="910717"/>
                  </a:lnTo>
                  <a:cubicBezTo>
                    <a:pt x="2162810" y="915416"/>
                    <a:pt x="2159000" y="919226"/>
                    <a:pt x="2154301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2154301" y="902208"/>
                  </a:lnTo>
                  <a:lnTo>
                    <a:pt x="2154301" y="910717"/>
                  </a:lnTo>
                  <a:lnTo>
                    <a:pt x="2145792" y="910717"/>
                  </a:lnTo>
                  <a:lnTo>
                    <a:pt x="2145792" y="8509"/>
                  </a:lnTo>
                  <a:lnTo>
                    <a:pt x="2154301" y="8509"/>
                  </a:lnTo>
                  <a:lnTo>
                    <a:pt x="215430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248" id="248"/>
          <p:cNvGrpSpPr/>
          <p:nvPr/>
        </p:nvGrpSpPr>
        <p:grpSpPr>
          <a:xfrm rot="0">
            <a:off x="14392656" y="6912864"/>
            <a:ext cx="1609344" cy="676656"/>
            <a:chOff x="0" y="0"/>
            <a:chExt cx="2145792" cy="902208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2145792" cy="902208"/>
            </a:xfrm>
            <a:custGeom>
              <a:avLst/>
              <a:gdLst/>
              <a:ahLst/>
              <a:cxnLst/>
              <a:rect r="r" b="b" t="t" l="l"/>
              <a:pathLst>
                <a:path h="902208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5" t="0" r="-3945" b="0"/>
              </a:stretch>
            </a:blipFill>
          </p:spPr>
        </p:sp>
        <p:sp>
          <p:nvSpPr>
            <p:cNvPr name="TextBox 250" id="250"/>
            <p:cNvSpPr txBox="true"/>
            <p:nvPr/>
          </p:nvSpPr>
          <p:spPr>
            <a:xfrm>
              <a:off x="0" y="-38100"/>
              <a:ext cx="2145792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A5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15.0</a:t>
              </a:r>
            </a:p>
          </p:txBody>
        </p:sp>
      </p:grpSp>
      <p:grpSp>
        <p:nvGrpSpPr>
          <p:cNvPr name="Group 251" id="251"/>
          <p:cNvGrpSpPr/>
          <p:nvPr/>
        </p:nvGrpSpPr>
        <p:grpSpPr>
          <a:xfrm rot="0">
            <a:off x="15995647" y="6906511"/>
            <a:ext cx="1384297" cy="689353"/>
            <a:chOff x="0" y="0"/>
            <a:chExt cx="1845729" cy="919137"/>
          </a:xfrm>
        </p:grpSpPr>
        <p:sp>
          <p:nvSpPr>
            <p:cNvPr name="Freeform 252" id="252"/>
            <p:cNvSpPr/>
            <p:nvPr/>
          </p:nvSpPr>
          <p:spPr>
            <a:xfrm flipH="false" flipV="false" rot="0">
              <a:off x="8509" y="8509"/>
              <a:ext cx="1828800" cy="902208"/>
            </a:xfrm>
            <a:custGeom>
              <a:avLst/>
              <a:gdLst/>
              <a:ahLst/>
              <a:cxnLst/>
              <a:rect r="r" b="b" t="t" l="l"/>
              <a:pathLst>
                <a:path h="90220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FFF2F2"/>
            </a:solidFill>
          </p:spPr>
        </p:sp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1845818" cy="919226"/>
            </a:xfrm>
            <a:custGeom>
              <a:avLst/>
              <a:gdLst/>
              <a:ahLst/>
              <a:cxnLst/>
              <a:rect r="r" b="b" t="t" l="l"/>
              <a:pathLst>
                <a:path h="919226" w="1845818">
                  <a:moveTo>
                    <a:pt x="8509" y="0"/>
                  </a:moveTo>
                  <a:lnTo>
                    <a:pt x="1837309" y="0"/>
                  </a:lnTo>
                  <a:cubicBezTo>
                    <a:pt x="1842008" y="0"/>
                    <a:pt x="1845818" y="3810"/>
                    <a:pt x="1845818" y="8509"/>
                  </a:cubicBezTo>
                  <a:lnTo>
                    <a:pt x="1845818" y="910717"/>
                  </a:lnTo>
                  <a:cubicBezTo>
                    <a:pt x="1845818" y="915416"/>
                    <a:pt x="1842008" y="919226"/>
                    <a:pt x="1837309" y="919226"/>
                  </a:cubicBezTo>
                  <a:lnTo>
                    <a:pt x="8509" y="919226"/>
                  </a:lnTo>
                  <a:cubicBezTo>
                    <a:pt x="3810" y="919226"/>
                    <a:pt x="0" y="915416"/>
                    <a:pt x="0" y="910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10717"/>
                  </a:lnTo>
                  <a:lnTo>
                    <a:pt x="8509" y="910717"/>
                  </a:lnTo>
                  <a:lnTo>
                    <a:pt x="8509" y="902208"/>
                  </a:lnTo>
                  <a:lnTo>
                    <a:pt x="1837309" y="902208"/>
                  </a:lnTo>
                  <a:lnTo>
                    <a:pt x="1837309" y="910717"/>
                  </a:lnTo>
                  <a:lnTo>
                    <a:pt x="1828800" y="910717"/>
                  </a:lnTo>
                  <a:lnTo>
                    <a:pt x="1828800" y="8509"/>
                  </a:lnTo>
                  <a:lnTo>
                    <a:pt x="1837309" y="8509"/>
                  </a:lnTo>
                  <a:lnTo>
                    <a:pt x="1837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E8F0"/>
            </a:solidFill>
          </p:spPr>
        </p:sp>
      </p:grpSp>
      <p:grpSp>
        <p:nvGrpSpPr>
          <p:cNvPr name="Group 254" id="254"/>
          <p:cNvGrpSpPr/>
          <p:nvPr/>
        </p:nvGrpSpPr>
        <p:grpSpPr>
          <a:xfrm rot="0">
            <a:off x="16002000" y="6912864"/>
            <a:ext cx="1371600" cy="676656"/>
            <a:chOff x="0" y="0"/>
            <a:chExt cx="1828800" cy="902208"/>
          </a:xfrm>
        </p:grpSpPr>
        <p:sp>
          <p:nvSpPr>
            <p:cNvPr name="Freeform 255" id="255"/>
            <p:cNvSpPr/>
            <p:nvPr/>
          </p:nvSpPr>
          <p:spPr>
            <a:xfrm flipH="false" flipV="false" rot="0">
              <a:off x="0" y="0"/>
              <a:ext cx="1828800" cy="902208"/>
            </a:xfrm>
            <a:custGeom>
              <a:avLst/>
              <a:gdLst/>
              <a:ahLst/>
              <a:cxnLst/>
              <a:rect r="r" b="b" t="t" l="l"/>
              <a:pathLst>
                <a:path h="90220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96" t="0" r="-13296" b="0"/>
              </a:stretch>
            </a:blipFill>
          </p:spPr>
        </p:sp>
        <p:sp>
          <p:nvSpPr>
            <p:cNvPr name="TextBox 256" id="256"/>
            <p:cNvSpPr txBox="true"/>
            <p:nvPr/>
          </p:nvSpPr>
          <p:spPr>
            <a:xfrm>
              <a:off x="0" y="-38100"/>
              <a:ext cx="182880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8B20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 Skip</a:t>
              </a:r>
            </a:p>
          </p:txBody>
        </p:sp>
      </p:grpSp>
      <p:grpSp>
        <p:nvGrpSpPr>
          <p:cNvPr name="Group 257" id="257"/>
          <p:cNvGrpSpPr/>
          <p:nvPr/>
        </p:nvGrpSpPr>
        <p:grpSpPr>
          <a:xfrm rot="0">
            <a:off x="9533639" y="7576823"/>
            <a:ext cx="7450331" cy="720347"/>
            <a:chOff x="0" y="0"/>
            <a:chExt cx="9933775" cy="960463"/>
          </a:xfrm>
        </p:grpSpPr>
        <p:sp>
          <p:nvSpPr>
            <p:cNvPr name="Freeform 258" id="258"/>
            <p:cNvSpPr/>
            <p:nvPr/>
          </p:nvSpPr>
          <p:spPr>
            <a:xfrm flipH="false" flipV="false" rot="0">
              <a:off x="16891" y="16891"/>
              <a:ext cx="9899904" cy="926592"/>
            </a:xfrm>
            <a:custGeom>
              <a:avLst/>
              <a:gdLst/>
              <a:ahLst/>
              <a:cxnLst/>
              <a:rect r="r" b="b" t="t" l="l"/>
              <a:pathLst>
                <a:path h="926592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9933686" cy="960376"/>
            </a:xfrm>
            <a:custGeom>
              <a:avLst/>
              <a:gdLst/>
              <a:ahLst/>
              <a:cxnLst/>
              <a:rect r="r" b="b" t="t" l="l"/>
              <a:pathLst>
                <a:path h="960376" w="9933686">
                  <a:moveTo>
                    <a:pt x="16891" y="0"/>
                  </a:moveTo>
                  <a:lnTo>
                    <a:pt x="9916795" y="0"/>
                  </a:lnTo>
                  <a:cubicBezTo>
                    <a:pt x="9926193" y="0"/>
                    <a:pt x="9933686" y="7620"/>
                    <a:pt x="9933686" y="16891"/>
                  </a:cubicBezTo>
                  <a:lnTo>
                    <a:pt x="9933686" y="943483"/>
                  </a:lnTo>
                  <a:cubicBezTo>
                    <a:pt x="9933686" y="952881"/>
                    <a:pt x="9926065" y="960374"/>
                    <a:pt x="9916795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9916795" y="926592"/>
                  </a:lnTo>
                  <a:lnTo>
                    <a:pt x="9916795" y="943483"/>
                  </a:lnTo>
                  <a:lnTo>
                    <a:pt x="9899903" y="943483"/>
                  </a:lnTo>
                  <a:lnTo>
                    <a:pt x="9899903" y="16891"/>
                  </a:lnTo>
                  <a:lnTo>
                    <a:pt x="9916795" y="16891"/>
                  </a:lnTo>
                  <a:lnTo>
                    <a:pt x="99167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9546336" y="7589520"/>
            <a:ext cx="7424928" cy="694944"/>
            <a:chOff x="0" y="0"/>
            <a:chExt cx="9899904" cy="926592"/>
          </a:xfrm>
        </p:grpSpPr>
        <p:sp>
          <p:nvSpPr>
            <p:cNvPr name="Freeform 261" id="261"/>
            <p:cNvSpPr/>
            <p:nvPr/>
          </p:nvSpPr>
          <p:spPr>
            <a:xfrm flipH="false" flipV="false" rot="0">
              <a:off x="0" y="0"/>
              <a:ext cx="9899904" cy="926592"/>
            </a:xfrm>
            <a:custGeom>
              <a:avLst/>
              <a:gdLst/>
              <a:ahLst/>
              <a:cxnLst/>
              <a:rect r="r" b="b" t="t" l="l"/>
              <a:pathLst>
                <a:path h="926592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82" r="0" b="-158182"/>
              </a:stretch>
            </a:blipFill>
          </p:spPr>
        </p:sp>
        <p:sp>
          <p:nvSpPr>
            <p:cNvPr name="TextBox 262" id="262"/>
            <p:cNvSpPr txBox="true"/>
            <p:nvPr/>
          </p:nvSpPr>
          <p:spPr>
            <a:xfrm>
              <a:off x="0" y="-38100"/>
              <a:ext cx="989990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Total MST weight:  25.0   |   4 edges  |   All 5 cities connected ✓</a:t>
              </a:r>
            </a:p>
          </p:txBody>
        </p:sp>
      </p:grpSp>
      <p:grpSp>
        <p:nvGrpSpPr>
          <p:cNvPr name="Group 263" id="263"/>
          <p:cNvGrpSpPr/>
          <p:nvPr/>
        </p:nvGrpSpPr>
        <p:grpSpPr>
          <a:xfrm rot="0">
            <a:off x="9533639" y="8619239"/>
            <a:ext cx="7450331" cy="720347"/>
            <a:chOff x="0" y="0"/>
            <a:chExt cx="9933775" cy="960463"/>
          </a:xfrm>
        </p:grpSpPr>
        <p:sp>
          <p:nvSpPr>
            <p:cNvPr name="Freeform 264" id="264"/>
            <p:cNvSpPr/>
            <p:nvPr/>
          </p:nvSpPr>
          <p:spPr>
            <a:xfrm flipH="false" flipV="false" rot="0">
              <a:off x="16891" y="16891"/>
              <a:ext cx="9899904" cy="926592"/>
            </a:xfrm>
            <a:custGeom>
              <a:avLst/>
              <a:gdLst/>
              <a:ahLst/>
              <a:cxnLst/>
              <a:rect r="r" b="b" t="t" l="l"/>
              <a:pathLst>
                <a:path h="926592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8F4FF"/>
            </a:solidFill>
          </p:spPr>
        </p:sp>
        <p:sp>
          <p:nvSpPr>
            <p:cNvPr name="Freeform 265" id="265"/>
            <p:cNvSpPr/>
            <p:nvPr/>
          </p:nvSpPr>
          <p:spPr>
            <a:xfrm flipH="false" flipV="false" rot="0">
              <a:off x="0" y="0"/>
              <a:ext cx="9933686" cy="960376"/>
            </a:xfrm>
            <a:custGeom>
              <a:avLst/>
              <a:gdLst/>
              <a:ahLst/>
              <a:cxnLst/>
              <a:rect r="r" b="b" t="t" l="l"/>
              <a:pathLst>
                <a:path h="960376" w="9933686">
                  <a:moveTo>
                    <a:pt x="16891" y="0"/>
                  </a:moveTo>
                  <a:lnTo>
                    <a:pt x="9916795" y="0"/>
                  </a:lnTo>
                  <a:cubicBezTo>
                    <a:pt x="9926193" y="0"/>
                    <a:pt x="9933686" y="7620"/>
                    <a:pt x="9933686" y="16891"/>
                  </a:cubicBezTo>
                  <a:lnTo>
                    <a:pt x="9933686" y="943483"/>
                  </a:lnTo>
                  <a:cubicBezTo>
                    <a:pt x="9933686" y="952881"/>
                    <a:pt x="9926065" y="960374"/>
                    <a:pt x="9916795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9916795" y="926592"/>
                  </a:lnTo>
                  <a:lnTo>
                    <a:pt x="9916795" y="943483"/>
                  </a:lnTo>
                  <a:lnTo>
                    <a:pt x="9899903" y="943483"/>
                  </a:lnTo>
                  <a:lnTo>
                    <a:pt x="9899903" y="16891"/>
                  </a:lnTo>
                  <a:lnTo>
                    <a:pt x="9916795" y="16891"/>
                  </a:lnTo>
                  <a:lnTo>
                    <a:pt x="99167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266" id="266"/>
          <p:cNvGrpSpPr/>
          <p:nvPr/>
        </p:nvGrpSpPr>
        <p:grpSpPr>
          <a:xfrm rot="0">
            <a:off x="9656064" y="8686800"/>
            <a:ext cx="7223760" cy="585216"/>
            <a:chOff x="0" y="0"/>
            <a:chExt cx="9631680" cy="780288"/>
          </a:xfrm>
        </p:grpSpPr>
        <p:sp>
          <p:nvSpPr>
            <p:cNvPr name="Freeform 267" id="267"/>
            <p:cNvSpPr/>
            <p:nvPr/>
          </p:nvSpPr>
          <p:spPr>
            <a:xfrm flipH="false" flipV="false" rot="0">
              <a:off x="0" y="0"/>
              <a:ext cx="9631680" cy="780288"/>
            </a:xfrm>
            <a:custGeom>
              <a:avLst/>
              <a:gdLst/>
              <a:ahLst/>
              <a:cxnLst/>
              <a:rect r="r" b="b" t="t" l="l"/>
              <a:pathLst>
                <a:path h="780288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518" r="0" b="-190518"/>
              </a:stretch>
            </a:blipFill>
          </p:spPr>
        </p:sp>
        <p:sp>
          <p:nvSpPr>
            <p:cNvPr name="TextBox 268" id="268"/>
            <p:cNvSpPr txBox="true"/>
            <p:nvPr/>
          </p:nvSpPr>
          <p:spPr>
            <a:xfrm>
              <a:off x="0" y="-38100"/>
              <a:ext cx="96316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A7E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Complexity:  O(E log E)  —  dominated by the sort step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12064"/>
            <a:ext cx="16642080" cy="1060704"/>
            <a:chOff x="0" y="0"/>
            <a:chExt cx="22189440" cy="14142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89439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713" r="0" b="-2557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22189440" cy="15190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Sort — Package Ordering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3910" y="1901190"/>
            <a:ext cx="5433060" cy="2506980"/>
            <a:chOff x="0" y="0"/>
            <a:chExt cx="7244080" cy="3342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25400"/>
              <a:ext cx="71932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44080" cy="3342640"/>
            </a:xfrm>
            <a:custGeom>
              <a:avLst/>
              <a:gdLst/>
              <a:ahLst/>
              <a:cxnLst/>
              <a:rect r="r" b="b" t="t" l="l"/>
              <a:pathLst>
                <a:path h="3342640" w="7244080">
                  <a:moveTo>
                    <a:pt x="25400" y="0"/>
                  </a:moveTo>
                  <a:lnTo>
                    <a:pt x="7218680" y="0"/>
                  </a:lnTo>
                  <a:cubicBezTo>
                    <a:pt x="7232650" y="0"/>
                    <a:pt x="7244080" y="11430"/>
                    <a:pt x="7244080" y="25400"/>
                  </a:cubicBezTo>
                  <a:lnTo>
                    <a:pt x="7244080" y="3317240"/>
                  </a:lnTo>
                  <a:cubicBezTo>
                    <a:pt x="7244080" y="3331210"/>
                    <a:pt x="7232650" y="3342640"/>
                    <a:pt x="7218680" y="3342640"/>
                  </a:cubicBezTo>
                  <a:lnTo>
                    <a:pt x="25400" y="3342640"/>
                  </a:lnTo>
                  <a:cubicBezTo>
                    <a:pt x="11430" y="3342640"/>
                    <a:pt x="0" y="3331210"/>
                    <a:pt x="0" y="33172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317240"/>
                  </a:lnTo>
                  <a:lnTo>
                    <a:pt x="25400" y="3317240"/>
                  </a:lnTo>
                  <a:lnTo>
                    <a:pt x="25400" y="3291840"/>
                  </a:lnTo>
                  <a:lnTo>
                    <a:pt x="7218680" y="3291840"/>
                  </a:lnTo>
                  <a:lnTo>
                    <a:pt x="7218680" y="3317240"/>
                  </a:lnTo>
                  <a:lnTo>
                    <a:pt x="7193280" y="3317240"/>
                  </a:lnTo>
                  <a:lnTo>
                    <a:pt x="7193280" y="25400"/>
                  </a:lnTo>
                  <a:lnTo>
                    <a:pt x="7218680" y="25400"/>
                  </a:lnTo>
                  <a:lnTo>
                    <a:pt x="7218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2A3D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10263" y="1907543"/>
            <a:ext cx="5420363" cy="153419"/>
            <a:chOff x="0" y="0"/>
            <a:chExt cx="7227151" cy="2045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193281" cy="170688"/>
            </a:xfrm>
            <a:custGeom>
              <a:avLst/>
              <a:gdLst/>
              <a:ahLst/>
              <a:cxnLst/>
              <a:rect r="r" b="b" t="t" l="l"/>
              <a:pathLst>
                <a:path h="170688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2A3D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27062" cy="204472"/>
            </a:xfrm>
            <a:custGeom>
              <a:avLst/>
              <a:gdLst/>
              <a:ahLst/>
              <a:cxnLst/>
              <a:rect r="r" b="b" t="t" l="l"/>
              <a:pathLst>
                <a:path h="20447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87579"/>
                  </a:lnTo>
                  <a:cubicBezTo>
                    <a:pt x="7227062" y="196977"/>
                    <a:pt x="7219442" y="204470"/>
                    <a:pt x="7210172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210172" y="170688"/>
                  </a:lnTo>
                  <a:lnTo>
                    <a:pt x="7210172" y="187579"/>
                  </a:lnTo>
                  <a:lnTo>
                    <a:pt x="7193280" y="187579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2A3D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52144" y="2157984"/>
            <a:ext cx="4791456" cy="694944"/>
            <a:chOff x="0" y="0"/>
            <a:chExt cx="6388608" cy="9265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88608" cy="926592"/>
            </a:xfrm>
            <a:custGeom>
              <a:avLst/>
              <a:gdLst/>
              <a:ahLst/>
              <a:cxnLst/>
              <a:rect r="r" b="b" t="t" l="l"/>
              <a:pathLst>
                <a:path h="926592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344" r="0" b="-8434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388608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By Weight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52144" y="2834640"/>
            <a:ext cx="4791456" cy="1316736"/>
            <a:chOff x="0" y="0"/>
            <a:chExt cx="6388608" cy="17556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88608" cy="1755648"/>
            </a:xfrm>
            <a:custGeom>
              <a:avLst/>
              <a:gdLst/>
              <a:ahLst/>
              <a:cxnLst/>
              <a:rect r="r" b="b" t="t" l="l"/>
              <a:pathLst>
                <a:path h="1755648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03" r="0" b="-2090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388608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Lightest first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plan load order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64630" y="1901190"/>
            <a:ext cx="5433060" cy="2506980"/>
            <a:chOff x="0" y="0"/>
            <a:chExt cx="7244080" cy="3342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5400" y="25400"/>
              <a:ext cx="71932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44080" cy="3342640"/>
            </a:xfrm>
            <a:custGeom>
              <a:avLst/>
              <a:gdLst/>
              <a:ahLst/>
              <a:cxnLst/>
              <a:rect r="r" b="b" t="t" l="l"/>
              <a:pathLst>
                <a:path h="3342640" w="7244080">
                  <a:moveTo>
                    <a:pt x="25400" y="0"/>
                  </a:moveTo>
                  <a:lnTo>
                    <a:pt x="7218680" y="0"/>
                  </a:lnTo>
                  <a:cubicBezTo>
                    <a:pt x="7232650" y="0"/>
                    <a:pt x="7244080" y="11430"/>
                    <a:pt x="7244080" y="25400"/>
                  </a:cubicBezTo>
                  <a:lnTo>
                    <a:pt x="7244080" y="3317240"/>
                  </a:lnTo>
                  <a:cubicBezTo>
                    <a:pt x="7244080" y="3331210"/>
                    <a:pt x="7232650" y="3342640"/>
                    <a:pt x="7218680" y="3342640"/>
                  </a:cubicBezTo>
                  <a:lnTo>
                    <a:pt x="25400" y="3342640"/>
                  </a:lnTo>
                  <a:cubicBezTo>
                    <a:pt x="11430" y="3342640"/>
                    <a:pt x="0" y="3331210"/>
                    <a:pt x="0" y="33172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317240"/>
                  </a:lnTo>
                  <a:lnTo>
                    <a:pt x="25400" y="3317240"/>
                  </a:lnTo>
                  <a:lnTo>
                    <a:pt x="25400" y="3291840"/>
                  </a:lnTo>
                  <a:lnTo>
                    <a:pt x="7218680" y="3291840"/>
                  </a:lnTo>
                  <a:lnTo>
                    <a:pt x="7218680" y="3317240"/>
                  </a:lnTo>
                  <a:lnTo>
                    <a:pt x="7193280" y="3317240"/>
                  </a:lnTo>
                  <a:lnTo>
                    <a:pt x="7193280" y="25400"/>
                  </a:lnTo>
                  <a:lnTo>
                    <a:pt x="7218680" y="25400"/>
                  </a:lnTo>
                  <a:lnTo>
                    <a:pt x="7218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6DD6A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70983" y="1907543"/>
            <a:ext cx="5420363" cy="153419"/>
            <a:chOff x="0" y="0"/>
            <a:chExt cx="7227151" cy="2045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7193281" cy="170688"/>
            </a:xfrm>
            <a:custGeom>
              <a:avLst/>
              <a:gdLst/>
              <a:ahLst/>
              <a:cxnLst/>
              <a:rect r="r" b="b" t="t" l="l"/>
              <a:pathLst>
                <a:path h="170688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6DD6A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27062" cy="204472"/>
            </a:xfrm>
            <a:custGeom>
              <a:avLst/>
              <a:gdLst/>
              <a:ahLst/>
              <a:cxnLst/>
              <a:rect r="r" b="b" t="t" l="l"/>
              <a:pathLst>
                <a:path h="20447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87579"/>
                  </a:lnTo>
                  <a:cubicBezTo>
                    <a:pt x="7227062" y="196977"/>
                    <a:pt x="7219442" y="204470"/>
                    <a:pt x="7210172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210172" y="170688"/>
                  </a:lnTo>
                  <a:lnTo>
                    <a:pt x="7210172" y="187579"/>
                  </a:lnTo>
                  <a:lnTo>
                    <a:pt x="7193280" y="187579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DD6A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912864" y="2157984"/>
            <a:ext cx="4791456" cy="694944"/>
            <a:chOff x="0" y="0"/>
            <a:chExt cx="6388608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88608" cy="926592"/>
            </a:xfrm>
            <a:custGeom>
              <a:avLst/>
              <a:gdLst/>
              <a:ahLst/>
              <a:cxnLst/>
              <a:rect r="r" b="b" t="t" l="l"/>
              <a:pathLst>
                <a:path h="926592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344" r="0" b="-8434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388608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By Profit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912864" y="2834640"/>
            <a:ext cx="4791456" cy="1316736"/>
            <a:chOff x="0" y="0"/>
            <a:chExt cx="6388608" cy="17556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88608" cy="1755648"/>
            </a:xfrm>
            <a:custGeom>
              <a:avLst/>
              <a:gdLst/>
              <a:ahLst/>
              <a:cxnLst/>
              <a:rect r="r" b="b" t="t" l="l"/>
              <a:pathLst>
                <a:path h="1755648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03" r="0" b="-2090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388608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Highest profit first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priority list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325350" y="1901190"/>
            <a:ext cx="5433060" cy="2506980"/>
            <a:chOff x="0" y="0"/>
            <a:chExt cx="7244080" cy="3342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25400"/>
              <a:ext cx="71932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244080" cy="3342640"/>
            </a:xfrm>
            <a:custGeom>
              <a:avLst/>
              <a:gdLst/>
              <a:ahLst/>
              <a:cxnLst/>
              <a:rect r="r" b="b" t="t" l="l"/>
              <a:pathLst>
                <a:path h="3342640" w="7244080">
                  <a:moveTo>
                    <a:pt x="25400" y="0"/>
                  </a:moveTo>
                  <a:lnTo>
                    <a:pt x="7218680" y="0"/>
                  </a:lnTo>
                  <a:cubicBezTo>
                    <a:pt x="7232650" y="0"/>
                    <a:pt x="7244080" y="11430"/>
                    <a:pt x="7244080" y="25400"/>
                  </a:cubicBezTo>
                  <a:lnTo>
                    <a:pt x="7244080" y="3317240"/>
                  </a:lnTo>
                  <a:cubicBezTo>
                    <a:pt x="7244080" y="3331210"/>
                    <a:pt x="7232650" y="3342640"/>
                    <a:pt x="7218680" y="3342640"/>
                  </a:cubicBezTo>
                  <a:lnTo>
                    <a:pt x="25400" y="3342640"/>
                  </a:lnTo>
                  <a:cubicBezTo>
                    <a:pt x="11430" y="3342640"/>
                    <a:pt x="0" y="3331210"/>
                    <a:pt x="0" y="33172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317240"/>
                  </a:lnTo>
                  <a:lnTo>
                    <a:pt x="25400" y="3317240"/>
                  </a:lnTo>
                  <a:lnTo>
                    <a:pt x="25400" y="3291840"/>
                  </a:lnTo>
                  <a:lnTo>
                    <a:pt x="7218680" y="3291840"/>
                  </a:lnTo>
                  <a:lnTo>
                    <a:pt x="7218680" y="3317240"/>
                  </a:lnTo>
                  <a:lnTo>
                    <a:pt x="7193280" y="3317240"/>
                  </a:lnTo>
                  <a:lnTo>
                    <a:pt x="7193280" y="25400"/>
                  </a:lnTo>
                  <a:lnTo>
                    <a:pt x="7218680" y="25400"/>
                  </a:lnTo>
                  <a:lnTo>
                    <a:pt x="7218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331703" y="1907543"/>
            <a:ext cx="5420363" cy="153419"/>
            <a:chOff x="0" y="0"/>
            <a:chExt cx="7227151" cy="2045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193281" cy="170688"/>
            </a:xfrm>
            <a:custGeom>
              <a:avLst/>
              <a:gdLst/>
              <a:ahLst/>
              <a:cxnLst/>
              <a:rect r="r" b="b" t="t" l="l"/>
              <a:pathLst>
                <a:path h="170688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27062" cy="204472"/>
            </a:xfrm>
            <a:custGeom>
              <a:avLst/>
              <a:gdLst/>
              <a:ahLst/>
              <a:cxnLst/>
              <a:rect r="r" b="b" t="t" l="l"/>
              <a:pathLst>
                <a:path h="20447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87579"/>
                  </a:lnTo>
                  <a:cubicBezTo>
                    <a:pt x="7227062" y="196977"/>
                    <a:pt x="7219442" y="204470"/>
                    <a:pt x="7210172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210172" y="170688"/>
                  </a:lnTo>
                  <a:lnTo>
                    <a:pt x="7210172" y="187579"/>
                  </a:lnTo>
                  <a:lnTo>
                    <a:pt x="7193280" y="187579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673584" y="2157984"/>
            <a:ext cx="4791456" cy="694944"/>
            <a:chOff x="0" y="0"/>
            <a:chExt cx="6388608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88608" cy="926592"/>
            </a:xfrm>
            <a:custGeom>
              <a:avLst/>
              <a:gdLst/>
              <a:ahLst/>
              <a:cxnLst/>
              <a:rect r="r" b="b" t="t" l="l"/>
              <a:pathLst>
                <a:path h="926592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344" r="0" b="-8434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6388608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By Ratio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673584" y="2834640"/>
            <a:ext cx="4791456" cy="1316736"/>
            <a:chOff x="0" y="0"/>
            <a:chExt cx="6388608" cy="17556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388608" cy="1755648"/>
            </a:xfrm>
            <a:custGeom>
              <a:avLst/>
              <a:gdLst/>
              <a:ahLst/>
              <a:cxnLst/>
              <a:rect r="r" b="b" t="t" l="l"/>
              <a:pathLst>
                <a:path h="1755648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03" r="0" b="-2090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388608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 $/kg first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greedy heuristic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10263" y="4650743"/>
            <a:ext cx="16667483" cy="2402843"/>
            <a:chOff x="0" y="0"/>
            <a:chExt cx="22223311" cy="32037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22189439" cy="3169920"/>
            </a:xfrm>
            <a:custGeom>
              <a:avLst/>
              <a:gdLst/>
              <a:ahLst/>
              <a:cxnLst/>
              <a:rect r="r" b="b" t="t" l="l"/>
              <a:pathLst>
                <a:path h="31699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223222" cy="3203702"/>
            </a:xfrm>
            <a:custGeom>
              <a:avLst/>
              <a:gdLst/>
              <a:ahLst/>
              <a:cxnLst/>
              <a:rect r="r" b="b" t="t" l="l"/>
              <a:pathLst>
                <a:path h="3203702" w="22223222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3186811"/>
                  </a:lnTo>
                  <a:cubicBezTo>
                    <a:pt x="22223222" y="3196209"/>
                    <a:pt x="22215602" y="3203702"/>
                    <a:pt x="22206330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22206330" y="3169920"/>
                  </a:lnTo>
                  <a:lnTo>
                    <a:pt x="22206330" y="3186811"/>
                  </a:lnTo>
                  <a:lnTo>
                    <a:pt x="22189439" y="318681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88720" y="4846320"/>
            <a:ext cx="15910560" cy="640080"/>
            <a:chOff x="0" y="0"/>
            <a:chExt cx="2121408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214080" cy="853440"/>
            </a:xfrm>
            <a:custGeom>
              <a:avLst/>
              <a:gdLst/>
              <a:ahLst/>
              <a:cxnLst/>
              <a:rect r="r" b="b" t="t" l="l"/>
              <a:pathLst>
                <a:path h="85344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4342" r="0" b="-43434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212140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Median-of-Three Pivot  (avoids O(n²) worst case)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88720" y="5449824"/>
            <a:ext cx="15910560" cy="1371600"/>
            <a:chOff x="0" y="0"/>
            <a:chExt cx="21214080" cy="1828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2140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2121408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Compare packages[low], packages[mid], packages[high] → use the middle value as pivot.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Prevents worst-case O(n²) that happens when the array is already sorted.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" y="7315200"/>
            <a:ext cx="16642080" cy="640080"/>
            <a:chOff x="0" y="0"/>
            <a:chExt cx="2218944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189439" cy="853440"/>
            </a:xfrm>
            <a:custGeom>
              <a:avLst/>
              <a:gdLst/>
              <a:ahLst/>
              <a:cxnLst/>
              <a:rect r="r" b="b" t="t" l="l"/>
              <a:pathLst>
                <a:path h="8534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610" r="0" b="-45661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2189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Example: Sort by Profit/kg Ratio  (descending)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22960" y="8010144"/>
            <a:ext cx="8046720" cy="512064"/>
            <a:chOff x="0" y="0"/>
            <a:chExt cx="1072896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7289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4A8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BEFORE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10263" y="8491223"/>
            <a:ext cx="1817627" cy="1031243"/>
            <a:chOff x="0" y="0"/>
            <a:chExt cx="2423503" cy="13749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2389632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A2E4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23414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23414">
                  <a:moveTo>
                    <a:pt x="16891" y="0"/>
                  </a:moveTo>
                  <a:lnTo>
                    <a:pt x="2406523" y="0"/>
                  </a:lnTo>
                  <a:cubicBezTo>
                    <a:pt x="2415921" y="0"/>
                    <a:pt x="2423414" y="7620"/>
                    <a:pt x="2423414" y="16891"/>
                  </a:cubicBezTo>
                  <a:lnTo>
                    <a:pt x="2423414" y="1358011"/>
                  </a:lnTo>
                  <a:cubicBezTo>
                    <a:pt x="2423414" y="1367409"/>
                    <a:pt x="2415794" y="1374902"/>
                    <a:pt x="2406523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06523" y="1341120"/>
                  </a:lnTo>
                  <a:lnTo>
                    <a:pt x="2406523" y="1358011"/>
                  </a:lnTo>
                  <a:lnTo>
                    <a:pt x="2389632" y="1358011"/>
                  </a:lnTo>
                  <a:lnTo>
                    <a:pt x="2389632" y="16891"/>
                  </a:lnTo>
                  <a:lnTo>
                    <a:pt x="2406523" y="16891"/>
                  </a:lnTo>
                  <a:lnTo>
                    <a:pt x="24065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D68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22960" y="8540496"/>
            <a:ext cx="1792224" cy="512064"/>
            <a:chOff x="0" y="0"/>
            <a:chExt cx="2389632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389632" cy="682752"/>
            </a:xfrm>
            <a:custGeom>
              <a:avLst/>
              <a:gdLst/>
              <a:ahLst/>
              <a:cxnLst/>
              <a:rect r="r" b="b" t="t" l="l"/>
              <a:pathLst>
                <a:path h="682752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2389632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ED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PKG-003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22960" y="8961120"/>
            <a:ext cx="1792224" cy="512064"/>
            <a:chOff x="0" y="0"/>
            <a:chExt cx="2389632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389632" cy="682752"/>
            </a:xfrm>
            <a:custGeom>
              <a:avLst/>
              <a:gdLst/>
              <a:ahLst/>
              <a:cxnLst/>
              <a:rect r="r" b="b" t="t" l="l"/>
              <a:pathLst>
                <a:path h="682752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3896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4.0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730503" y="8491223"/>
            <a:ext cx="1817627" cy="1031243"/>
            <a:chOff x="0" y="0"/>
            <a:chExt cx="2423503" cy="137499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2389632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A2E40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423414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23414">
                  <a:moveTo>
                    <a:pt x="16891" y="0"/>
                  </a:moveTo>
                  <a:lnTo>
                    <a:pt x="2406523" y="0"/>
                  </a:lnTo>
                  <a:cubicBezTo>
                    <a:pt x="2415921" y="0"/>
                    <a:pt x="2423414" y="7620"/>
                    <a:pt x="2423414" y="16891"/>
                  </a:cubicBezTo>
                  <a:lnTo>
                    <a:pt x="2423414" y="1358011"/>
                  </a:lnTo>
                  <a:cubicBezTo>
                    <a:pt x="2423414" y="1367409"/>
                    <a:pt x="2415794" y="1374902"/>
                    <a:pt x="2406523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06523" y="1341120"/>
                  </a:lnTo>
                  <a:lnTo>
                    <a:pt x="2406523" y="1358011"/>
                  </a:lnTo>
                  <a:lnTo>
                    <a:pt x="2389632" y="1358011"/>
                  </a:lnTo>
                  <a:lnTo>
                    <a:pt x="2389632" y="16891"/>
                  </a:lnTo>
                  <a:lnTo>
                    <a:pt x="2406523" y="16891"/>
                  </a:lnTo>
                  <a:lnTo>
                    <a:pt x="24065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D68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2743200" y="8540496"/>
            <a:ext cx="1792224" cy="512064"/>
            <a:chOff x="0" y="0"/>
            <a:chExt cx="2389632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389632" cy="682752"/>
            </a:xfrm>
            <a:custGeom>
              <a:avLst/>
              <a:gdLst/>
              <a:ahLst/>
              <a:cxnLst/>
              <a:rect r="r" b="b" t="t" l="l"/>
              <a:pathLst>
                <a:path h="682752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2389632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ED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PKG-002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2743200" y="8961120"/>
            <a:ext cx="1792224" cy="512064"/>
            <a:chOff x="0" y="0"/>
            <a:chExt cx="2389632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389632" cy="682752"/>
            </a:xfrm>
            <a:custGeom>
              <a:avLst/>
              <a:gdLst/>
              <a:ahLst/>
              <a:cxnLst/>
              <a:rect r="r" b="b" t="t" l="l"/>
              <a:pathLst>
                <a:path h="682752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3896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5.0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650743" y="8491223"/>
            <a:ext cx="1817627" cy="1031243"/>
            <a:chOff x="0" y="0"/>
            <a:chExt cx="2423503" cy="137499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2389632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A2E40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423414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23414">
                  <a:moveTo>
                    <a:pt x="16891" y="0"/>
                  </a:moveTo>
                  <a:lnTo>
                    <a:pt x="2406523" y="0"/>
                  </a:lnTo>
                  <a:cubicBezTo>
                    <a:pt x="2415921" y="0"/>
                    <a:pt x="2423414" y="7620"/>
                    <a:pt x="2423414" y="16891"/>
                  </a:cubicBezTo>
                  <a:lnTo>
                    <a:pt x="2423414" y="1358011"/>
                  </a:lnTo>
                  <a:cubicBezTo>
                    <a:pt x="2423414" y="1367409"/>
                    <a:pt x="2415794" y="1374902"/>
                    <a:pt x="2406523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06523" y="1341120"/>
                  </a:lnTo>
                  <a:lnTo>
                    <a:pt x="2406523" y="1358011"/>
                  </a:lnTo>
                  <a:lnTo>
                    <a:pt x="2389632" y="1358011"/>
                  </a:lnTo>
                  <a:lnTo>
                    <a:pt x="2389632" y="16891"/>
                  </a:lnTo>
                  <a:lnTo>
                    <a:pt x="2406523" y="16891"/>
                  </a:lnTo>
                  <a:lnTo>
                    <a:pt x="24065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D68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4663440" y="8540496"/>
            <a:ext cx="1792224" cy="512064"/>
            <a:chOff x="0" y="0"/>
            <a:chExt cx="2389632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389632" cy="682752"/>
            </a:xfrm>
            <a:custGeom>
              <a:avLst/>
              <a:gdLst/>
              <a:ahLst/>
              <a:cxnLst/>
              <a:rect r="r" b="b" t="t" l="l"/>
              <a:pathLst>
                <a:path h="682752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2389632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ED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PKG-001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4663440" y="8961120"/>
            <a:ext cx="1792224" cy="512064"/>
            <a:chOff x="0" y="0"/>
            <a:chExt cx="2389632" cy="6827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389632" cy="682752"/>
            </a:xfrm>
            <a:custGeom>
              <a:avLst/>
              <a:gdLst/>
              <a:ahLst/>
              <a:cxnLst/>
              <a:rect r="r" b="b" t="t" l="l"/>
              <a:pathLst>
                <a:path h="682752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3896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6.0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570983" y="8491223"/>
            <a:ext cx="1817627" cy="1031243"/>
            <a:chOff x="0" y="0"/>
            <a:chExt cx="2423503" cy="137499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2389632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A2E40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423414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23414">
                  <a:moveTo>
                    <a:pt x="16891" y="0"/>
                  </a:moveTo>
                  <a:lnTo>
                    <a:pt x="2406523" y="0"/>
                  </a:lnTo>
                  <a:cubicBezTo>
                    <a:pt x="2415921" y="0"/>
                    <a:pt x="2423414" y="7620"/>
                    <a:pt x="2423414" y="16891"/>
                  </a:cubicBezTo>
                  <a:lnTo>
                    <a:pt x="2423414" y="1358011"/>
                  </a:lnTo>
                  <a:cubicBezTo>
                    <a:pt x="2423414" y="1367409"/>
                    <a:pt x="2415794" y="1374902"/>
                    <a:pt x="2406523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06523" y="1341120"/>
                  </a:lnTo>
                  <a:lnTo>
                    <a:pt x="2406523" y="1358011"/>
                  </a:lnTo>
                  <a:lnTo>
                    <a:pt x="2389632" y="1358011"/>
                  </a:lnTo>
                  <a:lnTo>
                    <a:pt x="2389632" y="16891"/>
                  </a:lnTo>
                  <a:lnTo>
                    <a:pt x="2406523" y="16891"/>
                  </a:lnTo>
                  <a:lnTo>
                    <a:pt x="24065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D68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6583680" y="8540496"/>
            <a:ext cx="1792224" cy="512064"/>
            <a:chOff x="0" y="0"/>
            <a:chExt cx="2389632" cy="682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389632" cy="682752"/>
            </a:xfrm>
            <a:custGeom>
              <a:avLst/>
              <a:gdLst/>
              <a:ahLst/>
              <a:cxnLst/>
              <a:rect r="r" b="b" t="t" l="l"/>
              <a:pathLst>
                <a:path h="682752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2389632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ED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PKG-006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583680" y="8961120"/>
            <a:ext cx="1792224" cy="512064"/>
            <a:chOff x="0" y="0"/>
            <a:chExt cx="2389632" cy="68275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389632" cy="682752"/>
            </a:xfrm>
            <a:custGeom>
              <a:avLst/>
              <a:gdLst/>
              <a:ahLst/>
              <a:cxnLst/>
              <a:rect r="r" b="b" t="t" l="l"/>
              <a:pathLst>
                <a:path h="682752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23896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10.0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418320" y="8010144"/>
            <a:ext cx="8046720" cy="512064"/>
            <a:chOff x="0" y="0"/>
            <a:chExt cx="10728960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07289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EC4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AFTER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405623" y="8491223"/>
            <a:ext cx="1817627" cy="1031243"/>
            <a:chOff x="0" y="0"/>
            <a:chExt cx="2423503" cy="137499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2389632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A3D2A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423414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23414">
                  <a:moveTo>
                    <a:pt x="16891" y="0"/>
                  </a:moveTo>
                  <a:lnTo>
                    <a:pt x="2406523" y="0"/>
                  </a:lnTo>
                  <a:cubicBezTo>
                    <a:pt x="2415921" y="0"/>
                    <a:pt x="2423414" y="7620"/>
                    <a:pt x="2423414" y="16891"/>
                  </a:cubicBezTo>
                  <a:lnTo>
                    <a:pt x="2423414" y="1358011"/>
                  </a:lnTo>
                  <a:cubicBezTo>
                    <a:pt x="2423414" y="1367409"/>
                    <a:pt x="2415794" y="1374902"/>
                    <a:pt x="2406523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06523" y="1341120"/>
                  </a:lnTo>
                  <a:lnTo>
                    <a:pt x="2406523" y="1358011"/>
                  </a:lnTo>
                  <a:lnTo>
                    <a:pt x="2389632" y="1358011"/>
                  </a:lnTo>
                  <a:lnTo>
                    <a:pt x="2389632" y="16891"/>
                  </a:lnTo>
                  <a:lnTo>
                    <a:pt x="2406523" y="16891"/>
                  </a:lnTo>
                  <a:lnTo>
                    <a:pt x="24065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4A5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418320" y="8540496"/>
            <a:ext cx="1792224" cy="512064"/>
            <a:chOff x="0" y="0"/>
            <a:chExt cx="2389632" cy="68275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389632" cy="682752"/>
            </a:xfrm>
            <a:custGeom>
              <a:avLst/>
              <a:gdLst/>
              <a:ahLst/>
              <a:cxnLst/>
              <a:rect r="r" b="b" t="t" l="l"/>
              <a:pathLst>
                <a:path h="682752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28575"/>
              <a:ext cx="2389632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ED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PKG-006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418320" y="8961120"/>
            <a:ext cx="1792224" cy="512064"/>
            <a:chOff x="0" y="0"/>
            <a:chExt cx="2389632" cy="6827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389632" cy="682752"/>
            </a:xfrm>
            <a:custGeom>
              <a:avLst/>
              <a:gdLst/>
              <a:ahLst/>
              <a:cxnLst/>
              <a:rect r="r" b="b" t="t" l="l"/>
              <a:pathLst>
                <a:path h="682752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23896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EC4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10.0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1325863" y="8491223"/>
            <a:ext cx="1817627" cy="1031243"/>
            <a:chOff x="0" y="0"/>
            <a:chExt cx="2423503" cy="137499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2389632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A2E40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423414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23414">
                  <a:moveTo>
                    <a:pt x="16891" y="0"/>
                  </a:moveTo>
                  <a:lnTo>
                    <a:pt x="2406523" y="0"/>
                  </a:lnTo>
                  <a:cubicBezTo>
                    <a:pt x="2415921" y="0"/>
                    <a:pt x="2423414" y="7620"/>
                    <a:pt x="2423414" y="16891"/>
                  </a:cubicBezTo>
                  <a:lnTo>
                    <a:pt x="2423414" y="1358011"/>
                  </a:lnTo>
                  <a:cubicBezTo>
                    <a:pt x="2423414" y="1367409"/>
                    <a:pt x="2415794" y="1374902"/>
                    <a:pt x="2406523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06523" y="1341120"/>
                  </a:lnTo>
                  <a:lnTo>
                    <a:pt x="2406523" y="1358011"/>
                  </a:lnTo>
                  <a:lnTo>
                    <a:pt x="2389632" y="1358011"/>
                  </a:lnTo>
                  <a:lnTo>
                    <a:pt x="2389632" y="16891"/>
                  </a:lnTo>
                  <a:lnTo>
                    <a:pt x="2406523" y="16891"/>
                  </a:lnTo>
                  <a:lnTo>
                    <a:pt x="24065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D68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1338560" y="8540496"/>
            <a:ext cx="1792224" cy="512064"/>
            <a:chOff x="0" y="0"/>
            <a:chExt cx="2389632" cy="68275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389632" cy="682752"/>
            </a:xfrm>
            <a:custGeom>
              <a:avLst/>
              <a:gdLst/>
              <a:ahLst/>
              <a:cxnLst/>
              <a:rect r="r" b="b" t="t" l="l"/>
              <a:pathLst>
                <a:path h="682752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28575"/>
              <a:ext cx="2389632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ED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PKG-001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1338560" y="8961120"/>
            <a:ext cx="1792224" cy="512064"/>
            <a:chOff x="0" y="0"/>
            <a:chExt cx="2389632" cy="6827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389632" cy="682752"/>
            </a:xfrm>
            <a:custGeom>
              <a:avLst/>
              <a:gdLst/>
              <a:ahLst/>
              <a:cxnLst/>
              <a:rect r="r" b="b" t="t" l="l"/>
              <a:pathLst>
                <a:path h="682752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23896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6.0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3246103" y="8491223"/>
            <a:ext cx="1817627" cy="1031243"/>
            <a:chOff x="0" y="0"/>
            <a:chExt cx="2423503" cy="137499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2389632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A2E40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423414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23414">
                  <a:moveTo>
                    <a:pt x="16891" y="0"/>
                  </a:moveTo>
                  <a:lnTo>
                    <a:pt x="2406523" y="0"/>
                  </a:lnTo>
                  <a:cubicBezTo>
                    <a:pt x="2415921" y="0"/>
                    <a:pt x="2423414" y="7620"/>
                    <a:pt x="2423414" y="16891"/>
                  </a:cubicBezTo>
                  <a:lnTo>
                    <a:pt x="2423414" y="1358011"/>
                  </a:lnTo>
                  <a:cubicBezTo>
                    <a:pt x="2423414" y="1367409"/>
                    <a:pt x="2415794" y="1374902"/>
                    <a:pt x="2406523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06523" y="1341120"/>
                  </a:lnTo>
                  <a:lnTo>
                    <a:pt x="2406523" y="1358011"/>
                  </a:lnTo>
                  <a:lnTo>
                    <a:pt x="2389632" y="1358011"/>
                  </a:lnTo>
                  <a:lnTo>
                    <a:pt x="2389632" y="16891"/>
                  </a:lnTo>
                  <a:lnTo>
                    <a:pt x="2406523" y="16891"/>
                  </a:lnTo>
                  <a:lnTo>
                    <a:pt x="24065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D68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3258800" y="8540496"/>
            <a:ext cx="1792224" cy="512064"/>
            <a:chOff x="0" y="0"/>
            <a:chExt cx="2389632" cy="68275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389632" cy="682752"/>
            </a:xfrm>
            <a:custGeom>
              <a:avLst/>
              <a:gdLst/>
              <a:ahLst/>
              <a:cxnLst/>
              <a:rect r="r" b="b" t="t" l="l"/>
              <a:pathLst>
                <a:path h="682752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28575"/>
              <a:ext cx="2389632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ED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PKG-002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258800" y="8961120"/>
            <a:ext cx="1792224" cy="512064"/>
            <a:chOff x="0" y="0"/>
            <a:chExt cx="2389632" cy="68275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389632" cy="682752"/>
            </a:xfrm>
            <a:custGeom>
              <a:avLst/>
              <a:gdLst/>
              <a:ahLst/>
              <a:cxnLst/>
              <a:rect r="r" b="b" t="t" l="l"/>
              <a:pathLst>
                <a:path h="682752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23896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5.0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5166343" y="8491223"/>
            <a:ext cx="1817627" cy="1031243"/>
            <a:chOff x="0" y="0"/>
            <a:chExt cx="2423503" cy="137499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2389632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A2E40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423414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23414">
                  <a:moveTo>
                    <a:pt x="16891" y="0"/>
                  </a:moveTo>
                  <a:lnTo>
                    <a:pt x="2406523" y="0"/>
                  </a:lnTo>
                  <a:cubicBezTo>
                    <a:pt x="2415921" y="0"/>
                    <a:pt x="2423414" y="7620"/>
                    <a:pt x="2423414" y="16891"/>
                  </a:cubicBezTo>
                  <a:lnTo>
                    <a:pt x="2423414" y="1358011"/>
                  </a:lnTo>
                  <a:cubicBezTo>
                    <a:pt x="2423414" y="1367409"/>
                    <a:pt x="2415794" y="1374902"/>
                    <a:pt x="2406523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06523" y="1341120"/>
                  </a:lnTo>
                  <a:lnTo>
                    <a:pt x="2406523" y="1358011"/>
                  </a:lnTo>
                  <a:lnTo>
                    <a:pt x="2389632" y="1358011"/>
                  </a:lnTo>
                  <a:lnTo>
                    <a:pt x="2389632" y="16891"/>
                  </a:lnTo>
                  <a:lnTo>
                    <a:pt x="2406523" y="16891"/>
                  </a:lnTo>
                  <a:lnTo>
                    <a:pt x="24065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D68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5179040" y="8540496"/>
            <a:ext cx="1792224" cy="512064"/>
            <a:chOff x="0" y="0"/>
            <a:chExt cx="2389632" cy="68275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389632" cy="682752"/>
            </a:xfrm>
            <a:custGeom>
              <a:avLst/>
              <a:gdLst/>
              <a:ahLst/>
              <a:cxnLst/>
              <a:rect r="r" b="b" t="t" l="l"/>
              <a:pathLst>
                <a:path h="682752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28575"/>
              <a:ext cx="2389632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ED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PKG-003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5179040" y="8961120"/>
            <a:ext cx="1792224" cy="512064"/>
            <a:chOff x="0" y="0"/>
            <a:chExt cx="2389632" cy="6827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389632" cy="682752"/>
            </a:xfrm>
            <a:custGeom>
              <a:avLst/>
              <a:gdLst/>
              <a:ahLst/>
              <a:cxnLst/>
              <a:rect r="r" b="b" t="t" l="l"/>
              <a:pathLst>
                <a:path h="682752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23896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4.0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8344157" y="8965949"/>
            <a:ext cx="977903" cy="63503"/>
            <a:chOff x="0" y="0"/>
            <a:chExt cx="1303871" cy="84671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42291" y="0"/>
              <a:ext cx="1219200" cy="84709"/>
            </a:xfrm>
            <a:custGeom>
              <a:avLst/>
              <a:gdLst/>
              <a:ahLst/>
              <a:cxnLst/>
              <a:rect r="r" b="b" t="t" l="l"/>
              <a:pathLst>
                <a:path h="84709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84709"/>
                  </a:lnTo>
                  <a:lnTo>
                    <a:pt x="0" y="84709"/>
                  </a:ln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8375904" y="8814816"/>
            <a:ext cx="914400" cy="694944"/>
            <a:chOff x="0" y="0"/>
            <a:chExt cx="1219200" cy="926592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219200" cy="926592"/>
            </a:xfrm>
            <a:custGeom>
              <a:avLst/>
              <a:gdLst/>
              <a:ahLst/>
              <a:cxnLst/>
              <a:rect r="r" b="b" t="t" l="l"/>
              <a:pathLst>
                <a:path h="92659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510" t="0" r="-47510" b="0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66675"/>
              <a:ext cx="121920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A7E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12064"/>
            <a:ext cx="16459200" cy="1060704"/>
            <a:chOff x="0" y="0"/>
            <a:chExt cx="21945600" cy="14142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354" r="0" b="-2523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538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Summary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2470" y="1901190"/>
            <a:ext cx="3970020" cy="3238500"/>
            <a:chOff x="0" y="0"/>
            <a:chExt cx="5293360" cy="431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25400"/>
              <a:ext cx="5242560" cy="4267200"/>
            </a:xfrm>
            <a:custGeom>
              <a:avLst/>
              <a:gdLst/>
              <a:ahLst/>
              <a:cxnLst/>
              <a:rect r="r" b="b" t="t" l="l"/>
              <a:pathLst>
                <a:path h="426720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93360" cy="4318000"/>
            </a:xfrm>
            <a:custGeom>
              <a:avLst/>
              <a:gdLst/>
              <a:ahLst/>
              <a:cxnLst/>
              <a:rect r="r" b="b" t="t" l="l"/>
              <a:pathLst>
                <a:path h="4318000" w="5293360">
                  <a:moveTo>
                    <a:pt x="25400" y="0"/>
                  </a:moveTo>
                  <a:lnTo>
                    <a:pt x="5267960" y="0"/>
                  </a:lnTo>
                  <a:cubicBezTo>
                    <a:pt x="5281930" y="0"/>
                    <a:pt x="5293360" y="11430"/>
                    <a:pt x="5293360" y="25400"/>
                  </a:cubicBezTo>
                  <a:lnTo>
                    <a:pt x="5293360" y="4292600"/>
                  </a:lnTo>
                  <a:cubicBezTo>
                    <a:pt x="5293360" y="4306570"/>
                    <a:pt x="5281930" y="4318000"/>
                    <a:pt x="5267960" y="4318000"/>
                  </a:cubicBezTo>
                  <a:lnTo>
                    <a:pt x="25400" y="4318000"/>
                  </a:lnTo>
                  <a:cubicBezTo>
                    <a:pt x="11430" y="4318000"/>
                    <a:pt x="0" y="4306570"/>
                    <a:pt x="0" y="429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292600"/>
                  </a:lnTo>
                  <a:lnTo>
                    <a:pt x="25400" y="4292600"/>
                  </a:lnTo>
                  <a:lnTo>
                    <a:pt x="25400" y="4267200"/>
                  </a:lnTo>
                  <a:lnTo>
                    <a:pt x="5267960" y="4267200"/>
                  </a:lnTo>
                  <a:lnTo>
                    <a:pt x="5267960" y="4292600"/>
                  </a:lnTo>
                  <a:lnTo>
                    <a:pt x="5242560" y="4292600"/>
                  </a:lnTo>
                  <a:lnTo>
                    <a:pt x="5242560" y="25400"/>
                  </a:lnTo>
                  <a:lnTo>
                    <a:pt x="5267960" y="25400"/>
                  </a:lnTo>
                  <a:lnTo>
                    <a:pt x="5267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64D2E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1520" y="2103120"/>
            <a:ext cx="3931920" cy="1280160"/>
            <a:chOff x="0" y="0"/>
            <a:chExt cx="5242560" cy="1706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425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6" r="0" b="-9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524256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520" y="3383280"/>
            <a:ext cx="3931920" cy="548640"/>
            <a:chOff x="0" y="0"/>
            <a:chExt cx="524256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42560" cy="731520"/>
            </a:xfrm>
            <a:custGeom>
              <a:avLst/>
              <a:gdLst/>
              <a:ahLst/>
              <a:cxnLst/>
              <a:rect r="r" b="b" t="t" l="l"/>
              <a:pathLst>
                <a:path h="7315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242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Algorithms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3931920"/>
            <a:ext cx="3931920" cy="1005840"/>
            <a:chOff x="0" y="0"/>
            <a:chExt cx="524256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25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68" r="0" b="-2616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24256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Knapsack · Dijkstra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Kruskal · Quick Sort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955286" y="1901190"/>
            <a:ext cx="3970020" cy="3238500"/>
            <a:chOff x="0" y="0"/>
            <a:chExt cx="5293360" cy="4318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5400" y="25400"/>
              <a:ext cx="5242560" cy="4267200"/>
            </a:xfrm>
            <a:custGeom>
              <a:avLst/>
              <a:gdLst/>
              <a:ahLst/>
              <a:cxnLst/>
              <a:rect r="r" b="b" t="t" l="l"/>
              <a:pathLst>
                <a:path h="426720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93360" cy="4318000"/>
            </a:xfrm>
            <a:custGeom>
              <a:avLst/>
              <a:gdLst/>
              <a:ahLst/>
              <a:cxnLst/>
              <a:rect r="r" b="b" t="t" l="l"/>
              <a:pathLst>
                <a:path h="4318000" w="5293360">
                  <a:moveTo>
                    <a:pt x="25400" y="0"/>
                  </a:moveTo>
                  <a:lnTo>
                    <a:pt x="5267960" y="0"/>
                  </a:lnTo>
                  <a:cubicBezTo>
                    <a:pt x="5281930" y="0"/>
                    <a:pt x="5293360" y="11430"/>
                    <a:pt x="5293360" y="25400"/>
                  </a:cubicBezTo>
                  <a:lnTo>
                    <a:pt x="5293360" y="4292600"/>
                  </a:lnTo>
                  <a:cubicBezTo>
                    <a:pt x="5293360" y="4306570"/>
                    <a:pt x="5281930" y="4318000"/>
                    <a:pt x="5267960" y="4318000"/>
                  </a:cubicBezTo>
                  <a:lnTo>
                    <a:pt x="25400" y="4318000"/>
                  </a:lnTo>
                  <a:cubicBezTo>
                    <a:pt x="11430" y="4318000"/>
                    <a:pt x="0" y="4306570"/>
                    <a:pt x="0" y="429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292600"/>
                  </a:lnTo>
                  <a:lnTo>
                    <a:pt x="25400" y="4292600"/>
                  </a:lnTo>
                  <a:lnTo>
                    <a:pt x="25400" y="4267200"/>
                  </a:lnTo>
                  <a:lnTo>
                    <a:pt x="5267960" y="4267200"/>
                  </a:lnTo>
                  <a:lnTo>
                    <a:pt x="5267960" y="4292600"/>
                  </a:lnTo>
                  <a:lnTo>
                    <a:pt x="5242560" y="4292600"/>
                  </a:lnTo>
                  <a:lnTo>
                    <a:pt x="5242560" y="25400"/>
                  </a:lnTo>
                  <a:lnTo>
                    <a:pt x="5267960" y="25400"/>
                  </a:lnTo>
                  <a:lnTo>
                    <a:pt x="5267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6DD6A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974336" y="2103120"/>
            <a:ext cx="3931920" cy="1280160"/>
            <a:chOff x="0" y="0"/>
            <a:chExt cx="524256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425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6" r="0" b="-984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23825"/>
              <a:ext cx="524256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6DD6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74336" y="3383280"/>
            <a:ext cx="3931920" cy="548640"/>
            <a:chOff x="0" y="0"/>
            <a:chExt cx="524256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42560" cy="731520"/>
            </a:xfrm>
            <a:custGeom>
              <a:avLst/>
              <a:gdLst/>
              <a:ahLst/>
              <a:cxnLst/>
              <a:rect r="r" b="b" t="t" l="l"/>
              <a:pathLst>
                <a:path h="7315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242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Source File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74336" y="3931920"/>
            <a:ext cx="3931920" cy="1005840"/>
            <a:chOff x="0" y="0"/>
            <a:chExt cx="524256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425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68" r="0" b="-2616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24256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lean.cpp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headers needed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98102" y="1901190"/>
            <a:ext cx="3970020" cy="3238500"/>
            <a:chOff x="0" y="0"/>
            <a:chExt cx="5293360" cy="4318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25400"/>
              <a:ext cx="5242560" cy="4267200"/>
            </a:xfrm>
            <a:custGeom>
              <a:avLst/>
              <a:gdLst/>
              <a:ahLst/>
              <a:cxnLst/>
              <a:rect r="r" b="b" t="t" l="l"/>
              <a:pathLst>
                <a:path h="426720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93360" cy="4318000"/>
            </a:xfrm>
            <a:custGeom>
              <a:avLst/>
              <a:gdLst/>
              <a:ahLst/>
              <a:cxnLst/>
              <a:rect r="r" b="b" t="t" l="l"/>
              <a:pathLst>
                <a:path h="4318000" w="5293360">
                  <a:moveTo>
                    <a:pt x="25400" y="0"/>
                  </a:moveTo>
                  <a:lnTo>
                    <a:pt x="5267960" y="0"/>
                  </a:lnTo>
                  <a:cubicBezTo>
                    <a:pt x="5281930" y="0"/>
                    <a:pt x="5293360" y="11430"/>
                    <a:pt x="5293360" y="25400"/>
                  </a:cubicBezTo>
                  <a:lnTo>
                    <a:pt x="5293360" y="4292600"/>
                  </a:lnTo>
                  <a:cubicBezTo>
                    <a:pt x="5293360" y="4306570"/>
                    <a:pt x="5281930" y="4318000"/>
                    <a:pt x="5267960" y="4318000"/>
                  </a:cubicBezTo>
                  <a:lnTo>
                    <a:pt x="25400" y="4318000"/>
                  </a:lnTo>
                  <a:cubicBezTo>
                    <a:pt x="11430" y="4318000"/>
                    <a:pt x="0" y="4306570"/>
                    <a:pt x="0" y="429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292600"/>
                  </a:lnTo>
                  <a:lnTo>
                    <a:pt x="25400" y="4292600"/>
                  </a:lnTo>
                  <a:lnTo>
                    <a:pt x="25400" y="4267200"/>
                  </a:lnTo>
                  <a:lnTo>
                    <a:pt x="5267960" y="4267200"/>
                  </a:lnTo>
                  <a:lnTo>
                    <a:pt x="5267960" y="4292600"/>
                  </a:lnTo>
                  <a:lnTo>
                    <a:pt x="5242560" y="4292600"/>
                  </a:lnTo>
                  <a:lnTo>
                    <a:pt x="5242560" y="25400"/>
                  </a:lnTo>
                  <a:lnTo>
                    <a:pt x="5267960" y="25400"/>
                  </a:lnTo>
                  <a:lnTo>
                    <a:pt x="5267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2A3D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217152" y="2103120"/>
            <a:ext cx="3931920" cy="1280160"/>
            <a:chOff x="0" y="0"/>
            <a:chExt cx="5242560" cy="17068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425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6" r="0" b="-984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23825"/>
              <a:ext cx="524256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2A3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739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17152" y="3383280"/>
            <a:ext cx="3931920" cy="548640"/>
            <a:chOff x="0" y="0"/>
            <a:chExt cx="524256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42560" cy="731520"/>
            </a:xfrm>
            <a:custGeom>
              <a:avLst/>
              <a:gdLst/>
              <a:ahLst/>
              <a:cxnLst/>
              <a:rect r="r" b="b" t="t" l="l"/>
              <a:pathLst>
                <a:path h="7315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5242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Lines of Code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217152" y="3931920"/>
            <a:ext cx="3931920" cy="1005840"/>
            <a:chOff x="0" y="0"/>
            <a:chExt cx="5242560" cy="13411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425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68" r="0" b="-2616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24256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Clean, readable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well-commented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440918" y="1901190"/>
            <a:ext cx="3970020" cy="3238500"/>
            <a:chOff x="0" y="0"/>
            <a:chExt cx="5293360" cy="4318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25400" y="25400"/>
              <a:ext cx="5242560" cy="4267200"/>
            </a:xfrm>
            <a:custGeom>
              <a:avLst/>
              <a:gdLst/>
              <a:ahLst/>
              <a:cxnLst/>
              <a:rect r="r" b="b" t="t" l="l"/>
              <a:pathLst>
                <a:path h="426720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293360" cy="4318000"/>
            </a:xfrm>
            <a:custGeom>
              <a:avLst/>
              <a:gdLst/>
              <a:ahLst/>
              <a:cxnLst/>
              <a:rect r="r" b="b" t="t" l="l"/>
              <a:pathLst>
                <a:path h="4318000" w="5293360">
                  <a:moveTo>
                    <a:pt x="25400" y="0"/>
                  </a:moveTo>
                  <a:lnTo>
                    <a:pt x="5267960" y="0"/>
                  </a:lnTo>
                  <a:cubicBezTo>
                    <a:pt x="5281930" y="0"/>
                    <a:pt x="5293360" y="11430"/>
                    <a:pt x="5293360" y="25400"/>
                  </a:cubicBezTo>
                  <a:lnTo>
                    <a:pt x="5293360" y="4292600"/>
                  </a:lnTo>
                  <a:cubicBezTo>
                    <a:pt x="5293360" y="4306570"/>
                    <a:pt x="5281930" y="4318000"/>
                    <a:pt x="5267960" y="4318000"/>
                  </a:cubicBezTo>
                  <a:lnTo>
                    <a:pt x="25400" y="4318000"/>
                  </a:lnTo>
                  <a:cubicBezTo>
                    <a:pt x="11430" y="4318000"/>
                    <a:pt x="0" y="4306570"/>
                    <a:pt x="0" y="4292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292600"/>
                  </a:lnTo>
                  <a:lnTo>
                    <a:pt x="25400" y="4292600"/>
                  </a:lnTo>
                  <a:lnTo>
                    <a:pt x="25400" y="4267200"/>
                  </a:lnTo>
                  <a:lnTo>
                    <a:pt x="5267960" y="4267200"/>
                  </a:lnTo>
                  <a:lnTo>
                    <a:pt x="5267960" y="4292600"/>
                  </a:lnTo>
                  <a:lnTo>
                    <a:pt x="5242560" y="4292600"/>
                  </a:lnTo>
                  <a:lnTo>
                    <a:pt x="5242560" y="25400"/>
                  </a:lnTo>
                  <a:lnTo>
                    <a:pt x="5267960" y="25400"/>
                  </a:lnTo>
                  <a:lnTo>
                    <a:pt x="5267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459968" y="2103120"/>
            <a:ext cx="3931920" cy="1280160"/>
            <a:chOff x="0" y="0"/>
            <a:chExt cx="5242560" cy="17068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2425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6" r="0" b="-984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23825"/>
              <a:ext cx="524256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A78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C++17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459968" y="3383280"/>
            <a:ext cx="3931920" cy="548640"/>
            <a:chOff x="0" y="0"/>
            <a:chExt cx="524256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242560" cy="731520"/>
            </a:xfrm>
            <a:custGeom>
              <a:avLst/>
              <a:gdLst/>
              <a:ahLst/>
              <a:cxnLst/>
              <a:rect r="r" b="b" t="t" l="l"/>
              <a:pathLst>
                <a:path h="7315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5242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Language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459968" y="3931920"/>
            <a:ext cx="3931920" cy="1005840"/>
            <a:chOff x="0" y="0"/>
            <a:chExt cx="5242560" cy="13411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425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68" r="0" b="-2616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24256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STL · vector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priority_queue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18823" y="5473703"/>
            <a:ext cx="16850363" cy="683771"/>
            <a:chOff x="0" y="0"/>
            <a:chExt cx="22467151" cy="91169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22433280" cy="877824"/>
            </a:xfrm>
            <a:custGeom>
              <a:avLst/>
              <a:gdLst/>
              <a:ahLst/>
              <a:cxnLst/>
              <a:rect r="r" b="b" t="t" l="l"/>
              <a:pathLst>
                <a:path h="877824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0A7EA4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467063" cy="911608"/>
            </a:xfrm>
            <a:custGeom>
              <a:avLst/>
              <a:gdLst/>
              <a:ahLst/>
              <a:cxnLst/>
              <a:rect r="r" b="b" t="t" l="l"/>
              <a:pathLst>
                <a:path h="911608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894715"/>
                  </a:lnTo>
                  <a:cubicBezTo>
                    <a:pt x="22467063" y="904113"/>
                    <a:pt x="22459443" y="911606"/>
                    <a:pt x="2245017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22450171" y="877824"/>
                  </a:lnTo>
                  <a:lnTo>
                    <a:pt x="22450171" y="894715"/>
                  </a:lnTo>
                  <a:lnTo>
                    <a:pt x="22433280" y="894715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31520" y="5522976"/>
            <a:ext cx="16824960" cy="585216"/>
            <a:chOff x="0" y="0"/>
            <a:chExt cx="22433280" cy="7802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433280" cy="780288"/>
            </a:xfrm>
            <a:custGeom>
              <a:avLst/>
              <a:gdLst/>
              <a:ahLst/>
              <a:cxnLst/>
              <a:rect r="r" b="b" t="t" l="l"/>
              <a:pathLst>
                <a:path h="78028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224332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Algorithm Complexity Reference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25167" y="6138415"/>
            <a:ext cx="3487417" cy="597913"/>
            <a:chOff x="0" y="0"/>
            <a:chExt cx="4649889" cy="79721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8509" y="8509"/>
              <a:ext cx="4632960" cy="780288"/>
            </a:xfrm>
            <a:custGeom>
              <a:avLst/>
              <a:gdLst/>
              <a:ahLst/>
              <a:cxnLst/>
              <a:rect r="r" b="b" t="t" l="l"/>
              <a:pathLst>
                <a:path h="7802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649978" cy="797306"/>
            </a:xfrm>
            <a:custGeom>
              <a:avLst/>
              <a:gdLst/>
              <a:ahLst/>
              <a:cxnLst/>
              <a:rect r="r" b="b" t="t" l="l"/>
              <a:pathLst>
                <a:path h="797306" w="4649978">
                  <a:moveTo>
                    <a:pt x="8509" y="0"/>
                  </a:moveTo>
                  <a:lnTo>
                    <a:pt x="4641469" y="0"/>
                  </a:lnTo>
                  <a:cubicBezTo>
                    <a:pt x="4646168" y="0"/>
                    <a:pt x="4649978" y="3810"/>
                    <a:pt x="4649978" y="8509"/>
                  </a:cubicBezTo>
                  <a:lnTo>
                    <a:pt x="4649978" y="788797"/>
                  </a:lnTo>
                  <a:cubicBezTo>
                    <a:pt x="4649978" y="793496"/>
                    <a:pt x="4646168" y="797306"/>
                    <a:pt x="4641469" y="797306"/>
                  </a:cubicBezTo>
                  <a:lnTo>
                    <a:pt x="8509" y="797306"/>
                  </a:lnTo>
                  <a:cubicBezTo>
                    <a:pt x="3810" y="797306"/>
                    <a:pt x="0" y="793496"/>
                    <a:pt x="0" y="7887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88797"/>
                  </a:lnTo>
                  <a:lnTo>
                    <a:pt x="8509" y="788797"/>
                  </a:lnTo>
                  <a:lnTo>
                    <a:pt x="8509" y="780288"/>
                  </a:lnTo>
                  <a:lnTo>
                    <a:pt x="4641469" y="780288"/>
                  </a:lnTo>
                  <a:lnTo>
                    <a:pt x="4641469" y="788797"/>
                  </a:lnTo>
                  <a:lnTo>
                    <a:pt x="4632960" y="788797"/>
                  </a:lnTo>
                  <a:lnTo>
                    <a:pt x="4632960" y="8509"/>
                  </a:lnTo>
                  <a:lnTo>
                    <a:pt x="4641469" y="8509"/>
                  </a:lnTo>
                  <a:lnTo>
                    <a:pt x="4641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2A4D68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31520" y="6144768"/>
            <a:ext cx="3474720" cy="585216"/>
            <a:chOff x="0" y="0"/>
            <a:chExt cx="4632960" cy="78028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632960" cy="780288"/>
            </a:xfrm>
            <a:custGeom>
              <a:avLst/>
              <a:gdLst/>
              <a:ahLst/>
              <a:cxnLst/>
              <a:rect r="r" b="b" t="t" l="l"/>
              <a:pathLst>
                <a:path h="7802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692" r="0" b="-6569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63296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Algorithm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199887" y="6138415"/>
            <a:ext cx="3578857" cy="597913"/>
            <a:chOff x="0" y="0"/>
            <a:chExt cx="4771809" cy="79721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8509" y="8509"/>
              <a:ext cx="4754880" cy="780288"/>
            </a:xfrm>
            <a:custGeom>
              <a:avLst/>
              <a:gdLst/>
              <a:ahLst/>
              <a:cxnLst/>
              <a:rect r="r" b="b" t="t" l="l"/>
              <a:pathLst>
                <a:path h="780288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771898" cy="797306"/>
            </a:xfrm>
            <a:custGeom>
              <a:avLst/>
              <a:gdLst/>
              <a:ahLst/>
              <a:cxnLst/>
              <a:rect r="r" b="b" t="t" l="l"/>
              <a:pathLst>
                <a:path h="797306" w="4771898">
                  <a:moveTo>
                    <a:pt x="8509" y="0"/>
                  </a:moveTo>
                  <a:lnTo>
                    <a:pt x="4763389" y="0"/>
                  </a:lnTo>
                  <a:cubicBezTo>
                    <a:pt x="4768088" y="0"/>
                    <a:pt x="4771898" y="3810"/>
                    <a:pt x="4771898" y="8509"/>
                  </a:cubicBezTo>
                  <a:lnTo>
                    <a:pt x="4771898" y="788797"/>
                  </a:lnTo>
                  <a:cubicBezTo>
                    <a:pt x="4771898" y="793496"/>
                    <a:pt x="4768088" y="797306"/>
                    <a:pt x="4763389" y="797306"/>
                  </a:cubicBezTo>
                  <a:lnTo>
                    <a:pt x="8509" y="797306"/>
                  </a:lnTo>
                  <a:cubicBezTo>
                    <a:pt x="3810" y="797306"/>
                    <a:pt x="0" y="793496"/>
                    <a:pt x="0" y="7887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88797"/>
                  </a:lnTo>
                  <a:lnTo>
                    <a:pt x="8509" y="788797"/>
                  </a:lnTo>
                  <a:lnTo>
                    <a:pt x="8509" y="780288"/>
                  </a:lnTo>
                  <a:lnTo>
                    <a:pt x="4763389" y="780288"/>
                  </a:lnTo>
                  <a:lnTo>
                    <a:pt x="4763389" y="788797"/>
                  </a:lnTo>
                  <a:lnTo>
                    <a:pt x="4754880" y="788797"/>
                  </a:lnTo>
                  <a:lnTo>
                    <a:pt x="4754880" y="8509"/>
                  </a:lnTo>
                  <a:lnTo>
                    <a:pt x="4763389" y="8509"/>
                  </a:lnTo>
                  <a:lnTo>
                    <a:pt x="4763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2A4D68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4206240" y="6144768"/>
            <a:ext cx="3566160" cy="585216"/>
            <a:chOff x="0" y="0"/>
            <a:chExt cx="4754880" cy="7802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754880" cy="780288"/>
            </a:xfrm>
            <a:custGeom>
              <a:avLst/>
              <a:gdLst/>
              <a:ahLst/>
              <a:cxnLst/>
              <a:rect r="r" b="b" t="t" l="l"/>
              <a:pathLst>
                <a:path h="780288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736" r="0" b="-6873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754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Time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766047" y="6138415"/>
            <a:ext cx="2024377" cy="597913"/>
            <a:chOff x="0" y="0"/>
            <a:chExt cx="2699169" cy="79721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8509" y="8509"/>
              <a:ext cx="2682240" cy="780288"/>
            </a:xfrm>
            <a:custGeom>
              <a:avLst/>
              <a:gdLst/>
              <a:ahLst/>
              <a:cxnLst/>
              <a:rect r="r" b="b" t="t" l="l"/>
              <a:pathLst>
                <a:path h="78028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699258" cy="797306"/>
            </a:xfrm>
            <a:custGeom>
              <a:avLst/>
              <a:gdLst/>
              <a:ahLst/>
              <a:cxnLst/>
              <a:rect r="r" b="b" t="t" l="l"/>
              <a:pathLst>
                <a:path h="797306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788797"/>
                  </a:lnTo>
                  <a:cubicBezTo>
                    <a:pt x="2699258" y="793496"/>
                    <a:pt x="2695448" y="797306"/>
                    <a:pt x="2690749" y="797306"/>
                  </a:cubicBezTo>
                  <a:lnTo>
                    <a:pt x="8509" y="797306"/>
                  </a:lnTo>
                  <a:cubicBezTo>
                    <a:pt x="3810" y="797306"/>
                    <a:pt x="0" y="793496"/>
                    <a:pt x="0" y="7887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88797"/>
                  </a:lnTo>
                  <a:lnTo>
                    <a:pt x="8509" y="788797"/>
                  </a:lnTo>
                  <a:lnTo>
                    <a:pt x="8509" y="780288"/>
                  </a:lnTo>
                  <a:lnTo>
                    <a:pt x="2690749" y="780288"/>
                  </a:lnTo>
                  <a:lnTo>
                    <a:pt x="2690749" y="788797"/>
                  </a:lnTo>
                  <a:lnTo>
                    <a:pt x="2682240" y="788797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2A4D68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772400" y="6144768"/>
            <a:ext cx="2011680" cy="585216"/>
            <a:chOff x="0" y="0"/>
            <a:chExt cx="2682240" cy="78028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682240" cy="780288"/>
            </a:xfrm>
            <a:custGeom>
              <a:avLst/>
              <a:gdLst/>
              <a:ahLst/>
              <a:cxnLst/>
              <a:rect r="r" b="b" t="t" l="l"/>
              <a:pathLst>
                <a:path h="78028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79" r="0" b="-1697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6822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Space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777727" y="6138415"/>
            <a:ext cx="7510777" cy="597913"/>
            <a:chOff x="0" y="0"/>
            <a:chExt cx="10014369" cy="79721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8509" y="8509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12B47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014458" cy="797306"/>
            </a:xfrm>
            <a:custGeom>
              <a:avLst/>
              <a:gdLst/>
              <a:ahLst/>
              <a:cxnLst/>
              <a:rect r="r" b="b" t="t" l="l"/>
              <a:pathLst>
                <a:path h="797306" w="10014458">
                  <a:moveTo>
                    <a:pt x="8509" y="0"/>
                  </a:moveTo>
                  <a:lnTo>
                    <a:pt x="10005949" y="0"/>
                  </a:lnTo>
                  <a:cubicBezTo>
                    <a:pt x="10010648" y="0"/>
                    <a:pt x="10014458" y="3810"/>
                    <a:pt x="10014458" y="8509"/>
                  </a:cubicBezTo>
                  <a:lnTo>
                    <a:pt x="10014458" y="788797"/>
                  </a:lnTo>
                  <a:cubicBezTo>
                    <a:pt x="10014458" y="793496"/>
                    <a:pt x="10010648" y="797306"/>
                    <a:pt x="10005949" y="797306"/>
                  </a:cubicBezTo>
                  <a:lnTo>
                    <a:pt x="8509" y="797306"/>
                  </a:lnTo>
                  <a:cubicBezTo>
                    <a:pt x="3810" y="797306"/>
                    <a:pt x="0" y="793496"/>
                    <a:pt x="0" y="7887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88797"/>
                  </a:lnTo>
                  <a:lnTo>
                    <a:pt x="8509" y="788797"/>
                  </a:lnTo>
                  <a:lnTo>
                    <a:pt x="8509" y="780288"/>
                  </a:lnTo>
                  <a:lnTo>
                    <a:pt x="10005949" y="780288"/>
                  </a:lnTo>
                  <a:lnTo>
                    <a:pt x="10005949" y="788797"/>
                  </a:lnTo>
                  <a:lnTo>
                    <a:pt x="9997440" y="788797"/>
                  </a:lnTo>
                  <a:lnTo>
                    <a:pt x="9997440" y="8509"/>
                  </a:lnTo>
                  <a:lnTo>
                    <a:pt x="10005949" y="8509"/>
                  </a:lnTo>
                  <a:lnTo>
                    <a:pt x="10005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2A4D68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784080" y="6144768"/>
            <a:ext cx="7498080" cy="585216"/>
            <a:chOff x="0" y="0"/>
            <a:chExt cx="9997440" cy="78028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9997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D2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Notes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25167" y="6723631"/>
            <a:ext cx="3487417" cy="561337"/>
            <a:chOff x="0" y="0"/>
            <a:chExt cx="4649889" cy="74844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8509" y="8509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11E30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649978" cy="748538"/>
            </a:xfrm>
            <a:custGeom>
              <a:avLst/>
              <a:gdLst/>
              <a:ahLst/>
              <a:cxnLst/>
              <a:rect r="r" b="b" t="t" l="l"/>
              <a:pathLst>
                <a:path h="748538" w="4649978">
                  <a:moveTo>
                    <a:pt x="8509" y="0"/>
                  </a:moveTo>
                  <a:lnTo>
                    <a:pt x="4641469" y="0"/>
                  </a:lnTo>
                  <a:cubicBezTo>
                    <a:pt x="4646168" y="0"/>
                    <a:pt x="4649978" y="3810"/>
                    <a:pt x="4649978" y="8509"/>
                  </a:cubicBezTo>
                  <a:lnTo>
                    <a:pt x="4649978" y="740029"/>
                  </a:lnTo>
                  <a:cubicBezTo>
                    <a:pt x="4649978" y="744728"/>
                    <a:pt x="4646168" y="748538"/>
                    <a:pt x="464146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4641469" y="731520"/>
                  </a:lnTo>
                  <a:lnTo>
                    <a:pt x="4641469" y="740029"/>
                  </a:lnTo>
                  <a:lnTo>
                    <a:pt x="4632960" y="740029"/>
                  </a:lnTo>
                  <a:lnTo>
                    <a:pt x="4632960" y="8509"/>
                  </a:lnTo>
                  <a:lnTo>
                    <a:pt x="4641469" y="8509"/>
                  </a:lnTo>
                  <a:lnTo>
                    <a:pt x="4641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D58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731520" y="6729984"/>
            <a:ext cx="3474720" cy="548640"/>
            <a:chOff x="0" y="0"/>
            <a:chExt cx="4632960" cy="7315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4632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DF4F8"/>
                  </a:solidFill>
                  <a:latin typeface="Consolas"/>
                  <a:ea typeface="Consolas"/>
                  <a:cs typeface="Consolas"/>
                  <a:sym typeface="Consolas"/>
                </a:rPr>
                <a:t>Knapsack DP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4199887" y="6723631"/>
            <a:ext cx="3578857" cy="561337"/>
            <a:chOff x="0" y="0"/>
            <a:chExt cx="4771809" cy="74844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8509" y="8509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11E30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771898" cy="748538"/>
            </a:xfrm>
            <a:custGeom>
              <a:avLst/>
              <a:gdLst/>
              <a:ahLst/>
              <a:cxnLst/>
              <a:rect r="r" b="b" t="t" l="l"/>
              <a:pathLst>
                <a:path h="748538" w="4771898">
                  <a:moveTo>
                    <a:pt x="8509" y="0"/>
                  </a:moveTo>
                  <a:lnTo>
                    <a:pt x="4763389" y="0"/>
                  </a:lnTo>
                  <a:cubicBezTo>
                    <a:pt x="4768088" y="0"/>
                    <a:pt x="4771898" y="3810"/>
                    <a:pt x="4771898" y="8509"/>
                  </a:cubicBezTo>
                  <a:lnTo>
                    <a:pt x="4771898" y="740029"/>
                  </a:lnTo>
                  <a:cubicBezTo>
                    <a:pt x="4771898" y="744728"/>
                    <a:pt x="4768088" y="748538"/>
                    <a:pt x="476338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4763389" y="731520"/>
                  </a:lnTo>
                  <a:lnTo>
                    <a:pt x="4763389" y="740029"/>
                  </a:lnTo>
                  <a:lnTo>
                    <a:pt x="4754880" y="740029"/>
                  </a:lnTo>
                  <a:lnTo>
                    <a:pt x="4754880" y="8509"/>
                  </a:lnTo>
                  <a:lnTo>
                    <a:pt x="4763389" y="8509"/>
                  </a:lnTo>
                  <a:lnTo>
                    <a:pt x="4763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D58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4206240" y="6729984"/>
            <a:ext cx="3566160" cy="548640"/>
            <a:chOff x="0" y="0"/>
            <a:chExt cx="4754880" cy="7315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754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DF4F8"/>
                  </a:solidFill>
                  <a:latin typeface="Consolas"/>
                  <a:ea typeface="Consolas"/>
                  <a:cs typeface="Consolas"/>
                  <a:sym typeface="Consolas"/>
                </a:rPr>
                <a:t>O(n × W)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7766047" y="6723631"/>
            <a:ext cx="2024377" cy="561337"/>
            <a:chOff x="0" y="0"/>
            <a:chExt cx="2699169" cy="74844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8509" y="8509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11E30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699258" cy="748538"/>
            </a:xfrm>
            <a:custGeom>
              <a:avLst/>
              <a:gdLst/>
              <a:ahLst/>
              <a:cxnLst/>
              <a:rect r="r" b="b" t="t" l="l"/>
              <a:pathLst>
                <a:path h="748538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740029"/>
                  </a:lnTo>
                  <a:cubicBezTo>
                    <a:pt x="2699258" y="744728"/>
                    <a:pt x="2695448" y="748538"/>
                    <a:pt x="269074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2690749" y="731520"/>
                  </a:lnTo>
                  <a:lnTo>
                    <a:pt x="2690749" y="740029"/>
                  </a:lnTo>
                  <a:lnTo>
                    <a:pt x="2682240" y="740029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D58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7772400" y="6729984"/>
            <a:ext cx="2011680" cy="548640"/>
            <a:chOff x="0" y="0"/>
            <a:chExt cx="2682240" cy="7315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DF4F8"/>
                  </a:solidFill>
                  <a:latin typeface="Consolas"/>
                  <a:ea typeface="Consolas"/>
                  <a:cs typeface="Consolas"/>
                  <a:sym typeface="Consolas"/>
                </a:rPr>
                <a:t>O(n × W)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777727" y="6723631"/>
            <a:ext cx="7510777" cy="561337"/>
            <a:chOff x="0" y="0"/>
            <a:chExt cx="10014369" cy="74844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8509" y="8509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11E30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014458" cy="748538"/>
            </a:xfrm>
            <a:custGeom>
              <a:avLst/>
              <a:gdLst/>
              <a:ahLst/>
              <a:cxnLst/>
              <a:rect r="r" b="b" t="t" l="l"/>
              <a:pathLst>
                <a:path h="748538" w="10014458">
                  <a:moveTo>
                    <a:pt x="8509" y="0"/>
                  </a:moveTo>
                  <a:lnTo>
                    <a:pt x="10005949" y="0"/>
                  </a:lnTo>
                  <a:cubicBezTo>
                    <a:pt x="10010648" y="0"/>
                    <a:pt x="10014458" y="3810"/>
                    <a:pt x="10014458" y="8509"/>
                  </a:cubicBezTo>
                  <a:lnTo>
                    <a:pt x="10014458" y="740029"/>
                  </a:lnTo>
                  <a:cubicBezTo>
                    <a:pt x="10014458" y="744728"/>
                    <a:pt x="10010648" y="748538"/>
                    <a:pt x="1000594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10005949" y="731520"/>
                  </a:lnTo>
                  <a:lnTo>
                    <a:pt x="10005949" y="740029"/>
                  </a:lnTo>
                  <a:lnTo>
                    <a:pt x="9997440" y="740029"/>
                  </a:lnTo>
                  <a:lnTo>
                    <a:pt x="9997440" y="8509"/>
                  </a:lnTo>
                  <a:lnTo>
                    <a:pt x="10005949" y="8509"/>
                  </a:lnTo>
                  <a:lnTo>
                    <a:pt x="10005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D58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784080" y="6729984"/>
            <a:ext cx="7498080" cy="548640"/>
            <a:chOff x="0" y="0"/>
            <a:chExt cx="9997440" cy="7315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9997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Optimal subset selection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25167" y="7272271"/>
            <a:ext cx="3487417" cy="561337"/>
            <a:chOff x="0" y="0"/>
            <a:chExt cx="4649889" cy="74844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8509" y="8509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E1928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649978" cy="748538"/>
            </a:xfrm>
            <a:custGeom>
              <a:avLst/>
              <a:gdLst/>
              <a:ahLst/>
              <a:cxnLst/>
              <a:rect r="r" b="b" t="t" l="l"/>
              <a:pathLst>
                <a:path h="748538" w="4649978">
                  <a:moveTo>
                    <a:pt x="8509" y="0"/>
                  </a:moveTo>
                  <a:lnTo>
                    <a:pt x="4641469" y="0"/>
                  </a:lnTo>
                  <a:cubicBezTo>
                    <a:pt x="4646168" y="0"/>
                    <a:pt x="4649978" y="3810"/>
                    <a:pt x="4649978" y="8509"/>
                  </a:cubicBezTo>
                  <a:lnTo>
                    <a:pt x="4649978" y="740029"/>
                  </a:lnTo>
                  <a:cubicBezTo>
                    <a:pt x="4649978" y="744728"/>
                    <a:pt x="4646168" y="748538"/>
                    <a:pt x="464146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4641469" y="731520"/>
                  </a:lnTo>
                  <a:lnTo>
                    <a:pt x="4641469" y="740029"/>
                  </a:lnTo>
                  <a:lnTo>
                    <a:pt x="4632960" y="740029"/>
                  </a:lnTo>
                  <a:lnTo>
                    <a:pt x="4632960" y="8509"/>
                  </a:lnTo>
                  <a:lnTo>
                    <a:pt x="4641469" y="8509"/>
                  </a:lnTo>
                  <a:lnTo>
                    <a:pt x="4641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D58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731520" y="7278624"/>
            <a:ext cx="3474720" cy="548640"/>
            <a:chOff x="0" y="0"/>
            <a:chExt cx="4632960" cy="73152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4632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DF4F8"/>
                  </a:solidFill>
                  <a:latin typeface="Consolas"/>
                  <a:ea typeface="Consolas"/>
                  <a:cs typeface="Consolas"/>
                  <a:sym typeface="Consolas"/>
                </a:rPr>
                <a:t>Dijkstra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4199887" y="7272271"/>
            <a:ext cx="3578857" cy="561337"/>
            <a:chOff x="0" y="0"/>
            <a:chExt cx="4771809" cy="74844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8509" y="8509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E1928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771898" cy="748538"/>
            </a:xfrm>
            <a:custGeom>
              <a:avLst/>
              <a:gdLst/>
              <a:ahLst/>
              <a:cxnLst/>
              <a:rect r="r" b="b" t="t" l="l"/>
              <a:pathLst>
                <a:path h="748538" w="4771898">
                  <a:moveTo>
                    <a:pt x="8509" y="0"/>
                  </a:moveTo>
                  <a:lnTo>
                    <a:pt x="4763389" y="0"/>
                  </a:lnTo>
                  <a:cubicBezTo>
                    <a:pt x="4768088" y="0"/>
                    <a:pt x="4771898" y="3810"/>
                    <a:pt x="4771898" y="8509"/>
                  </a:cubicBezTo>
                  <a:lnTo>
                    <a:pt x="4771898" y="740029"/>
                  </a:lnTo>
                  <a:cubicBezTo>
                    <a:pt x="4771898" y="744728"/>
                    <a:pt x="4768088" y="748538"/>
                    <a:pt x="476338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4763389" y="731520"/>
                  </a:lnTo>
                  <a:lnTo>
                    <a:pt x="4763389" y="740029"/>
                  </a:lnTo>
                  <a:lnTo>
                    <a:pt x="4754880" y="740029"/>
                  </a:lnTo>
                  <a:lnTo>
                    <a:pt x="4754880" y="8509"/>
                  </a:lnTo>
                  <a:lnTo>
                    <a:pt x="4763389" y="8509"/>
                  </a:lnTo>
                  <a:lnTo>
                    <a:pt x="4763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D58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4206240" y="7278624"/>
            <a:ext cx="3566160" cy="548640"/>
            <a:chOff x="0" y="0"/>
            <a:chExt cx="4754880" cy="7315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4754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DF4F8"/>
                  </a:solidFill>
                  <a:latin typeface="Consolas"/>
                  <a:ea typeface="Consolas"/>
                  <a:cs typeface="Consolas"/>
                  <a:sym typeface="Consolas"/>
                </a:rPr>
                <a:t>O((V+E) log V)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7766047" y="7272271"/>
            <a:ext cx="2024377" cy="561337"/>
            <a:chOff x="0" y="0"/>
            <a:chExt cx="2699169" cy="748449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8509" y="8509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E1928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699258" cy="748538"/>
            </a:xfrm>
            <a:custGeom>
              <a:avLst/>
              <a:gdLst/>
              <a:ahLst/>
              <a:cxnLst/>
              <a:rect r="r" b="b" t="t" l="l"/>
              <a:pathLst>
                <a:path h="748538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740029"/>
                  </a:lnTo>
                  <a:cubicBezTo>
                    <a:pt x="2699258" y="744728"/>
                    <a:pt x="2695448" y="748538"/>
                    <a:pt x="269074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2690749" y="731520"/>
                  </a:lnTo>
                  <a:lnTo>
                    <a:pt x="2690749" y="740029"/>
                  </a:lnTo>
                  <a:lnTo>
                    <a:pt x="2682240" y="740029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D58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7772400" y="7278624"/>
            <a:ext cx="2011680" cy="548640"/>
            <a:chOff x="0" y="0"/>
            <a:chExt cx="2682240" cy="73152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DF4F8"/>
                  </a:solidFill>
                  <a:latin typeface="Consolas"/>
                  <a:ea typeface="Consolas"/>
                  <a:cs typeface="Consolas"/>
                  <a:sym typeface="Consolas"/>
                </a:rPr>
                <a:t>O(V)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9777727" y="7272271"/>
            <a:ext cx="7510777" cy="561337"/>
            <a:chOff x="0" y="0"/>
            <a:chExt cx="10014369" cy="748449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8509" y="8509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E1928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0014458" cy="748538"/>
            </a:xfrm>
            <a:custGeom>
              <a:avLst/>
              <a:gdLst/>
              <a:ahLst/>
              <a:cxnLst/>
              <a:rect r="r" b="b" t="t" l="l"/>
              <a:pathLst>
                <a:path h="748538" w="10014458">
                  <a:moveTo>
                    <a:pt x="8509" y="0"/>
                  </a:moveTo>
                  <a:lnTo>
                    <a:pt x="10005949" y="0"/>
                  </a:lnTo>
                  <a:cubicBezTo>
                    <a:pt x="10010648" y="0"/>
                    <a:pt x="10014458" y="3810"/>
                    <a:pt x="10014458" y="8509"/>
                  </a:cubicBezTo>
                  <a:lnTo>
                    <a:pt x="10014458" y="740029"/>
                  </a:lnTo>
                  <a:cubicBezTo>
                    <a:pt x="10014458" y="744728"/>
                    <a:pt x="10010648" y="748538"/>
                    <a:pt x="1000594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10005949" y="731520"/>
                  </a:lnTo>
                  <a:lnTo>
                    <a:pt x="10005949" y="740029"/>
                  </a:lnTo>
                  <a:lnTo>
                    <a:pt x="9997440" y="740029"/>
                  </a:lnTo>
                  <a:lnTo>
                    <a:pt x="9997440" y="8509"/>
                  </a:lnTo>
                  <a:lnTo>
                    <a:pt x="10005949" y="8509"/>
                  </a:lnTo>
                  <a:lnTo>
                    <a:pt x="10005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D58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9784080" y="7278624"/>
            <a:ext cx="7498080" cy="548640"/>
            <a:chOff x="0" y="0"/>
            <a:chExt cx="9997440" cy="73152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9997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Shortest path, no neg. weights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725167" y="7820911"/>
            <a:ext cx="3487417" cy="561337"/>
            <a:chOff x="0" y="0"/>
            <a:chExt cx="4649889" cy="748449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8509" y="8509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11E30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4649978" cy="748538"/>
            </a:xfrm>
            <a:custGeom>
              <a:avLst/>
              <a:gdLst/>
              <a:ahLst/>
              <a:cxnLst/>
              <a:rect r="r" b="b" t="t" l="l"/>
              <a:pathLst>
                <a:path h="748538" w="4649978">
                  <a:moveTo>
                    <a:pt x="8509" y="0"/>
                  </a:moveTo>
                  <a:lnTo>
                    <a:pt x="4641469" y="0"/>
                  </a:lnTo>
                  <a:cubicBezTo>
                    <a:pt x="4646168" y="0"/>
                    <a:pt x="4649978" y="3810"/>
                    <a:pt x="4649978" y="8509"/>
                  </a:cubicBezTo>
                  <a:lnTo>
                    <a:pt x="4649978" y="740029"/>
                  </a:lnTo>
                  <a:cubicBezTo>
                    <a:pt x="4649978" y="744728"/>
                    <a:pt x="4646168" y="748538"/>
                    <a:pt x="464146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4641469" y="731520"/>
                  </a:lnTo>
                  <a:lnTo>
                    <a:pt x="4641469" y="740029"/>
                  </a:lnTo>
                  <a:lnTo>
                    <a:pt x="4632960" y="740029"/>
                  </a:lnTo>
                  <a:lnTo>
                    <a:pt x="4632960" y="8509"/>
                  </a:lnTo>
                  <a:lnTo>
                    <a:pt x="4641469" y="8509"/>
                  </a:lnTo>
                  <a:lnTo>
                    <a:pt x="4641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D58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731520" y="7827264"/>
            <a:ext cx="3474720" cy="548640"/>
            <a:chOff x="0" y="0"/>
            <a:chExt cx="4632960" cy="73152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4632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DF4F8"/>
                  </a:solidFill>
                  <a:latin typeface="Consolas"/>
                  <a:ea typeface="Consolas"/>
                  <a:cs typeface="Consolas"/>
                  <a:sym typeface="Consolas"/>
                </a:rPr>
                <a:t>Kruskal MST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4199887" y="7820911"/>
            <a:ext cx="3578857" cy="561337"/>
            <a:chOff x="0" y="0"/>
            <a:chExt cx="4771809" cy="748449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8509" y="8509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11E30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4771898" cy="748538"/>
            </a:xfrm>
            <a:custGeom>
              <a:avLst/>
              <a:gdLst/>
              <a:ahLst/>
              <a:cxnLst/>
              <a:rect r="r" b="b" t="t" l="l"/>
              <a:pathLst>
                <a:path h="748538" w="4771898">
                  <a:moveTo>
                    <a:pt x="8509" y="0"/>
                  </a:moveTo>
                  <a:lnTo>
                    <a:pt x="4763389" y="0"/>
                  </a:lnTo>
                  <a:cubicBezTo>
                    <a:pt x="4768088" y="0"/>
                    <a:pt x="4771898" y="3810"/>
                    <a:pt x="4771898" y="8509"/>
                  </a:cubicBezTo>
                  <a:lnTo>
                    <a:pt x="4771898" y="740029"/>
                  </a:lnTo>
                  <a:cubicBezTo>
                    <a:pt x="4771898" y="744728"/>
                    <a:pt x="4768088" y="748538"/>
                    <a:pt x="476338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4763389" y="731520"/>
                  </a:lnTo>
                  <a:lnTo>
                    <a:pt x="4763389" y="740029"/>
                  </a:lnTo>
                  <a:lnTo>
                    <a:pt x="4754880" y="740029"/>
                  </a:lnTo>
                  <a:lnTo>
                    <a:pt x="4754880" y="8509"/>
                  </a:lnTo>
                  <a:lnTo>
                    <a:pt x="4763389" y="8509"/>
                  </a:lnTo>
                  <a:lnTo>
                    <a:pt x="4763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D58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4206240" y="7827264"/>
            <a:ext cx="3566160" cy="548640"/>
            <a:chOff x="0" y="0"/>
            <a:chExt cx="4754880" cy="73152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4754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DF4F8"/>
                  </a:solidFill>
                  <a:latin typeface="Consolas"/>
                  <a:ea typeface="Consolas"/>
                  <a:cs typeface="Consolas"/>
                  <a:sym typeface="Consolas"/>
                </a:rPr>
                <a:t>O(E log E)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7766047" y="7820911"/>
            <a:ext cx="2024377" cy="561337"/>
            <a:chOff x="0" y="0"/>
            <a:chExt cx="2699169" cy="748449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8509" y="8509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11E30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699258" cy="748538"/>
            </a:xfrm>
            <a:custGeom>
              <a:avLst/>
              <a:gdLst/>
              <a:ahLst/>
              <a:cxnLst/>
              <a:rect r="r" b="b" t="t" l="l"/>
              <a:pathLst>
                <a:path h="748538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740029"/>
                  </a:lnTo>
                  <a:cubicBezTo>
                    <a:pt x="2699258" y="744728"/>
                    <a:pt x="2695448" y="748538"/>
                    <a:pt x="269074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2690749" y="731520"/>
                  </a:lnTo>
                  <a:lnTo>
                    <a:pt x="2690749" y="740029"/>
                  </a:lnTo>
                  <a:lnTo>
                    <a:pt x="2682240" y="740029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D58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7772400" y="7827264"/>
            <a:ext cx="2011680" cy="548640"/>
            <a:chOff x="0" y="0"/>
            <a:chExt cx="2682240" cy="73152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DF4F8"/>
                  </a:solidFill>
                  <a:latin typeface="Consolas"/>
                  <a:ea typeface="Consolas"/>
                  <a:cs typeface="Consolas"/>
                  <a:sym typeface="Consolas"/>
                </a:rPr>
                <a:t>O(V)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9777727" y="7820911"/>
            <a:ext cx="7510777" cy="561337"/>
            <a:chOff x="0" y="0"/>
            <a:chExt cx="10014369" cy="748449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8509" y="8509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11E30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0014458" cy="748538"/>
            </a:xfrm>
            <a:custGeom>
              <a:avLst/>
              <a:gdLst/>
              <a:ahLst/>
              <a:cxnLst/>
              <a:rect r="r" b="b" t="t" l="l"/>
              <a:pathLst>
                <a:path h="748538" w="10014458">
                  <a:moveTo>
                    <a:pt x="8509" y="0"/>
                  </a:moveTo>
                  <a:lnTo>
                    <a:pt x="10005949" y="0"/>
                  </a:lnTo>
                  <a:cubicBezTo>
                    <a:pt x="10010648" y="0"/>
                    <a:pt x="10014458" y="3810"/>
                    <a:pt x="10014458" y="8509"/>
                  </a:cubicBezTo>
                  <a:lnTo>
                    <a:pt x="10014458" y="740029"/>
                  </a:lnTo>
                  <a:cubicBezTo>
                    <a:pt x="10014458" y="744728"/>
                    <a:pt x="10010648" y="748538"/>
                    <a:pt x="1000594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10005949" y="731520"/>
                  </a:lnTo>
                  <a:lnTo>
                    <a:pt x="10005949" y="740029"/>
                  </a:lnTo>
                  <a:lnTo>
                    <a:pt x="9997440" y="740029"/>
                  </a:lnTo>
                  <a:lnTo>
                    <a:pt x="9997440" y="8509"/>
                  </a:lnTo>
                  <a:lnTo>
                    <a:pt x="10005949" y="8509"/>
                  </a:lnTo>
                  <a:lnTo>
                    <a:pt x="10005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D58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784080" y="7827264"/>
            <a:ext cx="7498080" cy="548640"/>
            <a:chOff x="0" y="0"/>
            <a:chExt cx="9997440" cy="73152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9997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 spanning tree / forest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725167" y="8369551"/>
            <a:ext cx="3487417" cy="561337"/>
            <a:chOff x="0" y="0"/>
            <a:chExt cx="4649889" cy="748449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8509" y="8509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E1928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4649978" cy="748538"/>
            </a:xfrm>
            <a:custGeom>
              <a:avLst/>
              <a:gdLst/>
              <a:ahLst/>
              <a:cxnLst/>
              <a:rect r="r" b="b" t="t" l="l"/>
              <a:pathLst>
                <a:path h="748538" w="4649978">
                  <a:moveTo>
                    <a:pt x="8509" y="0"/>
                  </a:moveTo>
                  <a:lnTo>
                    <a:pt x="4641469" y="0"/>
                  </a:lnTo>
                  <a:cubicBezTo>
                    <a:pt x="4646168" y="0"/>
                    <a:pt x="4649978" y="3810"/>
                    <a:pt x="4649978" y="8509"/>
                  </a:cubicBezTo>
                  <a:lnTo>
                    <a:pt x="4649978" y="740029"/>
                  </a:lnTo>
                  <a:cubicBezTo>
                    <a:pt x="4649978" y="744728"/>
                    <a:pt x="4646168" y="748538"/>
                    <a:pt x="464146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4641469" y="731520"/>
                  </a:lnTo>
                  <a:lnTo>
                    <a:pt x="4641469" y="740029"/>
                  </a:lnTo>
                  <a:lnTo>
                    <a:pt x="4632960" y="740029"/>
                  </a:lnTo>
                  <a:lnTo>
                    <a:pt x="4632960" y="8509"/>
                  </a:lnTo>
                  <a:lnTo>
                    <a:pt x="4641469" y="8509"/>
                  </a:lnTo>
                  <a:lnTo>
                    <a:pt x="4641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D58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731520" y="8375904"/>
            <a:ext cx="3474720" cy="548640"/>
            <a:chOff x="0" y="0"/>
            <a:chExt cx="4632960" cy="73152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4632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DF4F8"/>
                  </a:solidFill>
                  <a:latin typeface="Consolas"/>
                  <a:ea typeface="Consolas"/>
                  <a:cs typeface="Consolas"/>
                  <a:sym typeface="Consolas"/>
                </a:rPr>
                <a:t>Quick Sort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4199887" y="8369551"/>
            <a:ext cx="3578857" cy="561337"/>
            <a:chOff x="0" y="0"/>
            <a:chExt cx="4771809" cy="748449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8509" y="8509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E1928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4771898" cy="748538"/>
            </a:xfrm>
            <a:custGeom>
              <a:avLst/>
              <a:gdLst/>
              <a:ahLst/>
              <a:cxnLst/>
              <a:rect r="r" b="b" t="t" l="l"/>
              <a:pathLst>
                <a:path h="748538" w="4771898">
                  <a:moveTo>
                    <a:pt x="8509" y="0"/>
                  </a:moveTo>
                  <a:lnTo>
                    <a:pt x="4763389" y="0"/>
                  </a:lnTo>
                  <a:cubicBezTo>
                    <a:pt x="4768088" y="0"/>
                    <a:pt x="4771898" y="3810"/>
                    <a:pt x="4771898" y="8509"/>
                  </a:cubicBezTo>
                  <a:lnTo>
                    <a:pt x="4771898" y="740029"/>
                  </a:lnTo>
                  <a:cubicBezTo>
                    <a:pt x="4771898" y="744728"/>
                    <a:pt x="4768088" y="748538"/>
                    <a:pt x="476338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4763389" y="731520"/>
                  </a:lnTo>
                  <a:lnTo>
                    <a:pt x="4763389" y="740029"/>
                  </a:lnTo>
                  <a:lnTo>
                    <a:pt x="4754880" y="740029"/>
                  </a:lnTo>
                  <a:lnTo>
                    <a:pt x="4754880" y="8509"/>
                  </a:lnTo>
                  <a:lnTo>
                    <a:pt x="4763389" y="8509"/>
                  </a:lnTo>
                  <a:lnTo>
                    <a:pt x="4763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D58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4206240" y="8375904"/>
            <a:ext cx="3566160" cy="548640"/>
            <a:chOff x="0" y="0"/>
            <a:chExt cx="4754880" cy="73152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4754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DF4F8"/>
                  </a:solidFill>
                  <a:latin typeface="Consolas"/>
                  <a:ea typeface="Consolas"/>
                  <a:cs typeface="Consolas"/>
                  <a:sym typeface="Consolas"/>
                </a:rPr>
                <a:t>O(n log n) avg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7766047" y="8369551"/>
            <a:ext cx="2024377" cy="561337"/>
            <a:chOff x="0" y="0"/>
            <a:chExt cx="2699169" cy="748449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8509" y="8509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E1928"/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699258" cy="748538"/>
            </a:xfrm>
            <a:custGeom>
              <a:avLst/>
              <a:gdLst/>
              <a:ahLst/>
              <a:cxnLst/>
              <a:rect r="r" b="b" t="t" l="l"/>
              <a:pathLst>
                <a:path h="748538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740029"/>
                  </a:lnTo>
                  <a:cubicBezTo>
                    <a:pt x="2699258" y="744728"/>
                    <a:pt x="2695448" y="748538"/>
                    <a:pt x="269074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2690749" y="731520"/>
                  </a:lnTo>
                  <a:lnTo>
                    <a:pt x="2690749" y="740029"/>
                  </a:lnTo>
                  <a:lnTo>
                    <a:pt x="2682240" y="740029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D58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7772400" y="8375904"/>
            <a:ext cx="2011680" cy="548640"/>
            <a:chOff x="0" y="0"/>
            <a:chExt cx="2682240" cy="73152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DF4F8"/>
                  </a:solidFill>
                  <a:latin typeface="Consolas"/>
                  <a:ea typeface="Consolas"/>
                  <a:cs typeface="Consolas"/>
                  <a:sym typeface="Consolas"/>
                </a:rPr>
                <a:t>O(log n)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9777727" y="8369551"/>
            <a:ext cx="7510777" cy="561337"/>
            <a:chOff x="0" y="0"/>
            <a:chExt cx="10014369" cy="748449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8509" y="8509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E1928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10014458" cy="748538"/>
            </a:xfrm>
            <a:custGeom>
              <a:avLst/>
              <a:gdLst/>
              <a:ahLst/>
              <a:cxnLst/>
              <a:rect r="r" b="b" t="t" l="l"/>
              <a:pathLst>
                <a:path h="748538" w="10014458">
                  <a:moveTo>
                    <a:pt x="8509" y="0"/>
                  </a:moveTo>
                  <a:lnTo>
                    <a:pt x="10005949" y="0"/>
                  </a:lnTo>
                  <a:cubicBezTo>
                    <a:pt x="10010648" y="0"/>
                    <a:pt x="10014458" y="3810"/>
                    <a:pt x="10014458" y="8509"/>
                  </a:cubicBezTo>
                  <a:lnTo>
                    <a:pt x="10014458" y="740029"/>
                  </a:lnTo>
                  <a:cubicBezTo>
                    <a:pt x="10014458" y="744728"/>
                    <a:pt x="10010648" y="748538"/>
                    <a:pt x="1000594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10005949" y="731520"/>
                  </a:lnTo>
                  <a:lnTo>
                    <a:pt x="10005949" y="740029"/>
                  </a:lnTo>
                  <a:lnTo>
                    <a:pt x="9997440" y="740029"/>
                  </a:lnTo>
                  <a:lnTo>
                    <a:pt x="9997440" y="8509"/>
                  </a:lnTo>
                  <a:lnTo>
                    <a:pt x="10005949" y="8509"/>
                  </a:lnTo>
                  <a:lnTo>
                    <a:pt x="10005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D58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9784080" y="8375904"/>
            <a:ext cx="7498080" cy="548640"/>
            <a:chOff x="0" y="0"/>
            <a:chExt cx="9997440" cy="73152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9997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4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In-place, median-of-three pivot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721357" y="9060685"/>
            <a:ext cx="16845277" cy="751837"/>
            <a:chOff x="0" y="0"/>
            <a:chExt cx="22460369" cy="1002449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13589" y="13589"/>
              <a:ext cx="22433280" cy="975360"/>
            </a:xfrm>
            <a:custGeom>
              <a:avLst/>
              <a:gdLst/>
              <a:ahLst/>
              <a:cxnLst/>
              <a:rect r="r" b="b" t="t" l="l"/>
              <a:pathLst>
                <a:path h="9753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50D18"/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22460458" cy="1002538"/>
            </a:xfrm>
            <a:custGeom>
              <a:avLst/>
              <a:gdLst/>
              <a:ahLst/>
              <a:cxnLst/>
              <a:rect r="r" b="b" t="t" l="l"/>
              <a:pathLst>
                <a:path h="1002538" w="22460458">
                  <a:moveTo>
                    <a:pt x="13589" y="0"/>
                  </a:moveTo>
                  <a:lnTo>
                    <a:pt x="22446869" y="0"/>
                  </a:lnTo>
                  <a:cubicBezTo>
                    <a:pt x="22454363" y="0"/>
                    <a:pt x="22460458" y="6096"/>
                    <a:pt x="22460458" y="13589"/>
                  </a:cubicBezTo>
                  <a:lnTo>
                    <a:pt x="22460458" y="988949"/>
                  </a:lnTo>
                  <a:cubicBezTo>
                    <a:pt x="22460458" y="996442"/>
                    <a:pt x="22454363" y="1002538"/>
                    <a:pt x="22446869" y="1002538"/>
                  </a:cubicBezTo>
                  <a:lnTo>
                    <a:pt x="13589" y="1002538"/>
                  </a:lnTo>
                  <a:cubicBezTo>
                    <a:pt x="6096" y="1002411"/>
                    <a:pt x="0" y="996442"/>
                    <a:pt x="0" y="98894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988949"/>
                  </a:lnTo>
                  <a:lnTo>
                    <a:pt x="13589" y="988949"/>
                  </a:lnTo>
                  <a:lnTo>
                    <a:pt x="13589" y="975360"/>
                  </a:lnTo>
                  <a:lnTo>
                    <a:pt x="22446869" y="975360"/>
                  </a:lnTo>
                  <a:lnTo>
                    <a:pt x="22446869" y="988949"/>
                  </a:lnTo>
                  <a:lnTo>
                    <a:pt x="22433280" y="988949"/>
                  </a:lnTo>
                  <a:lnTo>
                    <a:pt x="22433280" y="13589"/>
                  </a:lnTo>
                  <a:lnTo>
                    <a:pt x="22446869" y="13589"/>
                  </a:lnTo>
                  <a:lnTo>
                    <a:pt x="2244686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0A7EA4"/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914400" y="9107424"/>
            <a:ext cx="16459200" cy="658368"/>
            <a:chOff x="0" y="0"/>
            <a:chExt cx="21945600" cy="877824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2194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47625"/>
              <a:ext cx="219456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64D2E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g++ -std=c++17 -Wall lean.cpp -o delivery     →     ./delivery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79151" y="3690910"/>
            <a:ext cx="7929697" cy="259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7"/>
              </a:lnSpc>
              <a:spcBef>
                <a:spcPct val="0"/>
              </a:spcBef>
            </a:pPr>
            <a:r>
              <a:rPr lang="en-US" sz="1499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DAHHxb3Cg5A</dc:identifier>
  <dcterms:modified xsi:type="dcterms:W3CDTF">2011-08-01T06:04:30Z</dcterms:modified>
  <cp:revision>1</cp:revision>
  <dc:title>RouteWise_Presentation.pptx</dc:title>
</cp:coreProperties>
</file>