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64008" cy="29260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105156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332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RouteWise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Optimization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loads. Faster routes. Cheaper networks.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4297680"/>
            <a:ext cx="146304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DP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58568" y="4297680"/>
            <a:ext cx="146304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58768" y="4297680"/>
            <a:ext cx="146304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MST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58968" y="4297680"/>
            <a:ext cx="1463040" cy="320040"/>
          </a:xfrm>
          <a:prstGeom prst="rect">
            <a:avLst/>
          </a:prstGeom>
          <a:solidFill>
            <a:srgbClr val="112B47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8968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3200400"/>
            <a:ext cx="1645920" cy="1645920"/>
          </a:xfrm>
          <a:prstGeom prst="ellipse">
            <a:avLst/>
          </a:prstGeom>
          <a:solidFill>
            <a:srgbClr val="64D2EE">
              <a:alpha val="10000"/>
            </a:srgbClr>
          </a:solidFill>
          <a:ln w="12700">
            <a:solidFill>
              <a:srgbClr val="64D2EE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challenges every delivery company faces daily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2697480" cy="73152"/>
          </a:xfrm>
          <a:prstGeom prst="rect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Trucks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4632" y="245059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guess which packages to load.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items get left behind.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limits are breached.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128016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280160"/>
            <a:ext cx="2697480" cy="73152"/>
          </a:xfrm>
          <a:prstGeom prst="rect">
            <a:avLst/>
          </a:prstGeom>
          <a:solidFill>
            <a:srgbClr val="F4A84A"/>
          </a:solidFill>
          <a:ln w="12700">
            <a:solidFill>
              <a:srgbClr val="F4A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Routes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37560" y="245059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for finding shortest paths.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waste fuel on long detours.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arrive late.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5896" y="128016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280160"/>
            <a:ext cx="269748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90488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Networks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90488" y="245059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roads maintained.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analysis of the cheapest way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all cities connected.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RouteWise Solves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algorithms. One cohesive system.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77640" cy="1600200"/>
          </a:xfrm>
          <a:prstGeom prst="rect">
            <a:avLst/>
          </a:prstGeom>
          <a:solidFill>
            <a:srgbClr val="112B47"/>
          </a:solidFill>
          <a:ln w="15240">
            <a:solidFill>
              <a:srgbClr val="64D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475488" cy="475488"/>
          </a:xfrm>
          <a:prstGeom prst="ellipse">
            <a:avLst/>
          </a:prstGeom>
          <a:solidFill>
            <a:srgbClr val="64D2EE"/>
          </a:solidFill>
          <a:ln w="12700">
            <a:solidFill>
              <a:srgbClr val="64D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490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562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 &amp; validate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packages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1600200"/>
          </a:xfrm>
          <a:prstGeom prst="rect">
            <a:avLst/>
          </a:prstGeom>
          <a:solidFill>
            <a:srgbClr val="112B47"/>
          </a:solidFill>
          <a:ln w="15240">
            <a:solidFill>
              <a:srgbClr val="6D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508760"/>
            <a:ext cx="475488" cy="475488"/>
          </a:xfrm>
          <a:prstGeom prst="ellipse">
            <a:avLst/>
          </a:prstGeom>
          <a:solidFill>
            <a:srgbClr val="6DD6A0"/>
          </a:solidFill>
          <a:ln w="12700">
            <a:solidFill>
              <a:srgbClr val="6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8132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490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DP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8562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optimal 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truck capacity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3977640" cy="1600200"/>
          </a:xfrm>
          <a:prstGeom prst="rect">
            <a:avLst/>
          </a:prstGeom>
          <a:solidFill>
            <a:srgbClr val="112B47"/>
          </a:solidFill>
          <a:ln w="15240">
            <a:solidFill>
              <a:srgbClr val="12A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91840"/>
            <a:ext cx="475488" cy="475488"/>
          </a:xfrm>
          <a:prstGeom prst="ellipse">
            <a:avLst/>
          </a:prstGeom>
          <a:solidFill>
            <a:srgbClr val="12A3D0"/>
          </a:solidFill>
          <a:ln w="12700">
            <a:solidFill>
              <a:srgbClr val="12A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6440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Routing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63931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to every city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977640" cy="1600200"/>
          </a:xfrm>
          <a:prstGeom prst="rect">
            <a:avLst/>
          </a:prstGeom>
          <a:solidFill>
            <a:srgbClr val="112B47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91840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6440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3273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MST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63931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road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for all cities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2176272"/>
            <a:ext cx="1005840" cy="73152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214884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— Optimal Package Loading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capacity: 50 kg
</a:t>
            </a:r>
            <a:pPr indent="0" marL="0">
              <a:buNone/>
            </a:pPr>
            <a:r>
              <a:rPr lang="en-US" sz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packages to </a:t>
            </a:r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profit</a:t>
            </a:r>
            <a:pPr indent="0" marL="0">
              <a:buNone/>
            </a:pPr>
            <a:r>
              <a:rPr lang="en-US" sz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exceeding the weight limit.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package: take it or leave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DP Table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274320" cy="27432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7919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dp[i][w] = best profit using first i packages at capacity 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3127248"/>
            <a:ext cx="274320" cy="27432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0896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package too heavy → inherit value from row above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557016"/>
            <a:ext cx="274320" cy="27432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53872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max(skip it,  take it + dp[i-1][w-weight])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986784"/>
            <a:ext cx="274320" cy="27432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68496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96849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 the table to find which packages were chosen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841248"/>
            <a:ext cx="40233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Table  (capacity = 5 kg, profit × 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1261872"/>
            <a:ext cx="493776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2618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30368" y="1261872"/>
            <a:ext cx="493776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2618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24144" y="1261872"/>
            <a:ext cx="493776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24144" y="12618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0" y="1261872"/>
            <a:ext cx="493776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2618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11696" y="1261872"/>
            <a:ext cx="493776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696" y="12618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05472" y="1261872"/>
            <a:ext cx="493776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12618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99248" y="1261872"/>
            <a:ext cx="493776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12618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36592" y="1645920"/>
            <a:ext cx="493776" cy="384048"/>
          </a:xfrm>
          <a:prstGeom prst="rect">
            <a:avLst/>
          </a:prstGeom>
          <a:solidFill>
            <a:srgbClr val="EDF4FA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16459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30368" y="1645920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16459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24144" y="1645920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24144" y="16459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1645920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6459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11696" y="1645920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11696" y="16459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05472" y="1645920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05472" y="16459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99248" y="1645920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9248" y="16459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36592" y="2029968"/>
            <a:ext cx="493776" cy="384048"/>
          </a:xfrm>
          <a:prstGeom prst="rect">
            <a:avLst/>
          </a:prstGeom>
          <a:solidFill>
            <a:srgbClr val="EDF4FA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20299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2kg $6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30368" y="2029968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0368" y="20299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24144" y="2029968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24144" y="20299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2029968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20299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711696" y="2029968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11696" y="20299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205472" y="2029968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05472" y="20299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699248" y="2029968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99248" y="20299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36592" y="2414016"/>
            <a:ext cx="493776" cy="384048"/>
          </a:xfrm>
          <a:prstGeom prst="rect">
            <a:avLst/>
          </a:prstGeom>
          <a:solidFill>
            <a:srgbClr val="EDF4FA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24140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2kg$10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230368" y="2414016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30368" y="24140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724144" y="2414016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24144" y="24140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2414016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24140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711696" y="2414016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11696" y="24140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205472" y="2414016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24140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699248" y="2414016"/>
            <a:ext cx="493776" cy="384048"/>
          </a:xfrm>
          <a:prstGeom prst="rect">
            <a:avLst/>
          </a:prstGeom>
          <a:solidFill>
            <a:srgbClr val="FAFEFF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99248" y="24140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736592" y="2798064"/>
            <a:ext cx="493776" cy="384048"/>
          </a:xfrm>
          <a:prstGeom prst="rect">
            <a:avLst/>
          </a:prstGeom>
          <a:solidFill>
            <a:srgbClr val="EDF4FA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36592" y="27980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3kg$12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230368" y="2798064"/>
            <a:ext cx="493776" cy="384048"/>
          </a:xfrm>
          <a:prstGeom prst="rect">
            <a:avLst/>
          </a:prstGeom>
          <a:solidFill>
            <a:srgbClr val="E8F8F4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30368" y="27980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724144" y="2798064"/>
            <a:ext cx="493776" cy="384048"/>
          </a:xfrm>
          <a:prstGeom prst="rect">
            <a:avLst/>
          </a:prstGeom>
          <a:solidFill>
            <a:srgbClr val="E8F8F4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24144" y="27980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798064"/>
            <a:ext cx="493776" cy="384048"/>
          </a:xfrm>
          <a:prstGeom prst="rect">
            <a:avLst/>
          </a:prstGeom>
          <a:solidFill>
            <a:srgbClr val="E8F8F4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17920" y="27980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711696" y="2798064"/>
            <a:ext cx="493776" cy="384048"/>
          </a:xfrm>
          <a:prstGeom prst="rect">
            <a:avLst/>
          </a:prstGeom>
          <a:solidFill>
            <a:srgbClr val="E8F8F4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11696" y="27980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205472" y="2798064"/>
            <a:ext cx="493776" cy="384048"/>
          </a:xfrm>
          <a:prstGeom prst="rect">
            <a:avLst/>
          </a:prstGeom>
          <a:solidFill>
            <a:srgbClr val="E8F8F4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05472" y="27980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699248" y="2798064"/>
            <a:ext cx="493776" cy="384048"/>
          </a:xfrm>
          <a:prstGeom prst="rect">
            <a:avLst/>
          </a:prstGeom>
          <a:solidFill>
            <a:srgbClr val="2EC4A5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99248" y="27980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903720" y="32552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dp[3][5] = 22  (optimal)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736592" y="3931920"/>
            <a:ext cx="3858768" cy="594360"/>
          </a:xfrm>
          <a:prstGeom prst="rect">
            <a:avLst/>
          </a:prstGeom>
          <a:solidFill>
            <a:srgbClr val="E8F8F4"/>
          </a:solidFill>
          <a:ln w="15240">
            <a:solidFill>
              <a:srgbClr val="2EC4A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00600" y="3959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Selected B + C  →  Weight 5 kg  |  Profit $22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Shortest Delivery Routes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4864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167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dist[depot] = 0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cities → ∞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2075688"/>
            <a:ext cx="54864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665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always picks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3225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unvisited city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25496"/>
            <a:ext cx="54864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16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neighbours: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shorter path found, update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75304"/>
            <a:ext cx="54864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Stale-entry guard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outdated heap entries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343400"/>
            <a:ext cx="3794760" cy="457200"/>
          </a:xfrm>
          <a:prstGeom prst="rect">
            <a:avLst/>
          </a:prstGeom>
          <a:solidFill>
            <a:srgbClr val="112B47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370832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 O((V + E) log V)  with binary min-heap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4069080" cy="4041648"/>
          </a:xfrm>
          <a:prstGeom prst="rect">
            <a:avLst/>
          </a:prstGeom>
          <a:solidFill>
            <a:srgbClr val="112B47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896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Network  (source = Depot)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96712" y="1719072"/>
            <a:ext cx="1371600" cy="0"/>
          </a:xfrm>
          <a:prstGeom prst="line">
            <a:avLst/>
          </a:prstGeom>
          <a:noFill/>
          <a:ln w="19050">
            <a:solidFill>
              <a:srgbClr val="3D6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96712" y="1719072"/>
            <a:ext cx="0" cy="1188720"/>
          </a:xfrm>
          <a:prstGeom prst="line">
            <a:avLst/>
          </a:prstGeom>
          <a:noFill/>
          <a:ln w="31750">
            <a:solidFill>
              <a:srgbClr val="2EC4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68312" y="1719072"/>
            <a:ext cx="-1371600" cy="1188720"/>
          </a:xfrm>
          <a:prstGeom prst="line">
            <a:avLst/>
          </a:prstGeom>
          <a:noFill/>
          <a:ln w="19050">
            <a:solidFill>
              <a:srgbClr val="3D6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194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68312" y="1719072"/>
            <a:ext cx="1234440" cy="594360"/>
          </a:xfrm>
          <a:prstGeom prst="line">
            <a:avLst/>
          </a:prstGeom>
          <a:noFill/>
          <a:ln w="19050">
            <a:solidFill>
              <a:srgbClr val="3D6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5220" y="18973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96712" y="2907792"/>
            <a:ext cx="1371600" cy="0"/>
          </a:xfrm>
          <a:prstGeom prst="line">
            <a:avLst/>
          </a:prstGeom>
          <a:noFill/>
          <a:ln w="31750">
            <a:solidFill>
              <a:srgbClr val="2EC4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7889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68312" y="2907792"/>
            <a:ext cx="1234440" cy="-594360"/>
          </a:xfrm>
          <a:prstGeom prst="line">
            <a:avLst/>
          </a:prstGeom>
          <a:noFill/>
          <a:ln w="31750">
            <a:solidFill>
              <a:srgbClr val="2EC4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5220" y="24917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32120" y="1554480"/>
            <a:ext cx="685800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15544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03720" y="1554480"/>
            <a:ext cx="685800" cy="384048"/>
          </a:xfrm>
          <a:prstGeom prst="ellipse">
            <a:avLst/>
          </a:prstGeom>
          <a:solidFill>
            <a:srgbClr val="112B47"/>
          </a:solidFill>
          <a:ln w="15240">
            <a:solidFill>
              <a:srgbClr val="64D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5544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32120" y="2743200"/>
            <a:ext cx="685800" cy="384048"/>
          </a:xfrm>
          <a:prstGeom prst="ellipse">
            <a:avLst/>
          </a:prstGeom>
          <a:solidFill>
            <a:srgbClr val="112B47"/>
          </a:solidFill>
          <a:ln w="15240">
            <a:solidFill>
              <a:srgbClr val="64D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7432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2743200"/>
            <a:ext cx="685800" cy="384048"/>
          </a:xfrm>
          <a:prstGeom prst="ellipse">
            <a:avLst/>
          </a:prstGeom>
          <a:solidFill>
            <a:srgbClr val="112B47"/>
          </a:solidFill>
          <a:ln w="15240">
            <a:solidFill>
              <a:srgbClr val="64D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7432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138160" y="2148840"/>
            <a:ext cx="685800" cy="384048"/>
          </a:xfrm>
          <a:prstGeom prst="ellipse">
            <a:avLst/>
          </a:prstGeom>
          <a:solidFill>
            <a:srgbClr val="112B47"/>
          </a:solidFill>
          <a:ln w="15240">
            <a:solidFill>
              <a:srgbClr val="64D2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2148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00600" y="3310128"/>
            <a:ext cx="3767328" cy="1298448"/>
          </a:xfrm>
          <a:prstGeom prst="rect">
            <a:avLst/>
          </a:prstGeom>
          <a:solidFill>
            <a:srgbClr val="0A1C30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3649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D2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      Dist    Path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92040" y="36118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A          10      Depot→A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92040" y="384962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B          6       Depot→B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92040" y="40873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C          20      Depot→B→D→C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92040" y="43251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D          10      Depot→B→D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MST — Cheapest Network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(Cycle Detection)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find(x)  → walk to root + compress path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unite(x,y) → merge by rank, return true if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020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different components (safe to add)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false  → same component = would cycle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999232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Steps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Collect all unique edges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Sort by weight (ascending)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032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For each edge: unite() → if true, add to MST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Stop when V−1 edges collected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06908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051560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Result  (5 cities, total cost = 25)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73168" y="1417320"/>
            <a:ext cx="32004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4173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93208" y="1417320"/>
            <a:ext cx="105156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3208" y="1417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44768" y="1417320"/>
            <a:ext cx="105156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417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96328" y="1417320"/>
            <a:ext cx="804672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141732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01000" y="1417320"/>
            <a:ext cx="6858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141732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1764792"/>
            <a:ext cx="320040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764792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93208" y="1764792"/>
            <a:ext cx="1051560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1764792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44768" y="1764792"/>
            <a:ext cx="1051560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1764792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96328" y="1764792"/>
            <a:ext cx="804672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1764792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01000" y="1764792"/>
            <a:ext cx="685800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176479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2103120"/>
            <a:ext cx="320040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103120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93208" y="2103120"/>
            <a:ext cx="1051560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93208" y="2103120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44768" y="2103120"/>
            <a:ext cx="1051560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2103120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96328" y="2103120"/>
            <a:ext cx="804672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2103120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01000" y="2103120"/>
            <a:ext cx="685800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01000" y="2103120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73168" y="2441448"/>
            <a:ext cx="320040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2441448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93208" y="2441448"/>
            <a:ext cx="1051560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93208" y="244144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44768" y="2441448"/>
            <a:ext cx="1051560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44768" y="2441448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96328" y="2441448"/>
            <a:ext cx="804672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96328" y="2441448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001000" y="2441448"/>
            <a:ext cx="685800" cy="338328"/>
          </a:xfrm>
          <a:prstGeom prst="rect">
            <a:avLst/>
          </a:prstGeom>
          <a:solidFill>
            <a:srgbClr val="EBF8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01000" y="2441448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73168" y="2779776"/>
            <a:ext cx="320040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73168" y="2779776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93208" y="2779776"/>
            <a:ext cx="1051560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93208" y="2779776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44768" y="2779776"/>
            <a:ext cx="1051560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2779776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196328" y="2779776"/>
            <a:ext cx="804672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96328" y="277977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001000" y="2779776"/>
            <a:ext cx="685800" cy="338328"/>
          </a:xfrm>
          <a:prstGeom prst="rect">
            <a:avLst/>
          </a:prstGeom>
          <a:solidFill>
            <a:srgbClr val="F5FBF8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01000" y="2779776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73168" y="3118104"/>
            <a:ext cx="320040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73168" y="3118104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093208" y="3118104"/>
            <a:ext cx="1051560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93208" y="311810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144768" y="3118104"/>
            <a:ext cx="1051560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44768" y="3118104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96328" y="3118104"/>
            <a:ext cx="804672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96328" y="3118104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001000" y="3118104"/>
            <a:ext cx="685800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01000" y="3118104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Skip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773168" y="3456432"/>
            <a:ext cx="320040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73168" y="3456432"/>
            <a:ext cx="320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093208" y="3456432"/>
            <a:ext cx="1051560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93208" y="3456432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44768" y="3456432"/>
            <a:ext cx="1051560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44768" y="3456432"/>
            <a:ext cx="1051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196328" y="3456432"/>
            <a:ext cx="804672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96328" y="3456432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001000" y="3456432"/>
            <a:ext cx="685800" cy="338328"/>
          </a:xfrm>
          <a:prstGeom prst="rect">
            <a:avLst/>
          </a:prstGeom>
          <a:solidFill>
            <a:srgbClr val="FFF2F2"/>
          </a:solidFill>
          <a:ln w="6350">
            <a:solidFill>
              <a:srgbClr val="D5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01000" y="3456432"/>
            <a:ext cx="685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Skip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773168" y="3794760"/>
            <a:ext cx="3712464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73168" y="379476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MST weight:  25.0   |   4 edges  |   All 5 cities connected ✓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773168" y="4315968"/>
            <a:ext cx="3712464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28032" y="43434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 O(E log E)  —  dominated by the sort step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— Package Ordering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697480" cy="1234440"/>
          </a:xfrm>
          <a:prstGeom prst="rect">
            <a:avLst/>
          </a:prstGeom>
          <a:solidFill>
            <a:srgbClr val="112B47"/>
          </a:solidFill>
          <a:ln w="19050">
            <a:solidFill>
              <a:srgbClr val="12A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2697480" cy="64008"/>
          </a:xfrm>
          <a:prstGeom prst="rect">
            <a:avLst/>
          </a:prstGeom>
          <a:solidFill>
            <a:srgbClr val="12A3D0"/>
          </a:solidFill>
          <a:ln w="12700">
            <a:solidFill>
              <a:srgbClr val="12A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789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Weight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" y="14173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 load order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697480" cy="1234440"/>
          </a:xfrm>
          <a:prstGeom prst="rect">
            <a:avLst/>
          </a:prstGeom>
          <a:solidFill>
            <a:srgbClr val="112B47"/>
          </a:solidFill>
          <a:ln w="19050">
            <a:solidFill>
              <a:srgbClr val="6D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960120"/>
            <a:ext cx="2697480" cy="64008"/>
          </a:xfrm>
          <a:prstGeom prst="rect">
            <a:avLst/>
          </a:prstGeom>
          <a:solidFill>
            <a:srgbClr val="6DD6A0"/>
          </a:solidFill>
          <a:ln w="12700">
            <a:solidFill>
              <a:srgbClr val="6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0789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Profit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56432" y="14173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priority list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2697480" cy="1234440"/>
          </a:xfrm>
          <a:prstGeom prst="rect">
            <a:avLst/>
          </a:prstGeom>
          <a:solidFill>
            <a:srgbClr val="112B4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960120"/>
            <a:ext cx="2697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0789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Ratio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36792" y="14173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$/kg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greedy heuristic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331720"/>
            <a:ext cx="8321040" cy="1188720"/>
          </a:xfrm>
          <a:prstGeom prst="rect">
            <a:avLst/>
          </a:prstGeom>
          <a:solidFill>
            <a:srgbClr val="112B47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23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Median-of-Three Pivot  (avoids O(n²) worst case)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72491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packages[low], packages[mid], packages[high] → use the middle value as pivot.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worst-case O(n²) that happens when the array is already sorted.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6576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Sort by Profit/kg Ratio  (descending)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005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251960"/>
            <a:ext cx="896112" cy="50292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D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70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PKG-003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44805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4251960"/>
            <a:ext cx="896112" cy="50292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D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270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PKG-002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71600" y="44805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31720" y="4251960"/>
            <a:ext cx="896112" cy="50292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D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4270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PKG-001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31720" y="44805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4251960"/>
            <a:ext cx="896112" cy="50292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D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4270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PKG-006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91840" y="44805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4005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4251960"/>
            <a:ext cx="896112" cy="502920"/>
          </a:xfrm>
          <a:prstGeom prst="rect">
            <a:avLst/>
          </a:prstGeom>
          <a:solidFill>
            <a:srgbClr val="1A3D2A"/>
          </a:solidFill>
          <a:ln w="12700">
            <a:solidFill>
              <a:srgbClr val="2EC4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270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PKG-006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09160" y="44805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4251960"/>
            <a:ext cx="896112" cy="50292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D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4270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PKG-001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0" y="44805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29400" y="4251960"/>
            <a:ext cx="896112" cy="50292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D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4270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PKG-002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29400" y="44805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4251960"/>
            <a:ext cx="896112" cy="502920"/>
          </a:xfrm>
          <a:prstGeom prst="rect">
            <a:avLst/>
          </a:prstGeom>
          <a:solidFill>
            <a:srgbClr val="1A2E40"/>
          </a:solidFill>
          <a:ln w="12700">
            <a:solidFill>
              <a:srgbClr val="2A4D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4270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PKG-003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44805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87952" y="4498848"/>
            <a:ext cx="457200" cy="0"/>
          </a:xfrm>
          <a:prstGeom prst="line">
            <a:avLst/>
          </a:prstGeom>
          <a:noFill/>
          <a:ln w="31750">
            <a:solidFill>
              <a:srgbClr val="0A7E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87952" y="44074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65960" cy="1600200"/>
          </a:xfrm>
          <a:prstGeom prst="rect">
            <a:avLst/>
          </a:prstGeom>
          <a:solidFill>
            <a:srgbClr val="112B47"/>
          </a:solidFill>
          <a:ln w="19050">
            <a:solidFill>
              <a:srgbClr val="64D2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51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· Dijkstra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· Quick Sort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87168" y="960120"/>
            <a:ext cx="1965960" cy="1600200"/>
          </a:xfrm>
          <a:prstGeom prst="rect">
            <a:avLst/>
          </a:prstGeom>
          <a:solidFill>
            <a:srgbClr val="112B47"/>
          </a:solidFill>
          <a:ln w="19050">
            <a:solidFill>
              <a:srgbClr val="6D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87168" y="1051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87168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87168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lean.cpp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headers needed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08576" y="960120"/>
            <a:ext cx="1965960" cy="1600200"/>
          </a:xfrm>
          <a:prstGeom prst="rect">
            <a:avLst/>
          </a:prstGeom>
          <a:solidFill>
            <a:srgbClr val="112B47"/>
          </a:solidFill>
          <a:ln w="19050">
            <a:solidFill>
              <a:srgbClr val="12A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1051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08576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8576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well-commented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9984" y="960120"/>
            <a:ext cx="1965960" cy="1600200"/>
          </a:xfrm>
          <a:prstGeom prst="rect">
            <a:avLst/>
          </a:prstGeom>
          <a:solidFill>
            <a:srgbClr val="112B4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9984" y="1051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29984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9984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· 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priority_queue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841248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614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 Reference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72384"/>
            <a:ext cx="1737360" cy="292608"/>
          </a:xfrm>
          <a:prstGeom prst="rect">
            <a:avLst/>
          </a:prstGeom>
          <a:solidFill>
            <a:srgbClr val="112B47"/>
          </a:solidFill>
          <a:ln w="6350">
            <a:solidFill>
              <a:srgbClr val="2A4D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723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3120" y="3072384"/>
            <a:ext cx="1783080" cy="292608"/>
          </a:xfrm>
          <a:prstGeom prst="rect">
            <a:avLst/>
          </a:prstGeom>
          <a:solidFill>
            <a:srgbClr val="112B47"/>
          </a:solidFill>
          <a:ln w="6350">
            <a:solidFill>
              <a:srgbClr val="2A4D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30723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86200" y="3072384"/>
            <a:ext cx="1005840" cy="292608"/>
          </a:xfrm>
          <a:prstGeom prst="rect">
            <a:avLst/>
          </a:prstGeom>
          <a:solidFill>
            <a:srgbClr val="112B47"/>
          </a:solidFill>
          <a:ln w="6350">
            <a:solidFill>
              <a:srgbClr val="2A4D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072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3072384"/>
            <a:ext cx="3749040" cy="292608"/>
          </a:xfrm>
          <a:prstGeom prst="rect">
            <a:avLst/>
          </a:prstGeom>
          <a:solidFill>
            <a:srgbClr val="112B47"/>
          </a:solidFill>
          <a:ln w="6350">
            <a:solidFill>
              <a:srgbClr val="2A4D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723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364992"/>
            <a:ext cx="1737360" cy="274320"/>
          </a:xfrm>
          <a:prstGeom prst="rect">
            <a:avLst/>
          </a:prstGeom>
          <a:solidFill>
            <a:srgbClr val="111E30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Knapsack DP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3364992"/>
            <a:ext cx="1783080" cy="274320"/>
          </a:xfrm>
          <a:prstGeom prst="rect">
            <a:avLst/>
          </a:prstGeom>
          <a:solidFill>
            <a:srgbClr val="111E30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364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W)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86200" y="3364992"/>
            <a:ext cx="1005840" cy="274320"/>
          </a:xfrm>
          <a:prstGeom prst="rect">
            <a:avLst/>
          </a:prstGeom>
          <a:solidFill>
            <a:srgbClr val="111E30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W)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3364992"/>
            <a:ext cx="3749040" cy="274320"/>
          </a:xfrm>
          <a:prstGeom prst="rect">
            <a:avLst/>
          </a:prstGeom>
          <a:solidFill>
            <a:srgbClr val="111E30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subset selection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639312"/>
            <a:ext cx="1737360" cy="274320"/>
          </a:xfrm>
          <a:prstGeom prst="rect">
            <a:avLst/>
          </a:prstGeom>
          <a:solidFill>
            <a:srgbClr val="0E1928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639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03120" y="3639312"/>
            <a:ext cx="1783080" cy="274320"/>
          </a:xfrm>
          <a:prstGeom prst="rect">
            <a:avLst/>
          </a:prstGeom>
          <a:solidFill>
            <a:srgbClr val="0E1928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3639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 log V)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86200" y="3639312"/>
            <a:ext cx="1005840" cy="274320"/>
          </a:xfrm>
          <a:prstGeom prst="rect">
            <a:avLst/>
          </a:prstGeom>
          <a:solidFill>
            <a:srgbClr val="0E1928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3639312"/>
            <a:ext cx="3749040" cy="274320"/>
          </a:xfrm>
          <a:prstGeom prst="rect">
            <a:avLst/>
          </a:prstGeom>
          <a:solidFill>
            <a:srgbClr val="0E1928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path, no neg. weights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913632"/>
            <a:ext cx="1737360" cy="274320"/>
          </a:xfrm>
          <a:prstGeom prst="rect">
            <a:avLst/>
          </a:prstGeom>
          <a:solidFill>
            <a:srgbClr val="111E30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 MST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03120" y="3913632"/>
            <a:ext cx="1783080" cy="274320"/>
          </a:xfrm>
          <a:prstGeom prst="rect">
            <a:avLst/>
          </a:prstGeom>
          <a:solidFill>
            <a:srgbClr val="111E30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0" y="3913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E)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86200" y="3913632"/>
            <a:ext cx="1005840" cy="274320"/>
          </a:xfrm>
          <a:prstGeom prst="rect">
            <a:avLst/>
          </a:prstGeom>
          <a:solidFill>
            <a:srgbClr val="111E30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3913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3913632"/>
            <a:ext cx="3749040" cy="274320"/>
          </a:xfrm>
          <a:prstGeom prst="rect">
            <a:avLst/>
          </a:prstGeom>
          <a:solidFill>
            <a:srgbClr val="111E30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spanning tree / forest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187952"/>
            <a:ext cx="1737360" cy="274320"/>
          </a:xfrm>
          <a:prstGeom prst="rect">
            <a:avLst/>
          </a:prstGeom>
          <a:solidFill>
            <a:srgbClr val="0E1928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Sort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103120" y="4187952"/>
            <a:ext cx="1783080" cy="274320"/>
          </a:xfrm>
          <a:prstGeom prst="rect">
            <a:avLst/>
          </a:prstGeom>
          <a:solidFill>
            <a:srgbClr val="0E1928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03120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 avg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86200" y="4187952"/>
            <a:ext cx="1005840" cy="274320"/>
          </a:xfrm>
          <a:prstGeom prst="rect">
            <a:avLst/>
          </a:prstGeom>
          <a:solidFill>
            <a:srgbClr val="0E1928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86200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D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92040" y="4187952"/>
            <a:ext cx="3749040" cy="274320"/>
          </a:xfrm>
          <a:prstGeom prst="rect">
            <a:avLst/>
          </a:prstGeom>
          <a:solidFill>
            <a:srgbClr val="0E1928"/>
          </a:solidFill>
          <a:ln w="6350">
            <a:solidFill>
              <a:srgbClr val="1E3D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In-place, median-of-three pivot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4535424"/>
            <a:ext cx="8412480" cy="365760"/>
          </a:xfrm>
          <a:prstGeom prst="rect">
            <a:avLst/>
          </a:prstGeom>
          <a:solidFill>
            <a:srgbClr val="050D18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553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D2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-std=c++17 -Wall lean.cpp -o delivery     →     ./delivery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RouteWise — Delivery Optimization System</dc:title>
  <dc:subject>PptxGenJS Presentation</dc:subject>
  <dc:creator>PptxGenJS</dc:creator>
  <cp:lastModifiedBy>PptxGenJS</cp:lastModifiedBy>
  <cp:revision>1</cp:revision>
  <dcterms:created xsi:type="dcterms:W3CDTF">2026-04-24T09:07:57Z</dcterms:created>
  <dcterms:modified xsi:type="dcterms:W3CDTF">2026-04-24T09:07:57Z</dcterms:modified>
</cp:coreProperties>
</file>